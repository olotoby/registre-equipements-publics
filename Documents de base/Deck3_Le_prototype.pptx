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a4da155e-f61c-373b-062b-3b75bfeebd3d}">
          <p14:sldIdLst>
            <p14:sldId id="256"/>
            <p14:sldId id="257"/>
          </p14:sldIdLst>
        </p14:section>
        <p14:section name="Objet du POC" id="{01e54f7a-2551-7897-807f-0b64cd6078b1}">
          <p14:sldIdLst>
            <p14:sldId id="258"/>
            <p14:sldId id="259"/>
          </p14:sldIdLst>
        </p14:section>
        <p14:section name="Démonstration" id="{ff4495bb-441d-6f97-4acd-2df74e72ab73}">
          <p14:sldIdLst>
            <p14:sldId id="260"/>
            <p14:sldId id="261"/>
            <p14:sldId id="262"/>
            <p14:sldId id="263"/>
            <p14:sldId id="264"/>
            <p14:sldId id="265"/>
            <p14:sldId id="266"/>
            <p14:sldId id="267"/>
            <p14:sldId id="268"/>
          </p14:sldIdLst>
        </p14:section>
        <p14:section name="Limites" id="{3ccfe472-b65c-6551-8f67-0956cb15c6b6}">
          <p14:sldIdLst>
            <p14:sldId id="269"/>
          </p14:sldIdLst>
        </p14:section>
        <p14:section name="Pilote" id="{96e7e6cb-2bb4-ecf2-9499-af1e3980f0d4}">
          <p14:sldIdLst>
            <p14:sldId id="270"/>
            <p14:sldId id="271"/>
            <p14:sldId id="272"/>
            <p14:sldId id="273"/>
          </p14:sldIdLst>
        </p14:section>
        <p14:section name="Clôture" id="{186ac355-ad73-e5f0-569a-07cfb89b7543}">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3 sur 3. Le document 1 a posé le besoin, le document 2 la solution. Celui-ci montre un prototype qui fonctionne et propose comment l'éprouver sur le terrain. Toutes les données du prototype sont fictives.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seule saisie, faite par l'habitant ou l'agent, alimente tous les niveaux. C'est le principe « dites-le-nous une fois » (programme p. 55) appliqué à l'entretien des ouvrages.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prototype rend chaque hypothèse visible. Seul un pilote sur le terrain peut les confirmer. Les trois sont liées : sans signalement, pas de donnée ; sans preuve d'intervention, pas d'indicateur fiable ; sans indicateur, pas de décision.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prototype a quatre vues. Les deux premières sont faites pour le téléphone, les deux autres pour l'ordinateur. Une démonstration guidée de 12 étapes enchaîne les vues automatiquement.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scénario est réaliste mais fictif. Le point clé : la pompe avait atteint sa durée de vie, et le registre l'avait signalée en alerte d'usure avant la panne. Avec le registre, le remplacement aurait pu être planifié.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L'habitant scanne la plaque fixée sur l'ouvrage. La page s'ouvre dans son navigateur : pas de téléchargement, pas de compte. Le numéro de téléphone est facultatif et ne sert qu'à prévenir par 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nouveau signalement apparaît en haut de la file, marqué « Nouveau », et l'ouvrage passe en rouge sur la carte. Les alertes en bas du tableau de bord signalaient déjà la pompe de Sèdjro en fin de vie.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registre ne décide pas à la place de l'agent communal : il propose. P1 parce qu'un service d'eau est arrêté, l'équipe parce qu'elle est inscrite au contrat d'entretien, la pompe parce qu'elle a atteint sa durée de vie. Réserver la pompe déclenche l'alerte de stock : il n'en reste plus en magasin.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tâches, fiches et checklists sont stockées sur le téléphone. La première ligne de la checklist est une consigne de sécurité : la clôture est refusée tant qu'elle n'est pas cochée. Le numéro de série de la pièce posée met à jour la fiche de l'ouvrage.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clôture est enregistrée sur le téléphone à 13:20, sans réseau, puis synchronisée à 14:10. L'habitant voit les quatre étapes horodatées et peut confirmer que l'eau coule chez lui. Cette confirmation fait partie de la preuve.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fiche est le jumeau numérique simple de l'ouvrage : une image du modèle 3D type, les pièces suivies avec leur âge et leur garantie, l'historique complet. La pompe vient d'être remplacée : son âge repasse à zéro, sa garantie court jusqu'en 2028.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Aucun indicateur n'est saisi à la main : tous découlent des signalements, interventions et entretiens enregistrés. Après le scénario, la disponibilité remonte, le signalement est compté comme traité dans le délai, et le stock de pompes passe sous le seuil.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niveau du pôle, les communes sont comparées avec des indicateurs définis de la même façon partout. Le pôle repère la commune qui a besoin d'appui, regroupe les achats de pièces critiques et anticipe les renouvellements année par année.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prototype démontre le parcours et la logique. Il ne remplace pas un produit : authentification, base de données, passerelle SMS et hébergement sont à construire pour le pilote. Les dire maintenant évite les mauvaises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pilote se limite à une commune volontaire et à deux familles : l'eau potable et l'éclairage public. Ce sont des ouvrages nombreux, dont la panne se voit tout de suite et dont les pièces sont standard. Les quatre premières semaines mesurent la situation de départ, sans laquelle aucun progrès ne pourra être prouvé.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seuils sont des propositions, à valider avec la commune avant le lancement. Les deux critères de délai et de préventif sont exprimés par rapport à la situation de départ, mesurée pendant les quatre premières semaines : on ne promet pas un chiffre qu'on ne connaît pas encore.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partage est simple : la commune apporte l'accès au terrain et un référent ; j'apporte l'outil, la méthode et l'accompagnement. Les coûts matériels seront chiffrés sur devis locaux une fois la commune choisie et l'inventaire connu.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demande est volontairement petite : une commune, un accès aux données, un rendez-vous de décision. Si le pilote réussit, le registre peut viser le label national prévu par le programme et s'étendre famille par famille, pôle par pôle.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Proposer la démonstration en direct. Laisser le décideur jouer l'habitant sur son propre téléphone : scanner, signaler, puis voir le signalement arriver sur l'écran de la commune.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1.png"/><Relationship Id="rId3" Type="http://schemas.openxmlformats.org/officeDocument/2006/relationships/image" Target="../media/image-1003-1.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Shape 1"/>
          <p:cNvSpPr/>
          <p:nvPr/>
        </p:nvSpPr>
        <p:spPr>
          <a:xfrm>
            <a:off x="0" y="5212080"/>
            <a:ext cx="12191695" cy="1645920"/>
          </a:xfrm>
          <a:prstGeom prst="rect">
            <a:avLst/>
          </a:prstGeom>
          <a:solidFill>
            <a:schemeClr val="bg1"/>
          </a:solidFill>
          <a:ln/>
        </p:spPr>
      </p:sp>
      <p:pic>
        <p:nvPicPr>
          <p:cNvPr id="4" name="Image 0" descr="Rendu 3D d'une commune et écran du prototype sur téléphone">    </p:cNvPr>
          <p:cNvPicPr>
            <a:picLocks noChangeAspect="1"/>
          </p:cNvPicPr>
          <p:nvPr/>
        </p:nvPicPr>
        <p:blipFill>
          <a:blip r:embed="rId1"/>
          <a:stretch>
            <a:fillRect/>
          </a:stretch>
        </p:blipFill>
        <p:spPr>
          <a:xfrm>
            <a:off x="5669280" y="0"/>
            <a:ext cx="6522415" cy="5212080"/>
          </a:xfrm>
          <a:prstGeom prst="rect">
            <a:avLst/>
          </a:prstGeom>
        </p:spPr>
      </p:pic>
      <p:pic>
        <p:nvPicPr>
          <p:cNvPr id="5" name="Image 1" descr="/home/claude/work/assets/sun_gold.png">    </p:cNvPr>
          <p:cNvPicPr>
            <a:picLocks noChangeAspect="1"/>
          </p:cNvPicPr>
          <p:nvPr/>
        </p:nvPicPr>
        <p:blipFill>
          <a:blip r:embed="rId2"/>
          <a:stretch>
            <a:fillRect/>
          </a:stretch>
        </p:blipFill>
        <p:spPr>
          <a:xfrm>
            <a:off x="685800" y="502920"/>
            <a:ext cx="1005840" cy="1005840"/>
          </a:xfrm>
          <a:prstGeom prst="rect">
            <a:avLst/>
          </a:prstGeom>
        </p:spPr>
      </p:pic>
      <p:sp>
        <p:nvSpPr>
          <p:cNvPr id="6" name="Text 2"/>
          <p:cNvSpPr/>
          <p:nvPr>
            <p:ph idx="104" type="title" hasCustomPrompt="1"/>
          </p:nvPr>
        </p:nvSpPr>
        <p:spPr>
          <a:xfrm>
            <a:off x="685800" y="1783080"/>
            <a:ext cx="5120640" cy="1188720"/>
          </a:xfrm>
          <a:prstGeom prst="rect">
            <a:avLst/>
          </a:prstGeom>
          <a:noFill/>
          <a:ln/>
        </p:spPr>
        <p:txBody>
          <a:bodyPr wrap="square" rtlCol="0"/>
          <a:lstStyle>
            <a:lvl1pPr algn="l" indent="0" marL="0">
              <a:buNone/>
              <a:defRPr lang="en-US" sz="3200" b="1" dirty="0">
                <a:solidFill>
                  <a:schemeClr val="accent2"/>
                </a:solidFill>
              </a:defRPr>
            </a:lvl1pPr>
          </a:lstStyle>
          <a:p>
            <a:pPr algn="l" indent="0" marL="0">
              <a:buNone/>
            </a:pPr>
            <a:r>
              <a:rPr lang="en-US" sz="3200" b="1" dirty="0">
                <a:solidFill>
                  <a:schemeClr val="accent2"/>
                </a:solidFill>
              </a:rPr>
              <a:t>Titre</a:t>
            </a: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HESIS">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1"/>
          </a:solidFill>
          <a:ln/>
        </p:spPr>
      </p:sp>
      <p:pic>
        <p:nvPicPr>
          <p:cNvPr id="3" name="Image 0" descr="/home/claude/work/assets/sun_grey.png">    </p:cNvPr>
          <p:cNvPicPr>
            <a:picLocks noChangeAspect="1"/>
          </p:cNvPicPr>
          <p:nvPr/>
        </p:nvPicPr>
        <p:blipFill>
          <a:blip r:embed="rId1">
            <a:alphaModFix amt="65000"/>
          </a:blip>
          <a:stretch>
            <a:fillRect/>
          </a:stretch>
        </p:blipFill>
        <p:spPr>
          <a:xfrm>
            <a:off x="9784080" y="-822960"/>
            <a:ext cx="3108960" cy="3108960"/>
          </a:xfrm>
          <a:prstGeom prst="rect">
            <a:avLst/>
          </a:prstGeom>
        </p:spPr>
      </p:pic>
      <p:pic>
        <p:nvPicPr>
          <p:cNvPr id="4" name="Image 1" descr="/home/claude/work/assets/sun_grey.png">    </p:cNvPr>
          <p:cNvPicPr>
            <a:picLocks noChangeAspect="1"/>
          </p:cNvPicPr>
          <p:nvPr/>
        </p:nvPicPr>
        <p:blipFill>
          <a:blip r:embed="rId2">
            <a:alphaModFix amt="65000"/>
          </a:blip>
          <a:stretch>
            <a:fillRect/>
          </a:stretch>
        </p:blipFill>
        <p:spPr>
          <a:xfrm>
            <a:off x="9784080" y="1554480"/>
            <a:ext cx="3108960" cy="3108960"/>
          </a:xfrm>
          <a:prstGeom prst="rect">
            <a:avLst/>
          </a:prstGeom>
        </p:spPr>
      </p:pic>
      <p:pic>
        <p:nvPicPr>
          <p:cNvPr id="5" name="Image 2" descr="/home/claude/work/assets/sun_grey.png">    </p:cNvPr>
          <p:cNvPicPr>
            <a:picLocks noChangeAspect="1"/>
          </p:cNvPicPr>
          <p:nvPr/>
        </p:nvPicPr>
        <p:blipFill>
          <a:blip r:embed="rId3">
            <a:alphaModFix amt="65000"/>
          </a:blip>
          <a:stretch>
            <a:fillRect/>
          </a:stretch>
        </p:blipFill>
        <p:spPr>
          <a:xfrm>
            <a:off x="9784080" y="3931920"/>
            <a:ext cx="3108960" cy="3108960"/>
          </a:xfrm>
          <a:prstGeom prst="rect">
            <a:avLst/>
          </a:prstGeom>
        </p:spPr>
      </p:pic>
      <p:sp>
        <p:nvSpPr>
          <p:cNvPr id="6" name="Text 1"/>
          <p:cNvSpPr txBox="1"/>
          <p:nvPr/>
        </p:nvSpPr>
        <p:spPr>
          <a:xfrm>
            <a:off x="640080" y="2011680"/>
            <a:ext cx="914400" cy="1188720"/>
          </a:xfrm>
          <a:prstGeom prst="rect">
            <a:avLst/>
          </a:prstGeom>
          <a:noFill/>
          <a:ln/>
        </p:spPr>
        <p:txBody>
          <a:bodyPr wrap="square" lIns="0" tIns="0" rIns="0" bIns="0" rtlCol="0" anchor="ctr"/>
          <a:lstStyle/>
          <a:p>
            <a:pPr indent="0" marL="0">
              <a:buNone/>
            </a:pPr>
            <a:r>
              <a:rPr lang="en-US" sz="9600" b="1" dirty="0">
                <a:solidFill>
                  <a:schemeClr val="accent2"/>
                </a:solidFill>
                <a:latin typeface="Rockwell" pitchFamily="34" charset="0"/>
                <a:ea typeface="Rockwell" pitchFamily="34" charset="-122"/>
                <a:cs typeface="Rockwell" pitchFamily="34" charset="-120"/>
              </a:rPr>
              <a:t>“</a:t>
            </a:r>
            <a:endParaRPr lang="en-US" sz="9600" dirty="0"/>
          </a:p>
        </p:txBody>
      </p:sp>
      <p:sp>
        <p:nvSpPr>
          <p:cNvPr id="7" name="Text 2"/>
          <p:cNvSpPr/>
          <p:nvPr>
            <p:ph idx="105" type="title" hasCustomPrompt="1"/>
          </p:nvPr>
        </p:nvSpPr>
        <p:spPr>
          <a:xfrm>
            <a:off x="1554480" y="2286000"/>
            <a:ext cx="7680960" cy="2468880"/>
          </a:xfrm>
          <a:prstGeom prst="rect">
            <a:avLst/>
          </a:prstGeom>
          <a:noFill/>
          <a:ln/>
        </p:spPr>
        <p:txBody>
          <a:bodyPr wrap="square" rtlCol="0"/>
          <a:lstStyle>
            <a:lvl1pPr algn="l" indent="0" marL="0">
              <a:buNone/>
              <a:defRPr lang="en-US" sz="3200" dirty="0">
                <a:solidFill>
                  <a:schemeClr val="bg1"/>
                </a:solidFill>
                <a:latin typeface="Rockwell" pitchFamily="34" charset="0"/>
                <a:ea typeface="Rockwell" pitchFamily="34" charset="-122"/>
                <a:cs typeface="Rockwell" pitchFamily="34" charset="-120"/>
              </a:defRPr>
            </a:lvl1pPr>
          </a:lstStyle>
          <a:p>
            <a:pPr algn="l" indent="0" marL="0">
              <a:buNone/>
            </a:pPr>
            <a:r>
              <a:rPr lang="en-US" sz="3200" dirty="0">
                <a:solidFill>
                  <a:schemeClr val="bg1"/>
                </a:solidFill>
                <a:latin typeface="Rockwell" pitchFamily="34" charset="0"/>
                <a:ea typeface="Rockwell" pitchFamily="34" charset="-122"/>
                <a:cs typeface="Rockwell" pitchFamily="34" charset="-120"/>
              </a:rPr>
              <a:t>Citation</a:t>
            </a: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chemeClr val="accent1"/>
          </a:solidFill>
          <a:ln/>
        </p:spPr>
      </p:sp>
      <p:sp>
        <p:nvSpPr>
          <p:cNvPr id="3" name="Text 1"/>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Contribution au programme 2026-2033  ·  Espoir Adouwekonou</a:t>
            </a:r>
            <a:endParaRPr lang="en-US" sz="1000" dirty="0"/>
          </a:p>
        </p:txBody>
      </p:sp>
      <p:pic>
        <p:nvPicPr>
          <p:cNvPr id="4" name="Image 0" descr="/home/claude/work/assets/sun_gold.png">    </p:cNvPr>
          <p:cNvPicPr>
            <a:picLocks noChangeAspect="1"/>
          </p:cNvPicPr>
          <p:nvPr/>
        </p:nvPicPr>
        <p:blipFill>
          <a:blip r:embed="rId1"/>
          <a:stretch>
            <a:fillRect/>
          </a:stretch>
        </p:blipFill>
        <p:spPr>
          <a:xfrm>
            <a:off x="11292840" y="6291072"/>
            <a:ext cx="502920" cy="502920"/>
          </a:xfrm>
          <a:prstGeom prst="rect">
            <a:avLst/>
          </a:prstGeom>
        </p:spPr>
      </p:pic>
      <p:sp>
        <p:nvSpPr>
          <p:cNvPr id="5" name="Text 2"/>
          <p:cNvSpPr/>
          <p:nvPr>
            <p:ph idx="103" type="title" hasCustomPrompt="1"/>
          </p:nvPr>
        </p:nvSpPr>
        <p:spPr>
          <a:xfrm>
            <a:off x="548640" y="960120"/>
            <a:ext cx="11091672" cy="9144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r>
              <a:rPr lang="en-US" sz="2800" b="1" dirty="0">
                <a:solidFill>
                  <a:schemeClr val="tx2"/>
                </a:solidFill>
              </a:rPr>
              <a:t>Titre</a:t>
            </a:r>
            <a:endParaRPr lang="en-US" sz="2800" dirty="0"/>
          </a:p>
        </p:txBody>
      </p:sp>
      <p:sp>
        <p:nvSpPr>
          <p:cNvPr id="25"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pic>
        <p:nvPicPr>
          <p:cNvPr id="3" name="Image 0" descr="/home/claude/work/assets/sun_gold.png">    </p:cNvPr>
          <p:cNvPicPr>
            <a:picLocks noChangeAspect="1"/>
          </p:cNvPicPr>
          <p:nvPr/>
        </p:nvPicPr>
        <p:blipFill>
          <a:blip r:embed="rId1"/>
          <a:stretch>
            <a:fillRect/>
          </a:stretch>
        </p:blipFill>
        <p:spPr>
          <a:xfrm>
            <a:off x="5394960" y="822960"/>
            <a:ext cx="1417320" cy="1417320"/>
          </a:xfrm>
          <a:prstGeom prst="rect">
            <a:avLst/>
          </a:prstGeom>
        </p:spPr>
      </p:pic>
      <p:sp>
        <p:nvSpPr>
          <p:cNvPr id="4" name="Text 1"/>
          <p:cNvSpPr/>
          <p:nvPr>
            <p:ph idx="102" type="title" hasCustomPrompt="1"/>
          </p:nvPr>
        </p:nvSpPr>
        <p:spPr>
          <a:xfrm>
            <a:off x="1371600" y="2743200"/>
            <a:ext cx="9445752" cy="1554480"/>
          </a:xfrm>
          <a:prstGeom prst="rect">
            <a:avLst/>
          </a:prstGeom>
          <a:noFill/>
          <a:ln/>
        </p:spPr>
        <p:txBody>
          <a:bodyPr wrap="square" rtlCol="0"/>
          <a:lstStyle>
            <a:lvl1pPr algn="ctr" indent="0" marL="0">
              <a:buNone/>
              <a:defRPr lang="en-US" sz="3600" b="1" dirty="0">
                <a:solidFill>
                  <a:schemeClr val="accent2"/>
                </a:solidFill>
              </a:defRPr>
            </a:lvl1pPr>
          </a:lstStyle>
          <a:p>
            <a:pPr algn="ctr" indent="0" marL="0">
              <a:buNone/>
            </a:pPr>
            <a:r>
              <a:rPr lang="en-US" sz="3600" b="1" dirty="0">
                <a:solidFill>
                  <a:schemeClr val="accent2"/>
                </a:solidFill>
              </a:rPr>
              <a:t>Titre</a:t>
            </a: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4" type="title" hasCustomPrompt="1"/>
          </p:nvPr>
        </p:nvSpPr>
        <p:spPr>
          <a:xfrm>
            <a:off x="685800" y="1783080"/>
            <a:ext cx="5120640" cy="1188720"/>
          </a:xfrm>
          <a:prstGeom prst="rect">
            <a:avLst/>
          </a:prstGeom>
          <a:noFill/>
          <a:ln/>
        </p:spPr>
        <p:txBody>
          <a:bodyPr wrap="square" lIns="0" tIns="0" rIns="0" bIns="0" rtlCol="0" anchor="t"/>
          <a:lstStyle/>
          <a:p>
            <a:pPr algn="l" indent="0" marL="0">
              <a:buNone/>
            </a:pPr>
            <a:r>
              <a:rPr lang="en-US" sz="3200" b="1" dirty="0">
                <a:solidFill>
                  <a:schemeClr val="accent2"/>
                </a:solidFill>
              </a:rPr>
              <a:t>DU SCAN</a:t>
            </a:r>
            <a:endParaRPr lang="en-US" sz="3200" dirty="0"/>
          </a:p>
          <a:p>
            <a:pPr algn="l" indent="0" marL="0">
              <a:buNone/>
            </a:pPr>
            <a:r>
              <a:rPr lang="en-US" sz="3200" b="1" dirty="0">
                <a:solidFill>
                  <a:schemeClr val="bg1"/>
                </a:solidFill>
              </a:rPr>
              <a:t>À LA RÉPARATION</a:t>
            </a:r>
            <a:endParaRPr lang="en-US" sz="3200" dirty="0"/>
          </a:p>
        </p:txBody>
      </p:sp>
      <p:sp>
        <p:nvSpPr>
          <p:cNvPr id="3" name="Text 1"/>
          <p:cNvSpPr txBox="1"/>
          <p:nvPr/>
        </p:nvSpPr>
        <p:spPr>
          <a:xfrm>
            <a:off x="685800" y="3154680"/>
            <a:ext cx="4572000" cy="320040"/>
          </a:xfrm>
          <a:prstGeom prst="rect">
            <a:avLst/>
          </a:prstGeom>
          <a:noFill/>
          <a:ln/>
        </p:spPr>
        <p:txBody>
          <a:bodyPr wrap="square" lIns="0" tIns="0" rIns="0" bIns="0" rtlCol="0" anchor="ctr"/>
          <a:lstStyle/>
          <a:p>
            <a:pPr indent="0" marL="0">
              <a:buNone/>
            </a:pPr>
            <a:r>
              <a:rPr lang="en-US" sz="1100" b="1" spc="200" kern="0" dirty="0">
                <a:solidFill>
                  <a:schemeClr val="accent2"/>
                </a:solidFill>
              </a:rPr>
              <a:t>DOCUMENT 3 SUR 3  ·  LE PROTOTYPE</a:t>
            </a:r>
            <a:endParaRPr lang="en-US" sz="1100" dirty="0"/>
          </a:p>
        </p:txBody>
      </p:sp>
      <p:sp>
        <p:nvSpPr>
          <p:cNvPr id="4" name="Text 2"/>
          <p:cNvSpPr txBox="1"/>
          <p:nvPr/>
        </p:nvSpPr>
        <p:spPr>
          <a:xfrm>
            <a:off x="685800" y="3566160"/>
            <a:ext cx="4663440" cy="1188720"/>
          </a:xfrm>
          <a:prstGeom prst="rect">
            <a:avLst/>
          </a:prstGeom>
          <a:noFill/>
          <a:ln/>
        </p:spPr>
        <p:txBody>
          <a:bodyPr wrap="square" lIns="0" tIns="0" rIns="0" bIns="0" rtlCol="0" anchor="t"/>
          <a:lstStyle/>
          <a:p>
            <a:pPr indent="0" marL="0">
              <a:buNone/>
            </a:pPr>
            <a:r>
              <a:rPr lang="en-US" sz="1800" dirty="0">
                <a:solidFill>
                  <a:schemeClr val="bg1"/>
                </a:solidFill>
              </a:rPr>
              <a:t>Une démonstration pas à pas, puis le protocole d'un pilote de 90 jours</a:t>
            </a:r>
            <a:endParaRPr lang="en-US" sz="1800" dirty="0"/>
          </a:p>
        </p:txBody>
      </p:sp>
      <p:sp>
        <p:nvSpPr>
          <p:cNvPr id="5" name="Text 3"/>
          <p:cNvSpPr txBox="1"/>
          <p:nvPr/>
        </p:nvSpPr>
        <p:spPr>
          <a:xfrm>
            <a:off x="685800" y="5440680"/>
            <a:ext cx="10789920" cy="548640"/>
          </a:xfrm>
          <a:prstGeom prst="rect">
            <a:avLst/>
          </a:prstGeom>
          <a:noFill/>
          <a:ln/>
        </p:spPr>
        <p:txBody>
          <a:bodyPr wrap="square" lIns="0" tIns="0" rIns="0" bIns="0" rtlCol="0" anchor="ctr"/>
          <a:lstStyle/>
          <a:p>
            <a:pPr indent="0" marL="0">
              <a:buNone/>
            </a:pPr>
            <a:r>
              <a:rPr lang="en-US" sz="2400" b="1" dirty="0">
                <a:solidFill>
                  <a:schemeClr val="accent1"/>
                </a:solidFill>
              </a:rPr>
              <a:t>Registre du cycle de vie des équipements publics</a:t>
            </a:r>
            <a:endParaRPr lang="en-US" sz="2400" dirty="0"/>
          </a:p>
        </p:txBody>
      </p:sp>
      <p:sp>
        <p:nvSpPr>
          <p:cNvPr id="6" name="Text 4"/>
          <p:cNvSpPr txBox="1"/>
          <p:nvPr/>
        </p:nvSpPr>
        <p:spPr>
          <a:xfrm>
            <a:off x="685800" y="6172200"/>
            <a:ext cx="1078992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ESPOIR ADOUWEKONOU  ·  INGÉNIEUR INDUSTRIE 4.0 ET PLM  ·  OCTOBRE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554480" y="1691640"/>
            <a:ext cx="6400800" cy="320040"/>
          </a:xfrm>
          <a:prstGeom prst="rect">
            <a:avLst/>
          </a:prstGeom>
          <a:noFill/>
          <a:ln/>
        </p:spPr>
        <p:txBody>
          <a:bodyPr wrap="square" lIns="0" tIns="0" rIns="0" bIns="0" rtlCol="0" anchor="ctr"/>
          <a:lstStyle/>
          <a:p>
            <a:pPr indent="0" marL="0">
              <a:buNone/>
            </a:pPr>
            <a:r>
              <a:rPr lang="en-US" sz="1200" b="1" spc="300" kern="0" dirty="0">
                <a:solidFill>
                  <a:schemeClr val="accent2"/>
                </a:solidFill>
              </a:rPr>
              <a:t>CE QUE MONTRE LE PROTOTYPE</a:t>
            </a:r>
            <a:endParaRPr lang="en-US" sz="1200" dirty="0"/>
          </a:p>
        </p:txBody>
      </p:sp>
      <p:sp>
        <p:nvSpPr>
          <p:cNvPr id="3" name="Text 2"/>
          <p:cNvSpPr/>
          <p:nvPr>
            <p:ph idx="105" type="title" hasCustomPrompt="1"/>
          </p:nvPr>
        </p:nvSpPr>
        <p:spPr>
          <a:xfrm>
            <a:off x="1554480" y="2286000"/>
            <a:ext cx="7680960" cy="2468880"/>
          </a:xfrm>
          <a:prstGeom prst="rect">
            <a:avLst/>
          </a:prstGeom>
          <a:noFill/>
          <a:ln/>
        </p:spPr>
        <p:txBody>
          <a:bodyPr wrap="square" lIns="0" tIns="0" rIns="0" bIns="0" rtlCol="0" anchor="t"/>
          <a:lstStyle/>
          <a:p>
            <a:pPr algn="l" indent="0" marL="0">
              <a:buNone/>
            </a:pPr>
            <a:r>
              <a:rPr lang="en-US" sz="3200" dirty="0">
                <a:solidFill>
                  <a:schemeClr val="bg1"/>
                </a:solidFill>
                <a:latin typeface="Rockwell" pitchFamily="34" charset="0"/>
                <a:ea typeface="Rockwell" pitchFamily="34" charset="-122"/>
                <a:cs typeface="Rockwell" pitchFamily="34" charset="-120"/>
              </a:rPr>
              <a:t>Un même signalement traverse l'habitant, la commune, le technicien et le pôle, sans jamais être ressaisi.</a:t>
            </a:r>
            <a:endParaRPr lang="en-US" sz="3200" dirty="0"/>
          </a:p>
        </p:txBody>
      </p:sp>
      <p:sp>
        <p:nvSpPr>
          <p:cNvPr id="4" name="Text 2"/>
          <p:cNvSpPr txBox="1"/>
          <p:nvPr/>
        </p:nvSpPr>
        <p:spPr>
          <a:xfrm>
            <a:off x="1554480" y="5074920"/>
            <a:ext cx="7680960" cy="822960"/>
          </a:xfrm>
          <a:prstGeom prst="rect">
            <a:avLst/>
          </a:prstGeom>
          <a:noFill/>
          <a:ln/>
        </p:spPr>
        <p:txBody>
          <a:bodyPr wrap="square" lIns="0" tIns="0" rIns="0" bIns="0" rtlCol="0" anchor="t"/>
          <a:lstStyle/>
          <a:p>
            <a:pPr indent="0" marL="0">
              <a:buNone/>
            </a:pPr>
            <a:r>
              <a:rPr lang="en-US" sz="1200" dirty="0">
                <a:solidFill>
                  <a:schemeClr val="bg1"/>
                </a:solidFill>
              </a:rPr>
              <a:t>Le prototype tourne dans un navigateur, sur téléphone et sur ordinateur. Les données, lieux et montants sont fictifs. Ce qu'il ne fait pas encore est listé à la diapositive 14.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CE QUE LE POC DOIT PROUVER</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Trois hypothèses à vérifier, dans cet ordre</a:t>
            </a:r>
            <a:endParaRPr lang="en-US" sz="2800" dirty="0"/>
          </a:p>
        </p:txBody>
      </p:sp>
      <p:sp>
        <p:nvSpPr>
          <p:cNvPr id="5" name="hyp0"/>
          <p:cNvSpPr/>
          <p:nvPr/>
        </p:nvSpPr>
        <p:spPr>
          <a:xfrm>
            <a:off x="548640" y="1965960"/>
            <a:ext cx="3566160" cy="3977640"/>
          </a:xfrm>
          <a:prstGeom prst="roundRect">
            <a:avLst>
              <a:gd name="adj" fmla="val 3077"/>
            </a:avLst>
          </a:prstGeom>
          <a:solidFill>
            <a:schemeClr val="bg2"/>
          </a:solidFill>
          <a:ln/>
        </p:spPr>
      </p:sp>
      <p:sp>
        <p:nvSpPr>
          <p:cNvPr id="6" name="Shape 3"/>
          <p:cNvSpPr/>
          <p:nvPr/>
        </p:nvSpPr>
        <p:spPr>
          <a:xfrm>
            <a:off x="777240" y="2176272"/>
            <a:ext cx="457200" cy="457200"/>
          </a:xfrm>
          <a:prstGeom prst="ellipse">
            <a:avLst/>
          </a:prstGeom>
          <a:solidFill>
            <a:schemeClr val="accent2"/>
          </a:solidFill>
          <a:ln w="19050">
            <a:solidFill>
              <a:schemeClr val="bg1"/>
            </a:solidFill>
            <a:prstDash val="solid"/>
          </a:ln>
        </p:spPr>
      </p:sp>
      <p:sp>
        <p:nvSpPr>
          <p:cNvPr id="7" name="Text 4"/>
          <p:cNvSpPr txBox="1"/>
          <p:nvPr/>
        </p:nvSpPr>
        <p:spPr>
          <a:xfrm>
            <a:off x="777240" y="2176272"/>
            <a:ext cx="457200" cy="457200"/>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8" name="Text 5"/>
          <p:cNvSpPr txBox="1"/>
          <p:nvPr/>
        </p:nvSpPr>
        <p:spPr>
          <a:xfrm>
            <a:off x="1371600" y="2212848"/>
            <a:ext cx="2606040" cy="411480"/>
          </a:xfrm>
          <a:prstGeom prst="rect">
            <a:avLst/>
          </a:prstGeom>
          <a:noFill/>
          <a:ln/>
        </p:spPr>
        <p:txBody>
          <a:bodyPr wrap="square" lIns="0" tIns="0" rIns="0" bIns="0" rtlCol="0" anchor="ctr"/>
          <a:lstStyle/>
          <a:p>
            <a:pPr indent="0" marL="0">
              <a:buNone/>
            </a:pPr>
            <a:r>
              <a:rPr lang="en-US" sz="1600" b="1" dirty="0">
                <a:solidFill>
                  <a:schemeClr val="tx2"/>
                </a:solidFill>
              </a:rPr>
              <a:t>Les habitants signalent</a:t>
            </a:r>
            <a:endParaRPr lang="en-US" sz="1600" dirty="0"/>
          </a:p>
        </p:txBody>
      </p:sp>
      <p:sp>
        <p:nvSpPr>
          <p:cNvPr id="9" name="Text 6"/>
          <p:cNvSpPr txBox="1"/>
          <p:nvPr/>
        </p:nvSpPr>
        <p:spPr>
          <a:xfrm>
            <a:off x="777240" y="2788920"/>
            <a:ext cx="3108960" cy="868680"/>
          </a:xfrm>
          <a:prstGeom prst="rect">
            <a:avLst/>
          </a:prstGeom>
          <a:noFill/>
          <a:ln/>
        </p:spPr>
        <p:txBody>
          <a:bodyPr wrap="square" lIns="0" tIns="0" rIns="0" bIns="0" rtlCol="0" anchor="t"/>
          <a:lstStyle/>
          <a:p>
            <a:pPr indent="0" marL="0">
              <a:buNone/>
            </a:pPr>
            <a:r>
              <a:rPr lang="en-US" sz="1200" dirty="0">
                <a:solidFill>
                  <a:schemeClr val="tx1"/>
                </a:solidFill>
              </a:rPr>
              <a:t>Un QR code ou un SMS suffit pour signaler une panne, sans application ni compte.</a:t>
            </a:r>
            <a:endParaRPr lang="en-US" sz="1200" dirty="0"/>
          </a:p>
        </p:txBody>
      </p:sp>
      <p:sp>
        <p:nvSpPr>
          <p:cNvPr id="10" name="Text 7"/>
          <p:cNvSpPr txBox="1"/>
          <p:nvPr/>
        </p:nvSpPr>
        <p:spPr>
          <a:xfrm>
            <a:off x="777240" y="3749040"/>
            <a:ext cx="310896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LE PROTOTYPE MONTRE</a:t>
            </a:r>
            <a:endParaRPr lang="en-US" sz="1100" dirty="0"/>
          </a:p>
        </p:txBody>
      </p:sp>
      <p:sp>
        <p:nvSpPr>
          <p:cNvPr id="11" name="Text 8"/>
          <p:cNvSpPr txBox="1"/>
          <p:nvPr/>
        </p:nvSpPr>
        <p:spPr>
          <a:xfrm>
            <a:off x="777240" y="4023360"/>
            <a:ext cx="3108960" cy="685800"/>
          </a:xfrm>
          <a:prstGeom prst="rect">
            <a:avLst/>
          </a:prstGeom>
          <a:noFill/>
          <a:ln/>
        </p:spPr>
        <p:txBody>
          <a:bodyPr wrap="square" lIns="0" tIns="0" rIns="0" bIns="0" rtlCol="0" anchor="t"/>
          <a:lstStyle/>
          <a:p>
            <a:pPr indent="0" marL="0">
              <a:buNone/>
            </a:pPr>
            <a:r>
              <a:rPr lang="en-US" sz="1200" dirty="0">
                <a:solidFill>
                  <a:schemeClr val="tx1"/>
                </a:solidFill>
              </a:rPr>
              <a:t>Le parcours en trois gestes et le suivi par numéro.</a:t>
            </a:r>
            <a:endParaRPr lang="en-US" sz="1200" dirty="0"/>
          </a:p>
        </p:txBody>
      </p:sp>
      <p:sp>
        <p:nvSpPr>
          <p:cNvPr id="12" name="Text 9"/>
          <p:cNvSpPr txBox="1"/>
          <p:nvPr/>
        </p:nvSpPr>
        <p:spPr>
          <a:xfrm>
            <a:off x="777240" y="4754880"/>
            <a:ext cx="310896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LE PILOTE DOIT MESURER</a:t>
            </a:r>
            <a:endParaRPr lang="en-US" sz="1100" dirty="0"/>
          </a:p>
        </p:txBody>
      </p:sp>
      <p:sp>
        <p:nvSpPr>
          <p:cNvPr id="13" name="Text 10"/>
          <p:cNvSpPr txBox="1"/>
          <p:nvPr/>
        </p:nvSpPr>
        <p:spPr>
          <a:xfrm>
            <a:off x="777240" y="5029200"/>
            <a:ext cx="3108960" cy="777240"/>
          </a:xfrm>
          <a:prstGeom prst="rect">
            <a:avLst/>
          </a:prstGeom>
          <a:noFill/>
          <a:ln/>
        </p:spPr>
        <p:txBody>
          <a:bodyPr wrap="square" lIns="0" tIns="0" rIns="0" bIns="0" rtlCol="0" anchor="t"/>
          <a:lstStyle/>
          <a:p>
            <a:pPr indent="0" marL="0">
              <a:buNone/>
            </a:pPr>
            <a:r>
              <a:rPr lang="en-US" sz="1200" dirty="0">
                <a:solidFill>
                  <a:schemeClr val="tx1"/>
                </a:solidFill>
              </a:rPr>
              <a:t>Le volume réel de signalements et la part arrivée par QR ou SMS.</a:t>
            </a:r>
            <a:endParaRPr lang="en-US" sz="1200" dirty="0"/>
          </a:p>
        </p:txBody>
      </p:sp>
      <p:sp>
        <p:nvSpPr>
          <p:cNvPr id="14" name="hyp1"/>
          <p:cNvSpPr/>
          <p:nvPr/>
        </p:nvSpPr>
        <p:spPr>
          <a:xfrm>
            <a:off x="4297680" y="1965960"/>
            <a:ext cx="3566160" cy="3977640"/>
          </a:xfrm>
          <a:prstGeom prst="roundRect">
            <a:avLst>
              <a:gd name="adj" fmla="val 3077"/>
            </a:avLst>
          </a:prstGeom>
          <a:solidFill>
            <a:schemeClr val="bg2"/>
          </a:solidFill>
          <a:ln/>
        </p:spPr>
      </p:sp>
      <p:sp>
        <p:nvSpPr>
          <p:cNvPr id="15" name="Shape 12"/>
          <p:cNvSpPr/>
          <p:nvPr/>
        </p:nvSpPr>
        <p:spPr>
          <a:xfrm>
            <a:off x="4526280" y="2176272"/>
            <a:ext cx="457200" cy="457200"/>
          </a:xfrm>
          <a:prstGeom prst="ellipse">
            <a:avLst/>
          </a:prstGeom>
          <a:solidFill>
            <a:schemeClr val="accent2"/>
          </a:solidFill>
          <a:ln w="19050">
            <a:solidFill>
              <a:schemeClr val="bg1"/>
            </a:solidFill>
            <a:prstDash val="solid"/>
          </a:ln>
        </p:spPr>
      </p:sp>
      <p:sp>
        <p:nvSpPr>
          <p:cNvPr id="16" name="Text 13"/>
          <p:cNvSpPr txBox="1"/>
          <p:nvPr/>
        </p:nvSpPr>
        <p:spPr>
          <a:xfrm>
            <a:off x="4526280" y="2176272"/>
            <a:ext cx="457200" cy="457200"/>
          </a:xfrm>
          <a:prstGeom prst="rect">
            <a:avLst/>
          </a:prstGeom>
          <a:no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17" name="Text 14"/>
          <p:cNvSpPr txBox="1"/>
          <p:nvPr/>
        </p:nvSpPr>
        <p:spPr>
          <a:xfrm>
            <a:off x="5120640" y="2212848"/>
            <a:ext cx="2606040" cy="411480"/>
          </a:xfrm>
          <a:prstGeom prst="rect">
            <a:avLst/>
          </a:prstGeom>
          <a:noFill/>
          <a:ln/>
        </p:spPr>
        <p:txBody>
          <a:bodyPr wrap="square" lIns="0" tIns="0" rIns="0" bIns="0" rtlCol="0" anchor="ctr"/>
          <a:lstStyle/>
          <a:p>
            <a:pPr indent="0" marL="0">
              <a:buNone/>
            </a:pPr>
            <a:r>
              <a:rPr lang="en-US" sz="1600" b="1" dirty="0">
                <a:solidFill>
                  <a:schemeClr val="tx2"/>
                </a:solidFill>
              </a:rPr>
              <a:t>Les équipes documentent</a:t>
            </a:r>
            <a:endParaRPr lang="en-US" sz="1600" dirty="0"/>
          </a:p>
        </p:txBody>
      </p:sp>
      <p:sp>
        <p:nvSpPr>
          <p:cNvPr id="18" name="Text 15"/>
          <p:cNvSpPr txBox="1"/>
          <p:nvPr/>
        </p:nvSpPr>
        <p:spPr>
          <a:xfrm>
            <a:off x="4526280" y="2788920"/>
            <a:ext cx="3108960" cy="868680"/>
          </a:xfrm>
          <a:prstGeom prst="rect">
            <a:avLst/>
          </a:prstGeom>
          <a:noFill/>
          <a:ln/>
        </p:spPr>
        <p:txBody>
          <a:bodyPr wrap="square" lIns="0" tIns="0" rIns="0" bIns="0" rtlCol="0" anchor="t"/>
          <a:lstStyle/>
          <a:p>
            <a:pPr indent="0" marL="0">
              <a:buNone/>
            </a:pPr>
            <a:r>
              <a:rPr lang="en-US" sz="1200" dirty="0">
                <a:solidFill>
                  <a:schemeClr val="tx1"/>
                </a:solidFill>
              </a:rPr>
              <a:t>Chaque intervention laisse une preuve : checklist, pièce posée, photos, position, même sans réseau.</a:t>
            </a:r>
            <a:endParaRPr lang="en-US" sz="1200" dirty="0"/>
          </a:p>
        </p:txBody>
      </p:sp>
      <p:sp>
        <p:nvSpPr>
          <p:cNvPr id="19" name="Text 16"/>
          <p:cNvSpPr txBox="1"/>
          <p:nvPr/>
        </p:nvSpPr>
        <p:spPr>
          <a:xfrm>
            <a:off x="4526280" y="3749040"/>
            <a:ext cx="310896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LE PROTOTYPE MONTRE</a:t>
            </a:r>
            <a:endParaRPr lang="en-US" sz="1100" dirty="0"/>
          </a:p>
        </p:txBody>
      </p:sp>
      <p:sp>
        <p:nvSpPr>
          <p:cNvPr id="20" name="Text 17"/>
          <p:cNvSpPr txBox="1"/>
          <p:nvPr/>
        </p:nvSpPr>
        <p:spPr>
          <a:xfrm>
            <a:off x="4526280" y="4023360"/>
            <a:ext cx="3108960" cy="685800"/>
          </a:xfrm>
          <a:prstGeom prst="rect">
            <a:avLst/>
          </a:prstGeom>
          <a:noFill/>
          <a:ln/>
        </p:spPr>
        <p:txBody>
          <a:bodyPr wrap="square" lIns="0" tIns="0" rIns="0" bIns="0" rtlCol="0" anchor="t"/>
          <a:lstStyle/>
          <a:p>
            <a:pPr indent="0" marL="0">
              <a:buNone/>
            </a:pPr>
            <a:r>
              <a:rPr lang="en-US" sz="1200" dirty="0">
                <a:solidFill>
                  <a:schemeClr val="tx1"/>
                </a:solidFill>
              </a:rPr>
              <a:t>L'application de terrain, la clôture hors connexion, la synchronisation.</a:t>
            </a:r>
            <a:endParaRPr lang="en-US" sz="1200" dirty="0"/>
          </a:p>
        </p:txBody>
      </p:sp>
      <p:sp>
        <p:nvSpPr>
          <p:cNvPr id="21" name="Text 18"/>
          <p:cNvSpPr txBox="1"/>
          <p:nvPr/>
        </p:nvSpPr>
        <p:spPr>
          <a:xfrm>
            <a:off x="4526280" y="4754880"/>
            <a:ext cx="310896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LE PILOTE DOIT MESURER</a:t>
            </a:r>
            <a:endParaRPr lang="en-US" sz="1100" dirty="0"/>
          </a:p>
        </p:txBody>
      </p:sp>
      <p:sp>
        <p:nvSpPr>
          <p:cNvPr id="22" name="Text 19"/>
          <p:cNvSpPr txBox="1"/>
          <p:nvPr/>
        </p:nvSpPr>
        <p:spPr>
          <a:xfrm>
            <a:off x="4526280" y="5029200"/>
            <a:ext cx="3108960" cy="777240"/>
          </a:xfrm>
          <a:prstGeom prst="rect">
            <a:avLst/>
          </a:prstGeom>
          <a:noFill/>
          <a:ln/>
        </p:spPr>
        <p:txBody>
          <a:bodyPr wrap="square" lIns="0" tIns="0" rIns="0" bIns="0" rtlCol="0" anchor="t"/>
          <a:lstStyle/>
          <a:p>
            <a:pPr indent="0" marL="0">
              <a:buNone/>
            </a:pPr>
            <a:r>
              <a:rPr lang="en-US" sz="1200" dirty="0">
                <a:solidFill>
                  <a:schemeClr val="tx1"/>
                </a:solidFill>
              </a:rPr>
              <a:t>Le taux d'interventions clôturées avec une preuve complète.</a:t>
            </a:r>
            <a:endParaRPr lang="en-US" sz="1200" dirty="0"/>
          </a:p>
        </p:txBody>
      </p:sp>
      <p:sp>
        <p:nvSpPr>
          <p:cNvPr id="23" name="hyp2"/>
          <p:cNvSpPr/>
          <p:nvPr/>
        </p:nvSpPr>
        <p:spPr>
          <a:xfrm>
            <a:off x="8046720" y="1965960"/>
            <a:ext cx="3566160" cy="3977640"/>
          </a:xfrm>
          <a:prstGeom prst="roundRect">
            <a:avLst>
              <a:gd name="adj" fmla="val 3077"/>
            </a:avLst>
          </a:prstGeom>
          <a:solidFill>
            <a:schemeClr val="tx2"/>
          </a:solidFill>
          <a:ln/>
        </p:spPr>
      </p:sp>
      <p:sp>
        <p:nvSpPr>
          <p:cNvPr id="24" name="Shape 21"/>
          <p:cNvSpPr/>
          <p:nvPr/>
        </p:nvSpPr>
        <p:spPr>
          <a:xfrm>
            <a:off x="8275320" y="2176272"/>
            <a:ext cx="457200" cy="457200"/>
          </a:xfrm>
          <a:prstGeom prst="ellipse">
            <a:avLst/>
          </a:prstGeom>
          <a:solidFill>
            <a:schemeClr val="accent2"/>
          </a:solidFill>
          <a:ln w="19050">
            <a:solidFill>
              <a:schemeClr val="bg1"/>
            </a:solidFill>
            <a:prstDash val="solid"/>
          </a:ln>
        </p:spPr>
      </p:sp>
      <p:sp>
        <p:nvSpPr>
          <p:cNvPr id="25" name="Text 22"/>
          <p:cNvSpPr txBox="1"/>
          <p:nvPr/>
        </p:nvSpPr>
        <p:spPr>
          <a:xfrm>
            <a:off x="8275320" y="2176272"/>
            <a:ext cx="457200" cy="457200"/>
          </a:xfrm>
          <a:prstGeom prst="rect">
            <a:avLst/>
          </a:prstGeom>
          <a:no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26" name="Text 23"/>
          <p:cNvSpPr txBox="1"/>
          <p:nvPr/>
        </p:nvSpPr>
        <p:spPr>
          <a:xfrm>
            <a:off x="8869680" y="2212848"/>
            <a:ext cx="2606040" cy="411480"/>
          </a:xfrm>
          <a:prstGeom prst="rect">
            <a:avLst/>
          </a:prstGeom>
          <a:noFill/>
          <a:ln/>
        </p:spPr>
        <p:txBody>
          <a:bodyPr wrap="square" lIns="0" tIns="0" rIns="0" bIns="0" rtlCol="0" anchor="ctr"/>
          <a:lstStyle/>
          <a:p>
            <a:pPr indent="0" marL="0">
              <a:buNone/>
            </a:pPr>
            <a:r>
              <a:rPr lang="en-US" sz="1600" b="1" dirty="0">
                <a:solidFill>
                  <a:schemeClr val="bg1"/>
                </a:solidFill>
              </a:rPr>
              <a:t>La donnée sert à décider</a:t>
            </a:r>
            <a:endParaRPr lang="en-US" sz="1600" dirty="0"/>
          </a:p>
        </p:txBody>
      </p:sp>
      <p:sp>
        <p:nvSpPr>
          <p:cNvPr id="27" name="Text 24"/>
          <p:cNvSpPr txBox="1"/>
          <p:nvPr/>
        </p:nvSpPr>
        <p:spPr>
          <a:xfrm>
            <a:off x="8275320" y="2788920"/>
            <a:ext cx="3108960" cy="868680"/>
          </a:xfrm>
          <a:prstGeom prst="rect">
            <a:avLst/>
          </a:prstGeom>
          <a:noFill/>
          <a:ln/>
        </p:spPr>
        <p:txBody>
          <a:bodyPr wrap="square" lIns="0" tIns="0" rIns="0" bIns="0" rtlCol="0" anchor="t"/>
          <a:lstStyle/>
          <a:p>
            <a:pPr indent="0" marL="0">
              <a:buNone/>
            </a:pPr>
            <a:r>
              <a:rPr lang="en-US" sz="1200" dirty="0">
                <a:solidFill>
                  <a:schemeClr val="bg1"/>
                </a:solidFill>
              </a:rPr>
              <a:t>Priorités, achats de pièces et renouvellements s'appuient sur l'historique réel des ouvrages.</a:t>
            </a:r>
            <a:endParaRPr lang="en-US" sz="1200" dirty="0"/>
          </a:p>
        </p:txBody>
      </p:sp>
      <p:sp>
        <p:nvSpPr>
          <p:cNvPr id="28" name="Text 25"/>
          <p:cNvSpPr txBox="1"/>
          <p:nvPr/>
        </p:nvSpPr>
        <p:spPr>
          <a:xfrm>
            <a:off x="8275320" y="3749040"/>
            <a:ext cx="310896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LE PROTOTYPE MONTRE</a:t>
            </a:r>
            <a:endParaRPr lang="en-US" sz="1100" dirty="0"/>
          </a:p>
        </p:txBody>
      </p:sp>
      <p:sp>
        <p:nvSpPr>
          <p:cNvPr id="29" name="Text 26"/>
          <p:cNvSpPr txBox="1"/>
          <p:nvPr/>
        </p:nvSpPr>
        <p:spPr>
          <a:xfrm>
            <a:off x="8275320" y="4023360"/>
            <a:ext cx="3108960" cy="685800"/>
          </a:xfrm>
          <a:prstGeom prst="rect">
            <a:avLst/>
          </a:prstGeom>
          <a:noFill/>
          <a:ln/>
        </p:spPr>
        <p:txBody>
          <a:bodyPr wrap="square" lIns="0" tIns="0" rIns="0" bIns="0" rtlCol="0" anchor="t"/>
          <a:lstStyle/>
          <a:p>
            <a:pPr indent="0" marL="0">
              <a:buNone/>
            </a:pPr>
            <a:r>
              <a:rPr lang="en-US" sz="1200" dirty="0">
                <a:solidFill>
                  <a:schemeClr val="bg1"/>
                </a:solidFill>
              </a:rPr>
              <a:t>Le tri suggéré, les alertes de stock et d'usure, la comparaison des communes.</a:t>
            </a:r>
            <a:endParaRPr lang="en-US" sz="1200" dirty="0"/>
          </a:p>
        </p:txBody>
      </p:sp>
      <p:sp>
        <p:nvSpPr>
          <p:cNvPr id="30" name="Text 27"/>
          <p:cNvSpPr txBox="1"/>
          <p:nvPr/>
        </p:nvSpPr>
        <p:spPr>
          <a:xfrm>
            <a:off x="8275320" y="4754880"/>
            <a:ext cx="310896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LE PILOTE DOIT MESURER</a:t>
            </a:r>
            <a:endParaRPr lang="en-US" sz="1100" dirty="0"/>
          </a:p>
        </p:txBody>
      </p:sp>
      <p:sp>
        <p:nvSpPr>
          <p:cNvPr id="31" name="Text 28"/>
          <p:cNvSpPr txBox="1"/>
          <p:nvPr/>
        </p:nvSpPr>
        <p:spPr>
          <a:xfrm>
            <a:off x="8275320" y="5029200"/>
            <a:ext cx="3108960" cy="777240"/>
          </a:xfrm>
          <a:prstGeom prst="rect">
            <a:avLst/>
          </a:prstGeom>
          <a:noFill/>
          <a:ln/>
        </p:spPr>
        <p:txBody>
          <a:bodyPr wrap="square" lIns="0" tIns="0" rIns="0" bIns="0" rtlCol="0" anchor="t"/>
          <a:lstStyle/>
          <a:p>
            <a:pPr indent="0" marL="0">
              <a:buNone/>
            </a:pPr>
            <a:r>
              <a:rPr lang="en-US" sz="1200" dirty="0">
                <a:solidFill>
                  <a:schemeClr val="bg1"/>
                </a:solidFill>
              </a:rPr>
              <a:t>Des décisions prises à partir du registre pendant le pilote.</a:t>
            </a:r>
            <a:endParaRPr lang="en-US" sz="1200" dirty="0"/>
          </a:p>
        </p:txBody>
      </p:sp>
      <p:sp>
        <p:nvSpPr>
          <p:cNvPr id="32" name="Text 29"/>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47 (retours usagers), p. 56 (suivi de la performance des communes). Hypothèses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LE PROTOTYPE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Quatre points de vue sur une même base de données</a:t>
            </a:r>
            <a:endParaRPr lang="en-US" sz="2800" dirty="0"/>
          </a:p>
        </p:txBody>
      </p:sp>
      <p:sp>
        <p:nvSpPr>
          <p:cNvPr id="5" name="Shape 2"/>
          <p:cNvSpPr/>
          <p:nvPr/>
        </p:nvSpPr>
        <p:spPr>
          <a:xfrm>
            <a:off x="685800" y="2011680"/>
            <a:ext cx="1426464" cy="2743200"/>
          </a:xfrm>
          <a:prstGeom prst="roundRect">
            <a:avLst>
              <a:gd name="adj" fmla="val 14103"/>
            </a:avLst>
          </a:prstGeom>
          <a:solidFill>
            <a:schemeClr val="tx2"/>
          </a:solidFill>
          <a:ln/>
          <a:effectLst>
            <a:outerShdw sx="100000" sy="100000" kx="0" ky="0" algn="bl" rotWithShape="0" blurRad="127000" dist="50800" dir="5400000">
              <a:srgbClr val="253970">
                <a:alpha val="25000"/>
              </a:srgbClr>
            </a:outerShdw>
          </a:effectLst>
        </p:spPr>
      </p:sp>
      <p:pic>
        <p:nvPicPr>
          <p:cNvPr id="6" name="Image 0" descr="Vue habitant">    </p:cNvPr>
          <p:cNvPicPr>
            <a:picLocks noChangeAspect="1"/>
          </p:cNvPicPr>
          <p:nvPr/>
        </p:nvPicPr>
        <p:blipFill>
          <a:blip r:embed="rId1"/>
          <a:stretch>
            <a:fillRect/>
          </a:stretch>
        </p:blipFill>
        <p:spPr>
          <a:xfrm>
            <a:off x="740664" y="2066544"/>
            <a:ext cx="1316736" cy="2633472"/>
          </a:xfrm>
          <a:prstGeom prst="rect">
            <a:avLst/>
          </a:prstGeom>
        </p:spPr>
      </p:pic>
      <p:sp>
        <p:nvSpPr>
          <p:cNvPr id="7" name="Shape 3"/>
          <p:cNvSpPr/>
          <p:nvPr/>
        </p:nvSpPr>
        <p:spPr>
          <a:xfrm>
            <a:off x="2514600" y="2011680"/>
            <a:ext cx="1426464" cy="2743200"/>
          </a:xfrm>
          <a:prstGeom prst="roundRect">
            <a:avLst>
              <a:gd name="adj" fmla="val 14103"/>
            </a:avLst>
          </a:prstGeom>
          <a:solidFill>
            <a:schemeClr val="tx2"/>
          </a:solidFill>
          <a:ln/>
          <a:effectLst>
            <a:outerShdw sx="100000" sy="100000" kx="0" ky="0" algn="bl" rotWithShape="0" blurRad="127000" dist="50800" dir="5400000">
              <a:srgbClr val="253970">
                <a:alpha val="25000"/>
              </a:srgbClr>
            </a:outerShdw>
          </a:effectLst>
        </p:spPr>
      </p:sp>
      <p:pic>
        <p:nvPicPr>
          <p:cNvPr id="8" name="Image 1" descr="Vue technicien">    </p:cNvPr>
          <p:cNvPicPr>
            <a:picLocks noChangeAspect="1"/>
          </p:cNvPicPr>
          <p:nvPr/>
        </p:nvPicPr>
        <p:blipFill>
          <a:blip r:embed="rId2"/>
          <a:stretch>
            <a:fillRect/>
          </a:stretch>
        </p:blipFill>
        <p:spPr>
          <a:xfrm>
            <a:off x="2569464" y="2066544"/>
            <a:ext cx="1316736" cy="2633472"/>
          </a:xfrm>
          <a:prstGeom prst="rect">
            <a:avLst/>
          </a:prstGeom>
        </p:spPr>
      </p:pic>
      <p:sp>
        <p:nvSpPr>
          <p:cNvPr id="9" name="Shape 4"/>
          <p:cNvSpPr/>
          <p:nvPr/>
        </p:nvSpPr>
        <p:spPr>
          <a:xfrm>
            <a:off x="4526280" y="2011680"/>
            <a:ext cx="3520440" cy="2438019"/>
          </a:xfrm>
          <a:prstGeom prst="rect">
            <a:avLst/>
          </a:prstGeom>
          <a:solidFill>
            <a:schemeClr val="bg1"/>
          </a:solidFill>
          <a:ln w="9525">
            <a:solidFill>
              <a:schemeClr val="accent6"/>
            </a:solidFill>
            <a:prstDash val="solid"/>
          </a:ln>
          <a:effectLst>
            <a:outerShdw sx="100000" sy="100000" kx="0" ky="0" algn="bl" rotWithShape="0" blurRad="101600" dist="38100" dir="5400000">
              <a:srgbClr val="253970">
                <a:alpha val="18000"/>
              </a:srgbClr>
            </a:outerShdw>
          </a:effectLst>
        </p:spPr>
      </p:sp>
      <p:sp>
        <p:nvSpPr>
          <p:cNvPr id="10" name="Shape 5"/>
          <p:cNvSpPr/>
          <p:nvPr/>
        </p:nvSpPr>
        <p:spPr>
          <a:xfrm>
            <a:off x="4526280" y="2011680"/>
            <a:ext cx="3520440" cy="237744"/>
          </a:xfrm>
          <a:prstGeom prst="rect">
            <a:avLst/>
          </a:prstGeom>
          <a:solidFill>
            <a:schemeClr val="bg2"/>
          </a:solidFill>
          <a:ln/>
        </p:spPr>
      </p:sp>
      <p:sp>
        <p:nvSpPr>
          <p:cNvPr id="11" name="Shape 6"/>
          <p:cNvSpPr/>
          <p:nvPr/>
        </p:nvSpPr>
        <p:spPr>
          <a:xfrm>
            <a:off x="4636008" y="2084832"/>
            <a:ext cx="91440" cy="91440"/>
          </a:xfrm>
          <a:prstGeom prst="ellipse">
            <a:avLst/>
          </a:prstGeom>
          <a:solidFill>
            <a:srgbClr val="F2B134"/>
          </a:solidFill>
          <a:ln/>
        </p:spPr>
      </p:sp>
      <p:sp>
        <p:nvSpPr>
          <p:cNvPr id="12" name="Shape 7"/>
          <p:cNvSpPr/>
          <p:nvPr/>
        </p:nvSpPr>
        <p:spPr>
          <a:xfrm>
            <a:off x="4782312" y="2084832"/>
            <a:ext cx="91440" cy="91440"/>
          </a:xfrm>
          <a:prstGeom prst="ellipse">
            <a:avLst/>
          </a:prstGeom>
          <a:solidFill>
            <a:srgbClr val="C7DDED"/>
          </a:solidFill>
          <a:ln/>
        </p:spPr>
      </p:sp>
      <p:sp>
        <p:nvSpPr>
          <p:cNvPr id="13" name="Shape 8"/>
          <p:cNvSpPr/>
          <p:nvPr/>
        </p:nvSpPr>
        <p:spPr>
          <a:xfrm>
            <a:off x="4928616" y="2084832"/>
            <a:ext cx="91440" cy="91440"/>
          </a:xfrm>
          <a:prstGeom prst="ellipse">
            <a:avLst/>
          </a:prstGeom>
          <a:solidFill>
            <a:srgbClr val="8E9CCB"/>
          </a:solidFill>
          <a:ln/>
        </p:spPr>
      </p:sp>
      <p:pic>
        <p:nvPicPr>
          <p:cNvPr id="14" name="Image 2" descr="Vue commune">    </p:cNvPr>
          <p:cNvPicPr>
            <a:picLocks noChangeAspect="1"/>
          </p:cNvPicPr>
          <p:nvPr/>
        </p:nvPicPr>
        <p:blipFill>
          <a:blip r:embed="rId3"/>
          <a:stretch>
            <a:fillRect/>
          </a:stretch>
        </p:blipFill>
        <p:spPr>
          <a:xfrm>
            <a:off x="4526280" y="2249424"/>
            <a:ext cx="3520440" cy="2200275"/>
          </a:xfrm>
          <a:prstGeom prst="rect">
            <a:avLst/>
          </a:prstGeom>
        </p:spPr>
      </p:pic>
      <p:sp>
        <p:nvSpPr>
          <p:cNvPr id="15" name="Shape 9"/>
          <p:cNvSpPr/>
          <p:nvPr/>
        </p:nvSpPr>
        <p:spPr>
          <a:xfrm>
            <a:off x="8183880" y="2011680"/>
            <a:ext cx="3520440" cy="2438019"/>
          </a:xfrm>
          <a:prstGeom prst="rect">
            <a:avLst/>
          </a:prstGeom>
          <a:solidFill>
            <a:schemeClr val="bg1"/>
          </a:solidFill>
          <a:ln w="9525">
            <a:solidFill>
              <a:schemeClr val="accent6"/>
            </a:solidFill>
            <a:prstDash val="solid"/>
          </a:ln>
          <a:effectLst>
            <a:outerShdw sx="100000" sy="100000" kx="0" ky="0" algn="bl" rotWithShape="0" blurRad="101600" dist="38100" dir="5400000">
              <a:srgbClr val="253970">
                <a:alpha val="18000"/>
              </a:srgbClr>
            </a:outerShdw>
          </a:effectLst>
        </p:spPr>
      </p:sp>
      <p:sp>
        <p:nvSpPr>
          <p:cNvPr id="16" name="Shape 10"/>
          <p:cNvSpPr/>
          <p:nvPr/>
        </p:nvSpPr>
        <p:spPr>
          <a:xfrm>
            <a:off x="8183880" y="2011680"/>
            <a:ext cx="3520440" cy="237744"/>
          </a:xfrm>
          <a:prstGeom prst="rect">
            <a:avLst/>
          </a:prstGeom>
          <a:solidFill>
            <a:schemeClr val="bg2"/>
          </a:solidFill>
          <a:ln/>
        </p:spPr>
      </p:sp>
      <p:sp>
        <p:nvSpPr>
          <p:cNvPr id="17" name="Shape 11"/>
          <p:cNvSpPr/>
          <p:nvPr/>
        </p:nvSpPr>
        <p:spPr>
          <a:xfrm>
            <a:off x="8293608" y="2084832"/>
            <a:ext cx="91440" cy="91440"/>
          </a:xfrm>
          <a:prstGeom prst="ellipse">
            <a:avLst/>
          </a:prstGeom>
          <a:solidFill>
            <a:srgbClr val="F2B134"/>
          </a:solidFill>
          <a:ln/>
        </p:spPr>
      </p:sp>
      <p:sp>
        <p:nvSpPr>
          <p:cNvPr id="18" name="Shape 12"/>
          <p:cNvSpPr/>
          <p:nvPr/>
        </p:nvSpPr>
        <p:spPr>
          <a:xfrm>
            <a:off x="8439912" y="2084832"/>
            <a:ext cx="91440" cy="91440"/>
          </a:xfrm>
          <a:prstGeom prst="ellipse">
            <a:avLst/>
          </a:prstGeom>
          <a:solidFill>
            <a:srgbClr val="C7DDED"/>
          </a:solidFill>
          <a:ln/>
        </p:spPr>
      </p:sp>
      <p:sp>
        <p:nvSpPr>
          <p:cNvPr id="19" name="Shape 13"/>
          <p:cNvSpPr/>
          <p:nvPr/>
        </p:nvSpPr>
        <p:spPr>
          <a:xfrm>
            <a:off x="8586216" y="2084832"/>
            <a:ext cx="91440" cy="91440"/>
          </a:xfrm>
          <a:prstGeom prst="ellipse">
            <a:avLst/>
          </a:prstGeom>
          <a:solidFill>
            <a:srgbClr val="8E9CCB"/>
          </a:solidFill>
          <a:ln/>
        </p:spPr>
      </p:sp>
      <p:pic>
        <p:nvPicPr>
          <p:cNvPr id="20" name="Image 3" descr="Vue pôle">    </p:cNvPr>
          <p:cNvPicPr>
            <a:picLocks noChangeAspect="1"/>
          </p:cNvPicPr>
          <p:nvPr/>
        </p:nvPicPr>
        <p:blipFill>
          <a:blip r:embed="rId4"/>
          <a:stretch>
            <a:fillRect/>
          </a:stretch>
        </p:blipFill>
        <p:spPr>
          <a:xfrm>
            <a:off x="8183880" y="2249424"/>
            <a:ext cx="3520440" cy="2200275"/>
          </a:xfrm>
          <a:prstGeom prst="rect">
            <a:avLst/>
          </a:prstGeom>
        </p:spPr>
      </p:pic>
      <p:sp>
        <p:nvSpPr>
          <p:cNvPr id="21" name="Text 14"/>
          <p:cNvSpPr txBox="1"/>
          <p:nvPr/>
        </p:nvSpPr>
        <p:spPr>
          <a:xfrm>
            <a:off x="548640" y="4846320"/>
            <a:ext cx="173736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HABITANT</a:t>
            </a:r>
            <a:endParaRPr lang="en-US" sz="1100" dirty="0"/>
          </a:p>
        </p:txBody>
      </p:sp>
      <p:sp>
        <p:nvSpPr>
          <p:cNvPr id="22" name="Text 15"/>
          <p:cNvSpPr txBox="1"/>
          <p:nvPr/>
        </p:nvSpPr>
        <p:spPr>
          <a:xfrm>
            <a:off x="548640" y="5093208"/>
            <a:ext cx="1737360" cy="237744"/>
          </a:xfrm>
          <a:prstGeom prst="rect">
            <a:avLst/>
          </a:prstGeom>
          <a:noFill/>
          <a:ln/>
        </p:spPr>
        <p:txBody>
          <a:bodyPr wrap="square" lIns="0" tIns="0" rIns="0" bIns="0" rtlCol="0" anchor="ctr"/>
          <a:lstStyle/>
          <a:p>
            <a:pPr indent="0" marL="0">
              <a:buNone/>
            </a:pPr>
            <a:r>
              <a:rPr lang="en-US" sz="1050" i="1" dirty="0">
                <a:solidFill>
                  <a:schemeClr val="accent5"/>
                </a:solidFill>
              </a:rPr>
              <a:t>Téléphone, par QR code</a:t>
            </a:r>
            <a:endParaRPr lang="en-US" sz="1050" dirty="0"/>
          </a:p>
        </p:txBody>
      </p:sp>
      <p:sp>
        <p:nvSpPr>
          <p:cNvPr id="23" name="Text 16"/>
          <p:cNvSpPr txBox="1"/>
          <p:nvPr/>
        </p:nvSpPr>
        <p:spPr>
          <a:xfrm>
            <a:off x="548640" y="5349240"/>
            <a:ext cx="1737360" cy="685800"/>
          </a:xfrm>
          <a:prstGeom prst="rect">
            <a:avLst/>
          </a:prstGeom>
          <a:noFill/>
          <a:ln/>
        </p:spPr>
        <p:txBody>
          <a:bodyPr wrap="square" lIns="0" tIns="0" rIns="0" bIns="0" rtlCol="0" anchor="t"/>
          <a:lstStyle/>
          <a:p>
            <a:pPr indent="0" marL="0">
              <a:buNone/>
            </a:pPr>
            <a:r>
              <a:rPr lang="en-US" sz="1100" dirty="0">
                <a:solidFill>
                  <a:schemeClr val="tx1"/>
                </a:solidFill>
              </a:rPr>
              <a:t>Voir, signaler, suivre. Sans application ni compte.</a:t>
            </a:r>
            <a:endParaRPr lang="en-US" sz="1100" dirty="0"/>
          </a:p>
        </p:txBody>
      </p:sp>
      <p:sp>
        <p:nvSpPr>
          <p:cNvPr id="24" name="Text 17"/>
          <p:cNvSpPr txBox="1"/>
          <p:nvPr/>
        </p:nvSpPr>
        <p:spPr>
          <a:xfrm>
            <a:off x="2377440" y="4846320"/>
            <a:ext cx="173736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TECHNICIEN</a:t>
            </a:r>
            <a:endParaRPr lang="en-US" sz="1100" dirty="0"/>
          </a:p>
        </p:txBody>
      </p:sp>
      <p:sp>
        <p:nvSpPr>
          <p:cNvPr id="25" name="Text 18"/>
          <p:cNvSpPr txBox="1"/>
          <p:nvPr/>
        </p:nvSpPr>
        <p:spPr>
          <a:xfrm>
            <a:off x="2377440" y="5093208"/>
            <a:ext cx="1737360" cy="237744"/>
          </a:xfrm>
          <a:prstGeom prst="rect">
            <a:avLst/>
          </a:prstGeom>
          <a:noFill/>
          <a:ln/>
        </p:spPr>
        <p:txBody>
          <a:bodyPr wrap="square" lIns="0" tIns="0" rIns="0" bIns="0" rtlCol="0" anchor="ctr"/>
          <a:lstStyle/>
          <a:p>
            <a:pPr indent="0" marL="0">
              <a:buNone/>
            </a:pPr>
            <a:r>
              <a:rPr lang="en-US" sz="1050" i="1" dirty="0">
                <a:solidFill>
                  <a:schemeClr val="accent5"/>
                </a:solidFill>
              </a:rPr>
              <a:t>Téléphone, hors ligne</a:t>
            </a:r>
            <a:endParaRPr lang="en-US" sz="1050" dirty="0"/>
          </a:p>
        </p:txBody>
      </p:sp>
      <p:sp>
        <p:nvSpPr>
          <p:cNvPr id="26" name="Text 19"/>
          <p:cNvSpPr txBox="1"/>
          <p:nvPr/>
        </p:nvSpPr>
        <p:spPr>
          <a:xfrm>
            <a:off x="2377440" y="5349240"/>
            <a:ext cx="1737360" cy="685800"/>
          </a:xfrm>
          <a:prstGeom prst="rect">
            <a:avLst/>
          </a:prstGeom>
          <a:noFill/>
          <a:ln/>
        </p:spPr>
        <p:txBody>
          <a:bodyPr wrap="square" lIns="0" tIns="0" rIns="0" bIns="0" rtlCol="0" anchor="t"/>
          <a:lstStyle/>
          <a:p>
            <a:pPr indent="0" marL="0">
              <a:buNone/>
            </a:pPr>
            <a:r>
              <a:rPr lang="en-US" sz="1100" dirty="0">
                <a:solidFill>
                  <a:schemeClr val="tx1"/>
                </a:solidFill>
              </a:rPr>
              <a:t>Tâches, checklist, pièces posées, photos.</a:t>
            </a:r>
            <a:endParaRPr lang="en-US" sz="1100" dirty="0"/>
          </a:p>
        </p:txBody>
      </p:sp>
      <p:sp>
        <p:nvSpPr>
          <p:cNvPr id="27" name="Text 20"/>
          <p:cNvSpPr txBox="1"/>
          <p:nvPr/>
        </p:nvSpPr>
        <p:spPr>
          <a:xfrm>
            <a:off x="4526280" y="4434840"/>
            <a:ext cx="352044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COMMUNE</a:t>
            </a:r>
            <a:endParaRPr lang="en-US" sz="1100" dirty="0"/>
          </a:p>
        </p:txBody>
      </p:sp>
      <p:sp>
        <p:nvSpPr>
          <p:cNvPr id="28" name="Text 21"/>
          <p:cNvSpPr txBox="1"/>
          <p:nvPr/>
        </p:nvSpPr>
        <p:spPr>
          <a:xfrm>
            <a:off x="4526280" y="4681728"/>
            <a:ext cx="3520440" cy="237744"/>
          </a:xfrm>
          <a:prstGeom prst="rect">
            <a:avLst/>
          </a:prstGeom>
          <a:noFill/>
          <a:ln/>
        </p:spPr>
        <p:txBody>
          <a:bodyPr wrap="square" lIns="0" tIns="0" rIns="0" bIns="0" rtlCol="0" anchor="ctr"/>
          <a:lstStyle/>
          <a:p>
            <a:pPr indent="0" marL="0">
              <a:buNone/>
            </a:pPr>
            <a:r>
              <a:rPr lang="en-US" sz="1050" i="1" dirty="0">
                <a:solidFill>
                  <a:schemeClr val="accent5"/>
                </a:solidFill>
              </a:rPr>
              <a:t>Ordinateur</a:t>
            </a:r>
            <a:endParaRPr lang="en-US" sz="1050" dirty="0"/>
          </a:p>
        </p:txBody>
      </p:sp>
      <p:sp>
        <p:nvSpPr>
          <p:cNvPr id="29" name="Text 22"/>
          <p:cNvSpPr txBox="1"/>
          <p:nvPr/>
        </p:nvSpPr>
        <p:spPr>
          <a:xfrm>
            <a:off x="4526280" y="4937760"/>
            <a:ext cx="3520440" cy="822960"/>
          </a:xfrm>
          <a:prstGeom prst="rect">
            <a:avLst/>
          </a:prstGeom>
          <a:noFill/>
          <a:ln/>
        </p:spPr>
        <p:txBody>
          <a:bodyPr wrap="square" lIns="0" tIns="0" rIns="0" bIns="0" rtlCol="0" anchor="t"/>
          <a:lstStyle/>
          <a:p>
            <a:pPr indent="0" marL="0">
              <a:buNone/>
            </a:pPr>
            <a:r>
              <a:rPr lang="en-US" sz="1100" dirty="0">
                <a:solidFill>
                  <a:schemeClr val="tx1"/>
                </a:solidFill>
              </a:rPr>
              <a:t>File à traiter, carte, tri et affectation, fiche de chaque ouvrage, 7 indicateurs.</a:t>
            </a:r>
            <a:endParaRPr lang="en-US" sz="1100" dirty="0"/>
          </a:p>
        </p:txBody>
      </p:sp>
      <p:sp>
        <p:nvSpPr>
          <p:cNvPr id="30" name="Text 23"/>
          <p:cNvSpPr txBox="1"/>
          <p:nvPr/>
        </p:nvSpPr>
        <p:spPr>
          <a:xfrm>
            <a:off x="8183880" y="4434840"/>
            <a:ext cx="352044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PÔLE</a:t>
            </a:r>
            <a:endParaRPr lang="en-US" sz="1100" dirty="0"/>
          </a:p>
        </p:txBody>
      </p:sp>
      <p:sp>
        <p:nvSpPr>
          <p:cNvPr id="31" name="Text 24"/>
          <p:cNvSpPr txBox="1"/>
          <p:nvPr/>
        </p:nvSpPr>
        <p:spPr>
          <a:xfrm>
            <a:off x="8183880" y="4681728"/>
            <a:ext cx="3520440" cy="237744"/>
          </a:xfrm>
          <a:prstGeom prst="rect">
            <a:avLst/>
          </a:prstGeom>
          <a:noFill/>
          <a:ln/>
        </p:spPr>
        <p:txBody>
          <a:bodyPr wrap="square" lIns="0" tIns="0" rIns="0" bIns="0" rtlCol="0" anchor="ctr"/>
          <a:lstStyle/>
          <a:p>
            <a:pPr indent="0" marL="0">
              <a:buNone/>
            </a:pPr>
            <a:r>
              <a:rPr lang="en-US" sz="1050" i="1" dirty="0">
                <a:solidFill>
                  <a:schemeClr val="accent5"/>
                </a:solidFill>
              </a:rPr>
              <a:t>Ordinateur</a:t>
            </a:r>
            <a:endParaRPr lang="en-US" sz="1050" dirty="0"/>
          </a:p>
        </p:txBody>
      </p:sp>
      <p:sp>
        <p:nvSpPr>
          <p:cNvPr id="32" name="Text 25"/>
          <p:cNvSpPr txBox="1"/>
          <p:nvPr/>
        </p:nvSpPr>
        <p:spPr>
          <a:xfrm>
            <a:off x="8183880" y="4937760"/>
            <a:ext cx="3520440" cy="822960"/>
          </a:xfrm>
          <a:prstGeom prst="rect">
            <a:avLst/>
          </a:prstGeom>
          <a:noFill/>
          <a:ln/>
        </p:spPr>
        <p:txBody>
          <a:bodyPr wrap="square" lIns="0" tIns="0" rIns="0" bIns="0" rtlCol="0" anchor="t"/>
          <a:lstStyle/>
          <a:p>
            <a:pPr indent="0" marL="0">
              <a:buNone/>
            </a:pPr>
            <a:r>
              <a:rPr lang="en-US" sz="1100" dirty="0">
                <a:solidFill>
                  <a:schemeClr val="tx1"/>
                </a:solidFill>
              </a:rPr>
              <a:t>Comparaison des communes, pièces critiques, renouvellements à prévoir.</a:t>
            </a:r>
            <a:endParaRPr lang="en-US" sz="1100" dirty="0"/>
          </a:p>
        </p:txBody>
      </p:sp>
      <p:sp>
        <p:nvSpPr>
          <p:cNvPr id="33" name="Text 26"/>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Prototype de l'auteur, fonctionnel dans un navigateur. Données, lieux et montants fictifs.</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LE SCÉNARIO</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Un forage s'arrête à Sèdjro : 29 heures du signalement à l'eau rétablie</a:t>
            </a:r>
            <a:endParaRPr lang="en-US" sz="2800" dirty="0"/>
          </a:p>
        </p:txBody>
      </p:sp>
      <p:sp>
        <p:nvSpPr>
          <p:cNvPr id="5" name="ctx"/>
          <p:cNvSpPr/>
          <p:nvPr/>
        </p:nvSpPr>
        <p:spPr>
          <a:xfrm>
            <a:off x="548640" y="1965960"/>
            <a:ext cx="3291840" cy="3977640"/>
          </a:xfrm>
          <a:prstGeom prst="roundRect">
            <a:avLst>
              <a:gd name="adj" fmla="val 3333"/>
            </a:avLst>
          </a:prstGeom>
          <a:solidFill>
            <a:schemeClr val="tx2"/>
          </a:solidFill>
          <a:ln/>
        </p:spPr>
      </p:sp>
      <p:pic>
        <p:nvPicPr>
          <p:cNvPr id="6" name="Image 0" descr="Système d'eau type : forage solaire et château d'eau">    </p:cNvPr>
          <p:cNvPicPr>
            <a:picLocks noChangeAspect="1"/>
          </p:cNvPicPr>
          <p:nvPr/>
        </p:nvPicPr>
        <p:blipFill>
          <a:blip r:embed="rId1"/>
          <a:srcRect l="0" r="0" t="0" b="0"/>
          <a:stretch/>
        </p:blipFill>
        <p:spPr>
          <a:xfrm>
            <a:off x="685800" y="2103120"/>
            <a:ext cx="3017520" cy="1600200"/>
          </a:xfrm>
          <a:prstGeom prst="rect">
            <a:avLst/>
          </a:prstGeom>
        </p:spPr>
      </p:pic>
      <p:sp>
        <p:nvSpPr>
          <p:cNvPr id="7" name="Text 3"/>
          <p:cNvSpPr txBox="1"/>
          <p:nvPr/>
        </p:nvSpPr>
        <p:spPr>
          <a:xfrm>
            <a:off x="777240" y="3840480"/>
            <a:ext cx="292608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L'OUVRAGE</a:t>
            </a:r>
            <a:endParaRPr lang="en-US" sz="1100" dirty="0"/>
          </a:p>
        </p:txBody>
      </p:sp>
      <p:sp>
        <p:nvSpPr>
          <p:cNvPr id="8" name="Text 4"/>
          <p:cNvSpPr txBox="1"/>
          <p:nvPr/>
        </p:nvSpPr>
        <p:spPr>
          <a:xfrm>
            <a:off x="777240" y="4114800"/>
            <a:ext cx="2926080" cy="960120"/>
          </a:xfrm>
          <a:prstGeom prst="rect">
            <a:avLst/>
          </a:prstGeom>
          <a:noFill/>
          <a:ln/>
        </p:spPr>
        <p:txBody>
          <a:bodyPr wrap="square" lIns="0" tIns="0" rIns="0" bIns="0" rtlCol="0" anchor="t"/>
          <a:lstStyle/>
          <a:p>
            <a:pPr indent="0" marL="0">
              <a:spcAft>
                <a:spcPts val="300"/>
              </a:spcAft>
              <a:buNone/>
            </a:pPr>
            <a:r>
              <a:rPr lang="en-US" sz="1150" dirty="0">
                <a:solidFill>
                  <a:schemeClr val="bg1"/>
                </a:solidFill>
              </a:rPr>
              <a:t>EAU-004 · système d'eau de Sèdjro-village</a:t>
            </a:r>
            <a:endParaRPr lang="en-US" sz="1150" dirty="0"/>
          </a:p>
          <a:p>
            <a:pPr indent="0" marL="0">
              <a:spcAft>
                <a:spcPts val="300"/>
              </a:spcAft>
              <a:buNone/>
            </a:pPr>
            <a:r>
              <a:rPr lang="en-US" sz="1150" dirty="0">
                <a:solidFill>
                  <a:schemeClr val="bg1"/>
                </a:solidFill>
              </a:rPr>
              <a:t>Dessert environ 1 200 habitants</a:t>
            </a:r>
            <a:endParaRPr lang="en-US" sz="1150" dirty="0"/>
          </a:p>
          <a:p>
            <a:pPr indent="0" marL="0">
              <a:spcAft>
                <a:spcPts val="300"/>
              </a:spcAft>
              <a:buNone/>
            </a:pPr>
            <a:r>
              <a:rPr lang="en-US" sz="1150" dirty="0">
                <a:solidFill>
                  <a:schemeClr val="bg1"/>
                </a:solidFill>
              </a:rPr>
              <a:t>Pompe immergée posée en 2019, durée de vie 7 ans</a:t>
            </a:r>
            <a:endParaRPr lang="en-US" sz="1150" dirty="0"/>
          </a:p>
        </p:txBody>
      </p:sp>
      <p:sp>
        <p:nvSpPr>
          <p:cNvPr id="9" name="Text 5"/>
          <p:cNvSpPr txBox="1"/>
          <p:nvPr/>
        </p:nvSpPr>
        <p:spPr>
          <a:xfrm>
            <a:off x="777240" y="5166360"/>
            <a:ext cx="2926080" cy="594360"/>
          </a:xfrm>
          <a:prstGeom prst="rect">
            <a:avLst/>
          </a:prstGeom>
          <a:noFill/>
          <a:ln/>
        </p:spPr>
        <p:txBody>
          <a:bodyPr wrap="square" lIns="0" tIns="0" rIns="0" bIns="0" rtlCol="0" anchor="t"/>
          <a:lstStyle/>
          <a:p>
            <a:pPr indent="0" marL="0">
              <a:buNone/>
            </a:pPr>
            <a:r>
              <a:rPr lang="en-US" sz="1200" b="1" dirty="0">
                <a:solidFill>
                  <a:schemeClr val="accent2"/>
                </a:solidFill>
              </a:rPr>
              <a:t>Le registre l'avait déjà en alerte d'usure avant la panne.</a:t>
            </a:r>
            <a:endParaRPr lang="en-US" sz="1200" dirty="0"/>
          </a:p>
        </p:txBody>
      </p:sp>
      <p:sp>
        <p:nvSpPr>
          <p:cNvPr id="10" name="Shape 6"/>
          <p:cNvSpPr/>
          <p:nvPr/>
        </p:nvSpPr>
        <p:spPr>
          <a:xfrm>
            <a:off x="4617720" y="2194560"/>
            <a:ext cx="0" cy="3520440"/>
          </a:xfrm>
          <a:prstGeom prst="line">
            <a:avLst/>
          </a:prstGeom>
          <a:noFill/>
          <a:ln w="31750">
            <a:solidFill>
              <a:schemeClr val="accent3"/>
            </a:solidFill>
            <a:prstDash val="solid"/>
          </a:ln>
        </p:spPr>
      </p:sp>
      <p:sp>
        <p:nvSpPr>
          <p:cNvPr id="11" name="Shape 7"/>
          <p:cNvSpPr/>
          <p:nvPr/>
        </p:nvSpPr>
        <p:spPr>
          <a:xfrm>
            <a:off x="4498848" y="2121408"/>
            <a:ext cx="237744" cy="237744"/>
          </a:xfrm>
          <a:prstGeom prst="ellipse">
            <a:avLst/>
          </a:prstGeom>
          <a:solidFill>
            <a:schemeClr val="accent1"/>
          </a:solidFill>
          <a:ln w="19050">
            <a:solidFill>
              <a:schemeClr val="bg1"/>
            </a:solidFill>
            <a:prstDash val="solid"/>
          </a:ln>
        </p:spPr>
      </p:sp>
      <p:sp>
        <p:nvSpPr>
          <p:cNvPr id="12" name="Text 8"/>
          <p:cNvSpPr txBox="1"/>
          <p:nvPr/>
        </p:nvSpPr>
        <p:spPr>
          <a:xfrm>
            <a:off x="4937760" y="2011680"/>
            <a:ext cx="1325880" cy="457200"/>
          </a:xfrm>
          <a:prstGeom prst="rect">
            <a:avLst/>
          </a:prstGeom>
          <a:noFill/>
          <a:ln/>
        </p:spPr>
        <p:txBody>
          <a:bodyPr wrap="square" lIns="0" tIns="0" rIns="0" bIns="0" rtlCol="0" anchor="ctr"/>
          <a:lstStyle/>
          <a:p>
            <a:pPr indent="0" marL="0">
              <a:buNone/>
            </a:pPr>
            <a:r>
              <a:rPr lang="en-US" sz="1300" b="1" dirty="0">
                <a:solidFill>
                  <a:schemeClr val="tx2"/>
                </a:solidFill>
              </a:rPr>
              <a:t>J  08:40</a:t>
            </a:r>
            <a:endParaRPr lang="en-US" sz="1300" dirty="0"/>
          </a:p>
        </p:txBody>
      </p:sp>
      <p:sp>
        <p:nvSpPr>
          <p:cNvPr id="13" name="Text 9"/>
          <p:cNvSpPr txBox="1"/>
          <p:nvPr/>
        </p:nvSpPr>
        <p:spPr>
          <a:xfrm>
            <a:off x="6309360" y="2011680"/>
            <a:ext cx="1463040" cy="457200"/>
          </a:xfrm>
          <a:prstGeom prst="rect">
            <a:avLst/>
          </a:prstGeom>
          <a:noFill/>
          <a:ln/>
        </p:spPr>
        <p:txBody>
          <a:bodyPr wrap="square" lIns="0" tIns="0" rIns="0" bIns="0" rtlCol="0" anchor="ctr"/>
          <a:lstStyle/>
          <a:p>
            <a:pPr indent="0" marL="0">
              <a:buNone/>
            </a:pPr>
            <a:r>
              <a:rPr lang="en-US" sz="1000" b="1" spc="100" kern="0" dirty="0">
                <a:solidFill>
                  <a:schemeClr val="accent1"/>
                </a:solidFill>
              </a:rPr>
              <a:t>HABITANT</a:t>
            </a:r>
            <a:endParaRPr lang="en-US" sz="1000" dirty="0"/>
          </a:p>
        </p:txBody>
      </p:sp>
      <p:sp>
        <p:nvSpPr>
          <p:cNvPr id="14" name="Text 10"/>
          <p:cNvSpPr txBox="1"/>
          <p:nvPr/>
        </p:nvSpPr>
        <p:spPr>
          <a:xfrm>
            <a:off x="7772400" y="2011680"/>
            <a:ext cx="3886200" cy="457200"/>
          </a:xfrm>
          <a:prstGeom prst="rect">
            <a:avLst/>
          </a:prstGeom>
          <a:noFill/>
          <a:ln/>
        </p:spPr>
        <p:txBody>
          <a:bodyPr wrap="square" lIns="0" tIns="0" rIns="0" bIns="0" rtlCol="0" anchor="ctr"/>
          <a:lstStyle/>
          <a:p>
            <a:pPr indent="0" marL="0">
              <a:buNone/>
            </a:pPr>
            <a:r>
              <a:rPr lang="en-US" sz="1200" dirty="0">
                <a:solidFill>
                  <a:schemeClr val="tx1"/>
                </a:solidFill>
              </a:rPr>
              <a:t>Scanne la plaque, signale « pas d'eau » avec une photo</a:t>
            </a:r>
            <a:endParaRPr lang="en-US" sz="1200" dirty="0"/>
          </a:p>
        </p:txBody>
      </p:sp>
      <p:sp>
        <p:nvSpPr>
          <p:cNvPr id="15" name="Shape 11"/>
          <p:cNvSpPr/>
          <p:nvPr/>
        </p:nvSpPr>
        <p:spPr>
          <a:xfrm>
            <a:off x="4498848" y="2779776"/>
            <a:ext cx="237744" cy="237744"/>
          </a:xfrm>
          <a:prstGeom prst="ellipse">
            <a:avLst/>
          </a:prstGeom>
          <a:solidFill>
            <a:schemeClr val="accent1"/>
          </a:solidFill>
          <a:ln w="19050">
            <a:solidFill>
              <a:schemeClr val="bg1"/>
            </a:solidFill>
            <a:prstDash val="solid"/>
          </a:ln>
        </p:spPr>
      </p:sp>
      <p:sp>
        <p:nvSpPr>
          <p:cNvPr id="16" name="Text 12"/>
          <p:cNvSpPr txBox="1"/>
          <p:nvPr/>
        </p:nvSpPr>
        <p:spPr>
          <a:xfrm>
            <a:off x="4937760" y="2670048"/>
            <a:ext cx="1325880" cy="457200"/>
          </a:xfrm>
          <a:prstGeom prst="rect">
            <a:avLst/>
          </a:prstGeom>
          <a:noFill/>
          <a:ln/>
        </p:spPr>
        <p:txBody>
          <a:bodyPr wrap="square" lIns="0" tIns="0" rIns="0" bIns="0" rtlCol="0" anchor="ctr"/>
          <a:lstStyle/>
          <a:p>
            <a:pPr indent="0" marL="0">
              <a:buNone/>
            </a:pPr>
            <a:r>
              <a:rPr lang="en-US" sz="1300" b="1" dirty="0">
                <a:solidFill>
                  <a:schemeClr val="tx2"/>
                </a:solidFill>
              </a:rPr>
              <a:t>J  09:45</a:t>
            </a:r>
            <a:endParaRPr lang="en-US" sz="1300" dirty="0"/>
          </a:p>
        </p:txBody>
      </p:sp>
      <p:sp>
        <p:nvSpPr>
          <p:cNvPr id="17" name="Text 13"/>
          <p:cNvSpPr txBox="1"/>
          <p:nvPr/>
        </p:nvSpPr>
        <p:spPr>
          <a:xfrm>
            <a:off x="6309360" y="2670048"/>
            <a:ext cx="1463040" cy="457200"/>
          </a:xfrm>
          <a:prstGeom prst="rect">
            <a:avLst/>
          </a:prstGeom>
          <a:noFill/>
          <a:ln/>
        </p:spPr>
        <p:txBody>
          <a:bodyPr wrap="square" lIns="0" tIns="0" rIns="0" bIns="0" rtlCol="0" anchor="ctr"/>
          <a:lstStyle/>
          <a:p>
            <a:pPr indent="0" marL="0">
              <a:buNone/>
            </a:pPr>
            <a:r>
              <a:rPr lang="en-US" sz="1000" b="1" spc="100" kern="0" dirty="0">
                <a:solidFill>
                  <a:schemeClr val="accent1"/>
                </a:solidFill>
              </a:rPr>
              <a:t>COMMUNE</a:t>
            </a:r>
            <a:endParaRPr lang="en-US" sz="1000" dirty="0"/>
          </a:p>
        </p:txBody>
      </p:sp>
      <p:sp>
        <p:nvSpPr>
          <p:cNvPr id="18" name="Text 14"/>
          <p:cNvSpPr txBox="1"/>
          <p:nvPr/>
        </p:nvSpPr>
        <p:spPr>
          <a:xfrm>
            <a:off x="7772400" y="2670048"/>
            <a:ext cx="3886200" cy="457200"/>
          </a:xfrm>
          <a:prstGeom prst="rect">
            <a:avLst/>
          </a:prstGeom>
          <a:noFill/>
          <a:ln/>
        </p:spPr>
        <p:txBody>
          <a:bodyPr wrap="square" lIns="0" tIns="0" rIns="0" bIns="0" rtlCol="0" anchor="ctr"/>
          <a:lstStyle/>
          <a:p>
            <a:pPr indent="0" marL="0">
              <a:buNone/>
            </a:pPr>
            <a:r>
              <a:rPr lang="en-US" sz="1200" dirty="0">
                <a:solidFill>
                  <a:schemeClr val="tx1"/>
                </a:solidFill>
              </a:rPr>
              <a:t>Fixe la priorité P1, affecte l'équipe, réserve la pompe</a:t>
            </a:r>
            <a:endParaRPr lang="en-US" sz="1200" dirty="0"/>
          </a:p>
        </p:txBody>
      </p:sp>
      <p:sp>
        <p:nvSpPr>
          <p:cNvPr id="19" name="Shape 15"/>
          <p:cNvSpPr/>
          <p:nvPr/>
        </p:nvSpPr>
        <p:spPr>
          <a:xfrm>
            <a:off x="4498848" y="3438144"/>
            <a:ext cx="237744" cy="237744"/>
          </a:xfrm>
          <a:prstGeom prst="ellipse">
            <a:avLst/>
          </a:prstGeom>
          <a:solidFill>
            <a:schemeClr val="accent1"/>
          </a:solidFill>
          <a:ln w="19050">
            <a:solidFill>
              <a:schemeClr val="bg1"/>
            </a:solidFill>
            <a:prstDash val="solid"/>
          </a:ln>
        </p:spPr>
      </p:sp>
      <p:sp>
        <p:nvSpPr>
          <p:cNvPr id="20" name="Text 16"/>
          <p:cNvSpPr txBox="1"/>
          <p:nvPr/>
        </p:nvSpPr>
        <p:spPr>
          <a:xfrm>
            <a:off x="4937760" y="3328416"/>
            <a:ext cx="1325880" cy="457200"/>
          </a:xfrm>
          <a:prstGeom prst="rect">
            <a:avLst/>
          </a:prstGeom>
          <a:noFill/>
          <a:ln/>
        </p:spPr>
        <p:txBody>
          <a:bodyPr wrap="square" lIns="0" tIns="0" rIns="0" bIns="0" rtlCol="0" anchor="ctr"/>
          <a:lstStyle/>
          <a:p>
            <a:pPr indent="0" marL="0">
              <a:buNone/>
            </a:pPr>
            <a:r>
              <a:rPr lang="en-US" sz="1300" b="1" dirty="0">
                <a:solidFill>
                  <a:schemeClr val="tx2"/>
                </a:solidFill>
              </a:rPr>
              <a:t>J+1  10:40</a:t>
            </a:r>
            <a:endParaRPr lang="en-US" sz="1300" dirty="0"/>
          </a:p>
        </p:txBody>
      </p:sp>
      <p:sp>
        <p:nvSpPr>
          <p:cNvPr id="21" name="Text 17"/>
          <p:cNvSpPr txBox="1"/>
          <p:nvPr/>
        </p:nvSpPr>
        <p:spPr>
          <a:xfrm>
            <a:off x="6309360" y="3328416"/>
            <a:ext cx="1463040" cy="457200"/>
          </a:xfrm>
          <a:prstGeom prst="rect">
            <a:avLst/>
          </a:prstGeom>
          <a:noFill/>
          <a:ln/>
        </p:spPr>
        <p:txBody>
          <a:bodyPr wrap="square" lIns="0" tIns="0" rIns="0" bIns="0" rtlCol="0" anchor="ctr"/>
          <a:lstStyle/>
          <a:p>
            <a:pPr indent="0" marL="0">
              <a:buNone/>
            </a:pPr>
            <a:r>
              <a:rPr lang="en-US" sz="1000" b="1" spc="100" kern="0" dirty="0">
                <a:solidFill>
                  <a:schemeClr val="accent1"/>
                </a:solidFill>
              </a:rPr>
              <a:t>TECHNICIEN</a:t>
            </a:r>
            <a:endParaRPr lang="en-US" sz="1000" dirty="0"/>
          </a:p>
        </p:txBody>
      </p:sp>
      <p:sp>
        <p:nvSpPr>
          <p:cNvPr id="22" name="Text 18"/>
          <p:cNvSpPr txBox="1"/>
          <p:nvPr/>
        </p:nvSpPr>
        <p:spPr>
          <a:xfrm>
            <a:off x="7772400" y="3328416"/>
            <a:ext cx="3886200" cy="457200"/>
          </a:xfrm>
          <a:prstGeom prst="rect">
            <a:avLst/>
          </a:prstGeom>
          <a:noFill/>
          <a:ln/>
        </p:spPr>
        <p:txBody>
          <a:bodyPr wrap="square" lIns="0" tIns="0" rIns="0" bIns="0" rtlCol="0" anchor="ctr"/>
          <a:lstStyle/>
          <a:p>
            <a:pPr indent="0" marL="0">
              <a:buNone/>
            </a:pPr>
            <a:r>
              <a:rPr lang="en-US" sz="1200" dirty="0">
                <a:solidFill>
                  <a:schemeClr val="tx1"/>
                </a:solidFill>
              </a:rPr>
              <a:t>Arrive sur place, sans réseau, ouvre la checklist</a:t>
            </a:r>
            <a:endParaRPr lang="en-US" sz="1200" dirty="0"/>
          </a:p>
        </p:txBody>
      </p:sp>
      <p:sp>
        <p:nvSpPr>
          <p:cNvPr id="23" name="Shape 19"/>
          <p:cNvSpPr/>
          <p:nvPr/>
        </p:nvSpPr>
        <p:spPr>
          <a:xfrm>
            <a:off x="4498848" y="4096512"/>
            <a:ext cx="237744" cy="237744"/>
          </a:xfrm>
          <a:prstGeom prst="ellipse">
            <a:avLst/>
          </a:prstGeom>
          <a:solidFill>
            <a:schemeClr val="accent2"/>
          </a:solidFill>
          <a:ln w="19050">
            <a:solidFill>
              <a:schemeClr val="bg1"/>
            </a:solidFill>
            <a:prstDash val="solid"/>
          </a:ln>
        </p:spPr>
      </p:sp>
      <p:sp>
        <p:nvSpPr>
          <p:cNvPr id="24" name="Text 20"/>
          <p:cNvSpPr txBox="1"/>
          <p:nvPr/>
        </p:nvSpPr>
        <p:spPr>
          <a:xfrm>
            <a:off x="4937760" y="3986784"/>
            <a:ext cx="1325880" cy="457200"/>
          </a:xfrm>
          <a:prstGeom prst="rect">
            <a:avLst/>
          </a:prstGeom>
          <a:noFill/>
          <a:ln/>
        </p:spPr>
        <p:txBody>
          <a:bodyPr wrap="square" lIns="0" tIns="0" rIns="0" bIns="0" rtlCol="0" anchor="ctr"/>
          <a:lstStyle/>
          <a:p>
            <a:pPr indent="0" marL="0">
              <a:buNone/>
            </a:pPr>
            <a:r>
              <a:rPr lang="en-US" sz="1300" b="1" dirty="0">
                <a:solidFill>
                  <a:schemeClr val="tx2"/>
                </a:solidFill>
              </a:rPr>
              <a:t>J+1  13:20</a:t>
            </a:r>
            <a:endParaRPr lang="en-US" sz="1300" dirty="0"/>
          </a:p>
        </p:txBody>
      </p:sp>
      <p:sp>
        <p:nvSpPr>
          <p:cNvPr id="25" name="Text 21"/>
          <p:cNvSpPr txBox="1"/>
          <p:nvPr/>
        </p:nvSpPr>
        <p:spPr>
          <a:xfrm>
            <a:off x="6309360" y="3986784"/>
            <a:ext cx="1463040" cy="457200"/>
          </a:xfrm>
          <a:prstGeom prst="rect">
            <a:avLst/>
          </a:prstGeom>
          <a:noFill/>
          <a:ln/>
        </p:spPr>
        <p:txBody>
          <a:bodyPr wrap="square" lIns="0" tIns="0" rIns="0" bIns="0" rtlCol="0" anchor="ctr"/>
          <a:lstStyle/>
          <a:p>
            <a:pPr indent="0" marL="0">
              <a:buNone/>
            </a:pPr>
            <a:r>
              <a:rPr lang="en-US" sz="1000" b="1" spc="100" kern="0" dirty="0">
                <a:solidFill>
                  <a:schemeClr val="accent1"/>
                </a:solidFill>
              </a:rPr>
              <a:t>TECHNICIEN</a:t>
            </a:r>
            <a:endParaRPr lang="en-US" sz="1000" dirty="0"/>
          </a:p>
        </p:txBody>
      </p:sp>
      <p:sp>
        <p:nvSpPr>
          <p:cNvPr id="26" name="Text 22"/>
          <p:cNvSpPr txBox="1"/>
          <p:nvPr/>
        </p:nvSpPr>
        <p:spPr>
          <a:xfrm>
            <a:off x="7772400" y="3986784"/>
            <a:ext cx="3886200" cy="457200"/>
          </a:xfrm>
          <a:prstGeom prst="rect">
            <a:avLst/>
          </a:prstGeom>
          <a:noFill/>
          <a:ln/>
        </p:spPr>
        <p:txBody>
          <a:bodyPr wrap="square" lIns="0" tIns="0" rIns="0" bIns="0" rtlCol="0" anchor="ctr"/>
          <a:lstStyle/>
          <a:p>
            <a:pPr indent="0" marL="0">
              <a:buNone/>
            </a:pPr>
            <a:r>
              <a:rPr lang="en-US" sz="1200" dirty="0">
                <a:solidFill>
                  <a:schemeClr val="tx1"/>
                </a:solidFill>
              </a:rPr>
              <a:t>Pose la pompe, mesure le débit, clôture hors connexion</a:t>
            </a:r>
            <a:endParaRPr lang="en-US" sz="1200" dirty="0"/>
          </a:p>
        </p:txBody>
      </p:sp>
      <p:sp>
        <p:nvSpPr>
          <p:cNvPr id="27" name="Shape 23"/>
          <p:cNvSpPr/>
          <p:nvPr/>
        </p:nvSpPr>
        <p:spPr>
          <a:xfrm>
            <a:off x="4498848" y="4754880"/>
            <a:ext cx="237744" cy="237744"/>
          </a:xfrm>
          <a:prstGeom prst="ellipse">
            <a:avLst/>
          </a:prstGeom>
          <a:solidFill>
            <a:schemeClr val="accent1"/>
          </a:solidFill>
          <a:ln w="19050">
            <a:solidFill>
              <a:schemeClr val="bg1"/>
            </a:solidFill>
            <a:prstDash val="solid"/>
          </a:ln>
        </p:spPr>
      </p:sp>
      <p:sp>
        <p:nvSpPr>
          <p:cNvPr id="28" name="Text 24"/>
          <p:cNvSpPr txBox="1"/>
          <p:nvPr/>
        </p:nvSpPr>
        <p:spPr>
          <a:xfrm>
            <a:off x="4937760" y="4645152"/>
            <a:ext cx="1325880" cy="457200"/>
          </a:xfrm>
          <a:prstGeom prst="rect">
            <a:avLst/>
          </a:prstGeom>
          <a:noFill/>
          <a:ln/>
        </p:spPr>
        <p:txBody>
          <a:bodyPr wrap="square" lIns="0" tIns="0" rIns="0" bIns="0" rtlCol="0" anchor="ctr"/>
          <a:lstStyle/>
          <a:p>
            <a:pPr indent="0" marL="0">
              <a:buNone/>
            </a:pPr>
            <a:r>
              <a:rPr lang="en-US" sz="1300" b="1" dirty="0">
                <a:solidFill>
                  <a:schemeClr val="tx2"/>
                </a:solidFill>
              </a:rPr>
              <a:t>J+1  14:10</a:t>
            </a:r>
            <a:endParaRPr lang="en-US" sz="1300" dirty="0"/>
          </a:p>
        </p:txBody>
      </p:sp>
      <p:sp>
        <p:nvSpPr>
          <p:cNvPr id="29" name="Text 25"/>
          <p:cNvSpPr txBox="1"/>
          <p:nvPr/>
        </p:nvSpPr>
        <p:spPr>
          <a:xfrm>
            <a:off x="6309360" y="4645152"/>
            <a:ext cx="1463040" cy="457200"/>
          </a:xfrm>
          <a:prstGeom prst="rect">
            <a:avLst/>
          </a:prstGeom>
          <a:noFill/>
          <a:ln/>
        </p:spPr>
        <p:txBody>
          <a:bodyPr wrap="square" lIns="0" tIns="0" rIns="0" bIns="0" rtlCol="0" anchor="ctr"/>
          <a:lstStyle/>
          <a:p>
            <a:pPr indent="0" marL="0">
              <a:buNone/>
            </a:pPr>
            <a:r>
              <a:rPr lang="en-US" sz="1000" b="1" spc="100" kern="0" dirty="0">
                <a:solidFill>
                  <a:schemeClr val="accent1"/>
                </a:solidFill>
              </a:rPr>
              <a:t>SYSTÈME</a:t>
            </a:r>
            <a:endParaRPr lang="en-US" sz="1000" dirty="0"/>
          </a:p>
        </p:txBody>
      </p:sp>
      <p:sp>
        <p:nvSpPr>
          <p:cNvPr id="30" name="Text 26"/>
          <p:cNvSpPr txBox="1"/>
          <p:nvPr/>
        </p:nvSpPr>
        <p:spPr>
          <a:xfrm>
            <a:off x="7772400" y="4645152"/>
            <a:ext cx="3886200" cy="457200"/>
          </a:xfrm>
          <a:prstGeom prst="rect">
            <a:avLst/>
          </a:prstGeom>
          <a:noFill/>
          <a:ln/>
        </p:spPr>
        <p:txBody>
          <a:bodyPr wrap="square" lIns="0" tIns="0" rIns="0" bIns="0" rtlCol="0" anchor="ctr"/>
          <a:lstStyle/>
          <a:p>
            <a:pPr indent="0" marL="0">
              <a:buNone/>
            </a:pPr>
            <a:r>
              <a:rPr lang="en-US" sz="1200" dirty="0">
                <a:solidFill>
                  <a:schemeClr val="tx1"/>
                </a:solidFill>
              </a:rPr>
              <a:t>Synchronise ; l'habitant est prévenu par SMS</a:t>
            </a:r>
            <a:endParaRPr lang="en-US" sz="1200" dirty="0"/>
          </a:p>
        </p:txBody>
      </p:sp>
      <p:sp>
        <p:nvSpPr>
          <p:cNvPr id="31" name="Shape 27"/>
          <p:cNvSpPr/>
          <p:nvPr/>
        </p:nvSpPr>
        <p:spPr>
          <a:xfrm>
            <a:off x="4498848" y="5413248"/>
            <a:ext cx="237744" cy="237744"/>
          </a:xfrm>
          <a:prstGeom prst="ellipse">
            <a:avLst/>
          </a:prstGeom>
          <a:solidFill>
            <a:schemeClr val="accent1"/>
          </a:solidFill>
          <a:ln w="19050">
            <a:solidFill>
              <a:schemeClr val="bg1"/>
            </a:solidFill>
            <a:prstDash val="solid"/>
          </a:ln>
        </p:spPr>
      </p:sp>
      <p:sp>
        <p:nvSpPr>
          <p:cNvPr id="32" name="Text 28"/>
          <p:cNvSpPr txBox="1"/>
          <p:nvPr/>
        </p:nvSpPr>
        <p:spPr>
          <a:xfrm>
            <a:off x="4937760" y="5303520"/>
            <a:ext cx="1325880" cy="457200"/>
          </a:xfrm>
          <a:prstGeom prst="rect">
            <a:avLst/>
          </a:prstGeom>
          <a:noFill/>
          <a:ln/>
        </p:spPr>
        <p:txBody>
          <a:bodyPr wrap="square" lIns="0" tIns="0" rIns="0" bIns="0" rtlCol="0" anchor="ctr"/>
          <a:lstStyle/>
          <a:p>
            <a:pPr indent="0" marL="0">
              <a:buNone/>
            </a:pPr>
            <a:r>
              <a:rPr lang="en-US" sz="1300" b="1" dirty="0">
                <a:solidFill>
                  <a:schemeClr val="tx2"/>
                </a:solidFill>
              </a:rPr>
              <a:t>Ensuite</a:t>
            </a:r>
            <a:endParaRPr lang="en-US" sz="1300" dirty="0"/>
          </a:p>
        </p:txBody>
      </p:sp>
      <p:sp>
        <p:nvSpPr>
          <p:cNvPr id="33" name="Text 29"/>
          <p:cNvSpPr txBox="1"/>
          <p:nvPr/>
        </p:nvSpPr>
        <p:spPr>
          <a:xfrm>
            <a:off x="6309360" y="5303520"/>
            <a:ext cx="1463040" cy="457200"/>
          </a:xfrm>
          <a:prstGeom prst="rect">
            <a:avLst/>
          </a:prstGeom>
          <a:noFill/>
          <a:ln/>
        </p:spPr>
        <p:txBody>
          <a:bodyPr wrap="square" lIns="0" tIns="0" rIns="0" bIns="0" rtlCol="0" anchor="ctr"/>
          <a:lstStyle/>
          <a:p>
            <a:pPr indent="0" marL="0">
              <a:buNone/>
            </a:pPr>
            <a:r>
              <a:rPr lang="en-US" sz="1000" b="1" spc="100" kern="0" dirty="0">
                <a:solidFill>
                  <a:schemeClr val="accent1"/>
                </a:solidFill>
              </a:rPr>
              <a:t>COMMUNE, PÔLE</a:t>
            </a:r>
            <a:endParaRPr lang="en-US" sz="1000" dirty="0"/>
          </a:p>
        </p:txBody>
      </p:sp>
      <p:sp>
        <p:nvSpPr>
          <p:cNvPr id="34" name="Text 30"/>
          <p:cNvSpPr txBox="1"/>
          <p:nvPr/>
        </p:nvSpPr>
        <p:spPr>
          <a:xfrm>
            <a:off x="7772400" y="5303520"/>
            <a:ext cx="3886200" cy="457200"/>
          </a:xfrm>
          <a:prstGeom prst="rect">
            <a:avLst/>
          </a:prstGeom>
          <a:noFill/>
          <a:ln/>
        </p:spPr>
        <p:txBody>
          <a:bodyPr wrap="square" lIns="0" tIns="0" rIns="0" bIns="0" rtlCol="0" anchor="ctr"/>
          <a:lstStyle/>
          <a:p>
            <a:pPr indent="0" marL="0">
              <a:buNone/>
            </a:pPr>
            <a:r>
              <a:rPr lang="en-US" sz="1200" dirty="0">
                <a:solidFill>
                  <a:schemeClr val="tx1"/>
                </a:solidFill>
              </a:rPr>
              <a:t>Fiche, indicateurs et alertes de stock à jour</a:t>
            </a:r>
            <a:endParaRPr lang="en-US" sz="1200" dirty="0"/>
          </a:p>
        </p:txBody>
      </p:sp>
      <p:sp>
        <p:nvSpPr>
          <p:cNvPr id="35" name="Text 31"/>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Scénario fictif joué dans le prototype. Délai visé pour un arrêt d'eau potable (48 h) : proposition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CÔTÉ HABITANT</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Signaler une panne : trois gestes, sans application</a:t>
            </a:r>
            <a:endParaRPr lang="en-US" sz="2800" dirty="0"/>
          </a:p>
        </p:txBody>
      </p:sp>
      <p:sp>
        <p:nvSpPr>
          <p:cNvPr id="5" name="Shape 2"/>
          <p:cNvSpPr/>
          <p:nvPr/>
        </p:nvSpPr>
        <p:spPr>
          <a:xfrm>
            <a:off x="548640" y="1517904"/>
            <a:ext cx="4846320" cy="329184"/>
          </a:xfrm>
          <a:prstGeom prst="roundRect">
            <a:avLst>
              <a:gd name="adj" fmla="val 50000"/>
            </a:avLst>
          </a:prstGeom>
          <a:solidFill>
            <a:schemeClr val="tx2"/>
          </a:solidFill>
          <a:ln/>
        </p:spPr>
      </p:sp>
      <p:sp>
        <p:nvSpPr>
          <p:cNvPr id="6" name="Text 3"/>
          <p:cNvSpPr txBox="1"/>
          <p:nvPr/>
        </p:nvSpPr>
        <p:spPr>
          <a:xfrm>
            <a:off x="713232" y="1517904"/>
            <a:ext cx="4572000" cy="329184"/>
          </a:xfrm>
          <a:prstGeom prst="rect">
            <a:avLst/>
          </a:prstGeom>
          <a:noFill/>
          <a:ln/>
        </p:spPr>
        <p:txBody>
          <a:bodyPr wrap="square" lIns="0" tIns="0" rIns="0" bIns="0" rtlCol="0" anchor="ctr"/>
          <a:lstStyle/>
          <a:p>
            <a:pPr indent="0" marL="0">
              <a:buNone/>
            </a:pPr>
            <a:r>
              <a:rPr lang="en-US" sz="1000" b="1" spc="150" kern="0" dirty="0">
                <a:solidFill>
                  <a:schemeClr val="accent2"/>
                </a:solidFill>
              </a:rPr>
              <a:t>ÉTAPES 1 ET 2  ·  HABITANT</a:t>
            </a:r>
            <a:endParaRPr lang="en-US" sz="1000" dirty="0"/>
          </a:p>
        </p:txBody>
      </p:sp>
      <p:sp>
        <p:nvSpPr>
          <p:cNvPr id="7" name="Shape 4"/>
          <p:cNvSpPr/>
          <p:nvPr/>
        </p:nvSpPr>
        <p:spPr>
          <a:xfrm>
            <a:off x="685800" y="2057400"/>
            <a:ext cx="1997964" cy="3886200"/>
          </a:xfrm>
          <a:prstGeom prst="roundRect">
            <a:avLst>
              <a:gd name="adj" fmla="val 10069"/>
            </a:avLst>
          </a:prstGeom>
          <a:solidFill>
            <a:schemeClr val="tx2"/>
          </a:solidFill>
          <a:ln/>
          <a:effectLst>
            <a:outerShdw sx="100000" sy="100000" kx="0" ky="0" algn="bl" rotWithShape="0" blurRad="127000" dist="50800" dir="5400000">
              <a:srgbClr val="253970">
                <a:alpha val="25000"/>
              </a:srgbClr>
            </a:outerShdw>
          </a:effectLst>
        </p:spPr>
      </p:sp>
      <p:pic>
        <p:nvPicPr>
          <p:cNvPr id="8" name="Image 0" descr="Fiche publique de l'ouvrage après le scan">    </p:cNvPr>
          <p:cNvPicPr>
            <a:picLocks noChangeAspect="1"/>
          </p:cNvPicPr>
          <p:nvPr/>
        </p:nvPicPr>
        <p:blipFill>
          <a:blip r:embed="rId1"/>
          <a:stretch>
            <a:fillRect/>
          </a:stretch>
        </p:blipFill>
        <p:spPr>
          <a:xfrm>
            <a:off x="740664" y="2112264"/>
            <a:ext cx="1888236" cy="3776472"/>
          </a:xfrm>
          <a:prstGeom prst="rect">
            <a:avLst/>
          </a:prstGeom>
        </p:spPr>
      </p:pic>
      <p:sp>
        <p:nvSpPr>
          <p:cNvPr id="9" name="Shape 5"/>
          <p:cNvSpPr/>
          <p:nvPr/>
        </p:nvSpPr>
        <p:spPr>
          <a:xfrm>
            <a:off x="2926080" y="2057400"/>
            <a:ext cx="1997964" cy="3886200"/>
          </a:xfrm>
          <a:prstGeom prst="roundRect">
            <a:avLst>
              <a:gd name="adj" fmla="val 10069"/>
            </a:avLst>
          </a:prstGeom>
          <a:solidFill>
            <a:schemeClr val="tx2"/>
          </a:solidFill>
          <a:ln/>
          <a:effectLst>
            <a:outerShdw sx="100000" sy="100000" kx="0" ky="0" algn="bl" rotWithShape="0" blurRad="127000" dist="50800" dir="5400000">
              <a:srgbClr val="253970">
                <a:alpha val="25000"/>
              </a:srgbClr>
            </a:outerShdw>
          </a:effectLst>
        </p:spPr>
      </p:sp>
      <p:pic>
        <p:nvPicPr>
          <p:cNvPr id="10" name="Image 1" descr="Formulaire de signalement">    </p:cNvPr>
          <p:cNvPicPr>
            <a:picLocks noChangeAspect="1"/>
          </p:cNvPicPr>
          <p:nvPr/>
        </p:nvPicPr>
        <p:blipFill>
          <a:blip r:embed="rId2"/>
          <a:stretch>
            <a:fillRect/>
          </a:stretch>
        </p:blipFill>
        <p:spPr>
          <a:xfrm>
            <a:off x="2980944" y="2112264"/>
            <a:ext cx="1888236" cy="3776472"/>
          </a:xfrm>
          <a:prstGeom prst="rect">
            <a:avLst/>
          </a:prstGeom>
        </p:spPr>
      </p:pic>
      <p:sp>
        <p:nvSpPr>
          <p:cNvPr id="11" name="Shape 6"/>
          <p:cNvSpPr/>
          <p:nvPr/>
        </p:nvSpPr>
        <p:spPr>
          <a:xfrm>
            <a:off x="5257800" y="2057400"/>
            <a:ext cx="329184" cy="329184"/>
          </a:xfrm>
          <a:prstGeom prst="ellipse">
            <a:avLst/>
          </a:prstGeom>
          <a:solidFill>
            <a:schemeClr val="accent2"/>
          </a:solidFill>
          <a:ln w="19050">
            <a:solidFill>
              <a:schemeClr val="bg1"/>
            </a:solidFill>
            <a:prstDash val="solid"/>
          </a:ln>
        </p:spPr>
      </p:sp>
      <p:sp>
        <p:nvSpPr>
          <p:cNvPr id="12" name="Text 7"/>
          <p:cNvSpPr txBox="1"/>
          <p:nvPr/>
        </p:nvSpPr>
        <p:spPr>
          <a:xfrm>
            <a:off x="5257800" y="205740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13" name="Text 8"/>
          <p:cNvSpPr txBox="1"/>
          <p:nvPr/>
        </p:nvSpPr>
        <p:spPr>
          <a:xfrm>
            <a:off x="5715000" y="2039112"/>
            <a:ext cx="5943600" cy="274320"/>
          </a:xfrm>
          <a:prstGeom prst="rect">
            <a:avLst/>
          </a:prstGeom>
          <a:noFill/>
          <a:ln/>
        </p:spPr>
        <p:txBody>
          <a:bodyPr wrap="square" lIns="0" tIns="0" rIns="0" bIns="0" rtlCol="0" anchor="ctr"/>
          <a:lstStyle/>
          <a:p>
            <a:pPr indent="0" marL="0">
              <a:buNone/>
            </a:pPr>
            <a:r>
              <a:rPr lang="en-US" sz="1300" b="1" dirty="0">
                <a:solidFill>
                  <a:schemeClr val="tx2"/>
                </a:solidFill>
              </a:rPr>
              <a:t>Le scan ouvre la fiche de l'ouvrage</a:t>
            </a:r>
            <a:endParaRPr lang="en-US" sz="1300" dirty="0"/>
          </a:p>
        </p:txBody>
      </p:sp>
      <p:sp>
        <p:nvSpPr>
          <p:cNvPr id="14" name="Text 9"/>
          <p:cNvSpPr txBox="1"/>
          <p:nvPr/>
        </p:nvSpPr>
        <p:spPr>
          <a:xfrm>
            <a:off x="5715000" y="2322576"/>
            <a:ext cx="5943600" cy="630936"/>
          </a:xfrm>
          <a:prstGeom prst="rect">
            <a:avLst/>
          </a:prstGeom>
          <a:noFill/>
          <a:ln/>
        </p:spPr>
        <p:txBody>
          <a:bodyPr wrap="square" lIns="0" tIns="0" rIns="0" bIns="0" rtlCol="0" anchor="t"/>
          <a:lstStyle/>
          <a:p>
            <a:pPr indent="0" marL="0">
              <a:buNone/>
            </a:pPr>
            <a:r>
              <a:rPr lang="en-US" sz="1200" dirty="0">
                <a:solidFill>
                  <a:schemeClr val="tx1"/>
                </a:solidFill>
              </a:rPr>
              <a:t>Identité, état, dernier entretien, équipe responsable et signalement en cours. L'habitant voit d'abord que l'ouvrage est suivi.</a:t>
            </a:r>
            <a:endParaRPr lang="en-US" sz="1200" dirty="0"/>
          </a:p>
        </p:txBody>
      </p:sp>
      <p:sp>
        <p:nvSpPr>
          <p:cNvPr id="15" name="Shape 10"/>
          <p:cNvSpPr/>
          <p:nvPr/>
        </p:nvSpPr>
        <p:spPr>
          <a:xfrm>
            <a:off x="5257800" y="3017520"/>
            <a:ext cx="329184" cy="329184"/>
          </a:xfrm>
          <a:prstGeom prst="ellipse">
            <a:avLst/>
          </a:prstGeom>
          <a:solidFill>
            <a:schemeClr val="accent2"/>
          </a:solidFill>
          <a:ln w="19050">
            <a:solidFill>
              <a:schemeClr val="bg1"/>
            </a:solidFill>
            <a:prstDash val="solid"/>
          </a:ln>
        </p:spPr>
      </p:sp>
      <p:sp>
        <p:nvSpPr>
          <p:cNvPr id="16" name="Text 11"/>
          <p:cNvSpPr txBox="1"/>
          <p:nvPr/>
        </p:nvSpPr>
        <p:spPr>
          <a:xfrm>
            <a:off x="5257800" y="301752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17" name="Text 12"/>
          <p:cNvSpPr txBox="1"/>
          <p:nvPr/>
        </p:nvSpPr>
        <p:spPr>
          <a:xfrm>
            <a:off x="5715000" y="2999232"/>
            <a:ext cx="5943600" cy="274320"/>
          </a:xfrm>
          <a:prstGeom prst="rect">
            <a:avLst/>
          </a:prstGeom>
          <a:noFill/>
          <a:ln/>
        </p:spPr>
        <p:txBody>
          <a:bodyPr wrap="square" lIns="0" tIns="0" rIns="0" bIns="0" rtlCol="0" anchor="ctr"/>
          <a:lstStyle/>
          <a:p>
            <a:pPr indent="0" marL="0">
              <a:buNone/>
            </a:pPr>
            <a:r>
              <a:rPr lang="en-US" sz="1300" b="1" dirty="0">
                <a:solidFill>
                  <a:schemeClr val="tx2"/>
                </a:solidFill>
              </a:rPr>
              <a:t>Trois choix, pas de texte libre obligatoire</a:t>
            </a:r>
            <a:endParaRPr lang="en-US" sz="1300" dirty="0"/>
          </a:p>
        </p:txBody>
      </p:sp>
      <p:sp>
        <p:nvSpPr>
          <p:cNvPr id="18" name="Text 13"/>
          <p:cNvSpPr txBox="1"/>
          <p:nvPr/>
        </p:nvSpPr>
        <p:spPr>
          <a:xfrm>
            <a:off x="5715000" y="3282696"/>
            <a:ext cx="5943600" cy="630936"/>
          </a:xfrm>
          <a:prstGeom prst="rect">
            <a:avLst/>
          </a:prstGeom>
          <a:noFill/>
          <a:ln/>
        </p:spPr>
        <p:txBody>
          <a:bodyPr wrap="square" lIns="0" tIns="0" rIns="0" bIns="0" rtlCol="0" anchor="t"/>
          <a:lstStyle/>
          <a:p>
            <a:pPr indent="0" marL="0">
              <a:buNone/>
            </a:pPr>
            <a:r>
              <a:rPr lang="en-US" sz="1200" dirty="0">
                <a:solidFill>
                  <a:schemeClr val="tx1"/>
                </a:solidFill>
              </a:rPr>
              <a:t>Le problème, puis : fonctionne-t-il encore ? La photo est facultative et sa position est enregistrée.</a:t>
            </a:r>
            <a:endParaRPr lang="en-US" sz="1200" dirty="0"/>
          </a:p>
        </p:txBody>
      </p:sp>
      <p:sp>
        <p:nvSpPr>
          <p:cNvPr id="19" name="Shape 14"/>
          <p:cNvSpPr/>
          <p:nvPr/>
        </p:nvSpPr>
        <p:spPr>
          <a:xfrm>
            <a:off x="5257800" y="3977640"/>
            <a:ext cx="329184" cy="329184"/>
          </a:xfrm>
          <a:prstGeom prst="ellipse">
            <a:avLst/>
          </a:prstGeom>
          <a:solidFill>
            <a:schemeClr val="accent2"/>
          </a:solidFill>
          <a:ln w="19050">
            <a:solidFill>
              <a:schemeClr val="bg1"/>
            </a:solidFill>
            <a:prstDash val="solid"/>
          </a:ln>
        </p:spPr>
      </p:sp>
      <p:sp>
        <p:nvSpPr>
          <p:cNvPr id="20" name="Text 15"/>
          <p:cNvSpPr txBox="1"/>
          <p:nvPr/>
        </p:nvSpPr>
        <p:spPr>
          <a:xfrm>
            <a:off x="5257800" y="397764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21" name="Text 16"/>
          <p:cNvSpPr txBox="1"/>
          <p:nvPr/>
        </p:nvSpPr>
        <p:spPr>
          <a:xfrm>
            <a:off x="5715000" y="3959352"/>
            <a:ext cx="5943600" cy="274320"/>
          </a:xfrm>
          <a:prstGeom prst="rect">
            <a:avLst/>
          </a:prstGeom>
          <a:noFill/>
          <a:ln/>
        </p:spPr>
        <p:txBody>
          <a:bodyPr wrap="square" lIns="0" tIns="0" rIns="0" bIns="0" rtlCol="0" anchor="ctr"/>
          <a:lstStyle/>
          <a:p>
            <a:pPr indent="0" marL="0">
              <a:buNone/>
            </a:pPr>
            <a:r>
              <a:rPr lang="en-US" sz="1300" b="1" dirty="0">
                <a:solidFill>
                  <a:schemeClr val="tx2"/>
                </a:solidFill>
              </a:rPr>
              <a:t>Pas de smartphone : SMS ou appel</a:t>
            </a:r>
            <a:endParaRPr lang="en-US" sz="1300" dirty="0"/>
          </a:p>
        </p:txBody>
      </p:sp>
      <p:sp>
        <p:nvSpPr>
          <p:cNvPr id="22" name="Text 17"/>
          <p:cNvSpPr txBox="1"/>
          <p:nvPr/>
        </p:nvSpPr>
        <p:spPr>
          <a:xfrm>
            <a:off x="5715000" y="4242816"/>
            <a:ext cx="5943600" cy="630936"/>
          </a:xfrm>
          <a:prstGeom prst="rect">
            <a:avLst/>
          </a:prstGeom>
          <a:noFill/>
          <a:ln/>
        </p:spPr>
        <p:txBody>
          <a:bodyPr wrap="square" lIns="0" tIns="0" rIns="0" bIns="0" rtlCol="0" anchor="t"/>
          <a:lstStyle/>
          <a:p>
            <a:pPr indent="0" marL="0">
              <a:buNone/>
            </a:pPr>
            <a:r>
              <a:rPr lang="en-US" sz="1200" dirty="0">
                <a:solidFill>
                  <a:schemeClr val="tx1"/>
                </a:solidFill>
              </a:rPr>
              <a:t>Le code gravé sous le QR code (EAU-004) suffit pour signaler par SMS au numéro de la commune.</a:t>
            </a:r>
            <a:endParaRPr lang="en-US" sz="1200" dirty="0"/>
          </a:p>
        </p:txBody>
      </p:sp>
      <p:sp>
        <p:nvSpPr>
          <p:cNvPr id="23" name="Shape 18"/>
          <p:cNvSpPr/>
          <p:nvPr/>
        </p:nvSpPr>
        <p:spPr>
          <a:xfrm>
            <a:off x="5257800" y="4937760"/>
            <a:ext cx="329184" cy="329184"/>
          </a:xfrm>
          <a:prstGeom prst="ellipse">
            <a:avLst/>
          </a:prstGeom>
          <a:solidFill>
            <a:schemeClr val="accent2"/>
          </a:solidFill>
          <a:ln w="19050">
            <a:solidFill>
              <a:schemeClr val="bg1"/>
            </a:solidFill>
            <a:prstDash val="solid"/>
          </a:ln>
        </p:spPr>
      </p:sp>
      <p:sp>
        <p:nvSpPr>
          <p:cNvPr id="24" name="Text 19"/>
          <p:cNvSpPr txBox="1"/>
          <p:nvPr/>
        </p:nvSpPr>
        <p:spPr>
          <a:xfrm>
            <a:off x="5257800" y="493776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4</a:t>
            </a:r>
            <a:endParaRPr lang="en-US" sz="1300" dirty="0"/>
          </a:p>
        </p:txBody>
      </p:sp>
      <p:sp>
        <p:nvSpPr>
          <p:cNvPr id="25" name="Text 20"/>
          <p:cNvSpPr txBox="1"/>
          <p:nvPr/>
        </p:nvSpPr>
        <p:spPr>
          <a:xfrm>
            <a:off x="5715000" y="4919472"/>
            <a:ext cx="5943600" cy="274320"/>
          </a:xfrm>
          <a:prstGeom prst="rect">
            <a:avLst/>
          </a:prstGeom>
          <a:noFill/>
          <a:ln/>
        </p:spPr>
        <p:txBody>
          <a:bodyPr wrap="square" lIns="0" tIns="0" rIns="0" bIns="0" rtlCol="0" anchor="ctr"/>
          <a:lstStyle/>
          <a:p>
            <a:pPr indent="0" marL="0">
              <a:buNone/>
            </a:pPr>
            <a:r>
              <a:rPr lang="en-US" sz="1300" b="1" dirty="0">
                <a:solidFill>
                  <a:schemeClr val="tx2"/>
                </a:solidFill>
              </a:rPr>
              <a:t>Les choix sont propres à chaque type d'ouvrage</a:t>
            </a:r>
            <a:endParaRPr lang="en-US" sz="1300" dirty="0"/>
          </a:p>
        </p:txBody>
      </p:sp>
      <p:sp>
        <p:nvSpPr>
          <p:cNvPr id="26" name="Text 21"/>
          <p:cNvSpPr txBox="1"/>
          <p:nvPr/>
        </p:nvSpPr>
        <p:spPr>
          <a:xfrm>
            <a:off x="5715000" y="5202936"/>
            <a:ext cx="5943600" cy="630936"/>
          </a:xfrm>
          <a:prstGeom prst="rect">
            <a:avLst/>
          </a:prstGeom>
          <a:noFill/>
          <a:ln/>
        </p:spPr>
        <p:txBody>
          <a:bodyPr wrap="square" lIns="0" tIns="0" rIns="0" bIns="0" rtlCol="0" anchor="t"/>
          <a:lstStyle/>
          <a:p>
            <a:pPr indent="0" marL="0">
              <a:buNone/>
            </a:pPr>
            <a:r>
              <a:rPr lang="en-US" sz="1200" dirty="0">
                <a:solidFill>
                  <a:schemeClr val="tx1"/>
                </a:solidFill>
              </a:rPr>
              <a:t>« Pas d'eau » pour un forage, « lampadaires éteints » pour l'éclairage : le tri en est facilité.</a:t>
            </a:r>
            <a:endParaRPr lang="en-US" sz="1200" dirty="0"/>
          </a:p>
        </p:txBody>
      </p:sp>
      <p:sp>
        <p:nvSpPr>
          <p:cNvPr id="27" name="Text 22"/>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47 (participation citoyenne) et p. 64 (relais digitaux). Parcours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CÔTÉ COMMUNE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La commune voit le signalement en tête de file</a:t>
            </a:r>
            <a:endParaRPr lang="en-US" sz="2800" dirty="0"/>
          </a:p>
        </p:txBody>
      </p:sp>
      <p:sp>
        <p:nvSpPr>
          <p:cNvPr id="5" name="Shape 2"/>
          <p:cNvSpPr/>
          <p:nvPr/>
        </p:nvSpPr>
        <p:spPr>
          <a:xfrm>
            <a:off x="548640" y="1517904"/>
            <a:ext cx="4846320" cy="329184"/>
          </a:xfrm>
          <a:prstGeom prst="roundRect">
            <a:avLst>
              <a:gd name="adj" fmla="val 50000"/>
            </a:avLst>
          </a:prstGeom>
          <a:solidFill>
            <a:schemeClr val="tx2"/>
          </a:solidFill>
          <a:ln/>
        </p:spPr>
      </p:sp>
      <p:sp>
        <p:nvSpPr>
          <p:cNvPr id="6" name="Text 3"/>
          <p:cNvSpPr txBox="1"/>
          <p:nvPr/>
        </p:nvSpPr>
        <p:spPr>
          <a:xfrm>
            <a:off x="713232" y="1517904"/>
            <a:ext cx="4572000" cy="329184"/>
          </a:xfrm>
          <a:prstGeom prst="rect">
            <a:avLst/>
          </a:prstGeom>
          <a:noFill/>
          <a:ln/>
        </p:spPr>
        <p:txBody>
          <a:bodyPr wrap="square" lIns="0" tIns="0" rIns="0" bIns="0" rtlCol="0" anchor="ctr"/>
          <a:lstStyle/>
          <a:p>
            <a:pPr indent="0" marL="0">
              <a:buNone/>
            </a:pPr>
            <a:r>
              <a:rPr lang="en-US" sz="1000" b="1" spc="150" kern="0" dirty="0">
                <a:solidFill>
                  <a:schemeClr val="accent2"/>
                </a:solidFill>
              </a:rPr>
              <a:t>ÉTAPES 3 ET 4  ·  HABITANT, PUIS COMMUNE</a:t>
            </a:r>
            <a:endParaRPr lang="en-US" sz="1000" dirty="0"/>
          </a:p>
        </p:txBody>
      </p:sp>
      <p:sp>
        <p:nvSpPr>
          <p:cNvPr id="7" name="Shape 4"/>
          <p:cNvSpPr/>
          <p:nvPr/>
        </p:nvSpPr>
        <p:spPr>
          <a:xfrm>
            <a:off x="548640" y="2057400"/>
            <a:ext cx="1860804" cy="3611880"/>
          </a:xfrm>
          <a:prstGeom prst="roundRect">
            <a:avLst>
              <a:gd name="adj" fmla="val 10811"/>
            </a:avLst>
          </a:prstGeom>
          <a:solidFill>
            <a:schemeClr val="tx2"/>
          </a:solidFill>
          <a:ln/>
          <a:effectLst>
            <a:outerShdw sx="100000" sy="100000" kx="0" ky="0" algn="bl" rotWithShape="0" blurRad="127000" dist="50800" dir="5400000">
              <a:srgbClr val="253970">
                <a:alpha val="25000"/>
              </a:srgbClr>
            </a:outerShdw>
          </a:effectLst>
        </p:spPr>
      </p:sp>
      <p:pic>
        <p:nvPicPr>
          <p:cNvPr id="8" name="Image 0" descr="Confirmation du signalement avec numéro de suivi">    </p:cNvPr>
          <p:cNvPicPr>
            <a:picLocks noChangeAspect="1"/>
          </p:cNvPicPr>
          <p:nvPr/>
        </p:nvPicPr>
        <p:blipFill>
          <a:blip r:embed="rId1"/>
          <a:stretch>
            <a:fillRect/>
          </a:stretch>
        </p:blipFill>
        <p:spPr>
          <a:xfrm>
            <a:off x="603504" y="2112264"/>
            <a:ext cx="1751076" cy="3502152"/>
          </a:xfrm>
          <a:prstGeom prst="rect">
            <a:avLst/>
          </a:prstGeom>
        </p:spPr>
      </p:pic>
      <p:sp>
        <p:nvSpPr>
          <p:cNvPr id="9" name="Shape 5"/>
          <p:cNvSpPr/>
          <p:nvPr/>
        </p:nvSpPr>
        <p:spPr>
          <a:xfrm>
            <a:off x="2697480" y="2103120"/>
            <a:ext cx="5440680" cy="3638169"/>
          </a:xfrm>
          <a:prstGeom prst="rect">
            <a:avLst/>
          </a:prstGeom>
          <a:solidFill>
            <a:schemeClr val="bg1"/>
          </a:solidFill>
          <a:ln w="9525">
            <a:solidFill>
              <a:schemeClr val="accent6"/>
            </a:solidFill>
            <a:prstDash val="solid"/>
          </a:ln>
          <a:effectLst>
            <a:outerShdw sx="100000" sy="100000" kx="0" ky="0" algn="bl" rotWithShape="0" blurRad="101600" dist="38100" dir="5400000">
              <a:srgbClr val="253970">
                <a:alpha val="18000"/>
              </a:srgbClr>
            </a:outerShdw>
          </a:effectLst>
        </p:spPr>
      </p:sp>
      <p:sp>
        <p:nvSpPr>
          <p:cNvPr id="10" name="Shape 6"/>
          <p:cNvSpPr/>
          <p:nvPr/>
        </p:nvSpPr>
        <p:spPr>
          <a:xfrm>
            <a:off x="2697480" y="2103120"/>
            <a:ext cx="5440680" cy="237744"/>
          </a:xfrm>
          <a:prstGeom prst="rect">
            <a:avLst/>
          </a:prstGeom>
          <a:solidFill>
            <a:schemeClr val="bg2"/>
          </a:solidFill>
          <a:ln/>
        </p:spPr>
      </p:sp>
      <p:sp>
        <p:nvSpPr>
          <p:cNvPr id="11" name="Shape 7"/>
          <p:cNvSpPr/>
          <p:nvPr/>
        </p:nvSpPr>
        <p:spPr>
          <a:xfrm>
            <a:off x="2807208" y="2176272"/>
            <a:ext cx="91440" cy="91440"/>
          </a:xfrm>
          <a:prstGeom prst="ellipse">
            <a:avLst/>
          </a:prstGeom>
          <a:solidFill>
            <a:srgbClr val="F2B134"/>
          </a:solidFill>
          <a:ln/>
        </p:spPr>
      </p:sp>
      <p:sp>
        <p:nvSpPr>
          <p:cNvPr id="12" name="Shape 8"/>
          <p:cNvSpPr/>
          <p:nvPr/>
        </p:nvSpPr>
        <p:spPr>
          <a:xfrm>
            <a:off x="2953512" y="2176272"/>
            <a:ext cx="91440" cy="91440"/>
          </a:xfrm>
          <a:prstGeom prst="ellipse">
            <a:avLst/>
          </a:prstGeom>
          <a:solidFill>
            <a:srgbClr val="C7DDED"/>
          </a:solidFill>
          <a:ln/>
        </p:spPr>
      </p:sp>
      <p:sp>
        <p:nvSpPr>
          <p:cNvPr id="13" name="Shape 9"/>
          <p:cNvSpPr/>
          <p:nvPr/>
        </p:nvSpPr>
        <p:spPr>
          <a:xfrm>
            <a:off x="3099816" y="2176272"/>
            <a:ext cx="91440" cy="91440"/>
          </a:xfrm>
          <a:prstGeom prst="ellipse">
            <a:avLst/>
          </a:prstGeom>
          <a:solidFill>
            <a:srgbClr val="8E9CCB"/>
          </a:solidFill>
          <a:ln/>
        </p:spPr>
      </p:sp>
      <p:pic>
        <p:nvPicPr>
          <p:cNvPr id="14" name="Image 1" descr="Tableau de bord de la commune">    </p:cNvPr>
          <p:cNvPicPr>
            <a:picLocks noChangeAspect="1"/>
          </p:cNvPicPr>
          <p:nvPr/>
        </p:nvPicPr>
        <p:blipFill>
          <a:blip r:embed="rId2"/>
          <a:stretch>
            <a:fillRect/>
          </a:stretch>
        </p:blipFill>
        <p:spPr>
          <a:xfrm>
            <a:off x="2697480" y="2340864"/>
            <a:ext cx="5440680" cy="3400425"/>
          </a:xfrm>
          <a:prstGeom prst="rect">
            <a:avLst/>
          </a:prstGeom>
        </p:spPr>
      </p:pic>
      <p:sp>
        <p:nvSpPr>
          <p:cNvPr id="15" name="Shape 10"/>
          <p:cNvSpPr/>
          <p:nvPr/>
        </p:nvSpPr>
        <p:spPr>
          <a:xfrm>
            <a:off x="8412480" y="2103120"/>
            <a:ext cx="329184" cy="329184"/>
          </a:xfrm>
          <a:prstGeom prst="ellipse">
            <a:avLst/>
          </a:prstGeom>
          <a:solidFill>
            <a:schemeClr val="accent2"/>
          </a:solidFill>
          <a:ln w="19050">
            <a:solidFill>
              <a:schemeClr val="bg1"/>
            </a:solidFill>
            <a:prstDash val="solid"/>
          </a:ln>
        </p:spPr>
      </p:sp>
      <p:sp>
        <p:nvSpPr>
          <p:cNvPr id="16" name="Text 11"/>
          <p:cNvSpPr txBox="1"/>
          <p:nvPr/>
        </p:nvSpPr>
        <p:spPr>
          <a:xfrm>
            <a:off x="8412480" y="210312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17" name="Text 12"/>
          <p:cNvSpPr txBox="1"/>
          <p:nvPr/>
        </p:nvSpPr>
        <p:spPr>
          <a:xfrm>
            <a:off x="8869680" y="2084832"/>
            <a:ext cx="2788920" cy="274320"/>
          </a:xfrm>
          <a:prstGeom prst="rect">
            <a:avLst/>
          </a:prstGeom>
          <a:noFill/>
          <a:ln/>
        </p:spPr>
        <p:txBody>
          <a:bodyPr wrap="square" lIns="0" tIns="0" rIns="0" bIns="0" rtlCol="0" anchor="ctr"/>
          <a:lstStyle/>
          <a:p>
            <a:pPr indent="0" marL="0">
              <a:buNone/>
            </a:pPr>
            <a:r>
              <a:rPr lang="en-US" sz="1200" b="1" dirty="0">
                <a:solidFill>
                  <a:schemeClr val="tx2"/>
                </a:solidFill>
              </a:rPr>
              <a:t>Un numéro de suivi</a:t>
            </a:r>
            <a:endParaRPr lang="en-US" sz="1200" dirty="0"/>
          </a:p>
        </p:txBody>
      </p:sp>
      <p:sp>
        <p:nvSpPr>
          <p:cNvPr id="18" name="Text 13"/>
          <p:cNvSpPr txBox="1"/>
          <p:nvPr/>
        </p:nvSpPr>
        <p:spPr>
          <a:xfrm>
            <a:off x="8869680" y="2368296"/>
            <a:ext cx="2788920" cy="630936"/>
          </a:xfrm>
          <a:prstGeom prst="rect">
            <a:avLst/>
          </a:prstGeom>
          <a:noFill/>
          <a:ln/>
        </p:spPr>
        <p:txBody>
          <a:bodyPr wrap="square" lIns="0" tIns="0" rIns="0" bIns="0" rtlCol="0" anchor="t"/>
          <a:lstStyle/>
          <a:p>
            <a:pPr indent="0" marL="0">
              <a:buNone/>
            </a:pPr>
            <a:r>
              <a:rPr lang="en-US" sz="1100" dirty="0">
                <a:solidFill>
                  <a:schemeClr val="tx1"/>
                </a:solidFill>
              </a:rPr>
              <a:t>S-2026-0142, rappelé par SMS à chaque étape.</a:t>
            </a:r>
            <a:endParaRPr lang="en-US" sz="1100" dirty="0"/>
          </a:p>
        </p:txBody>
      </p:sp>
      <p:sp>
        <p:nvSpPr>
          <p:cNvPr id="19" name="Shape 14"/>
          <p:cNvSpPr/>
          <p:nvPr/>
        </p:nvSpPr>
        <p:spPr>
          <a:xfrm>
            <a:off x="8412480" y="3063240"/>
            <a:ext cx="329184" cy="329184"/>
          </a:xfrm>
          <a:prstGeom prst="ellipse">
            <a:avLst/>
          </a:prstGeom>
          <a:solidFill>
            <a:schemeClr val="accent2"/>
          </a:solidFill>
          <a:ln w="19050">
            <a:solidFill>
              <a:schemeClr val="bg1"/>
            </a:solidFill>
            <a:prstDash val="solid"/>
          </a:ln>
        </p:spPr>
      </p:sp>
      <p:sp>
        <p:nvSpPr>
          <p:cNvPr id="20" name="Text 15"/>
          <p:cNvSpPr txBox="1"/>
          <p:nvPr/>
        </p:nvSpPr>
        <p:spPr>
          <a:xfrm>
            <a:off x="8412480" y="306324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21" name="Text 16"/>
          <p:cNvSpPr txBox="1"/>
          <p:nvPr/>
        </p:nvSpPr>
        <p:spPr>
          <a:xfrm>
            <a:off x="8869680" y="3044952"/>
            <a:ext cx="2788920" cy="274320"/>
          </a:xfrm>
          <a:prstGeom prst="rect">
            <a:avLst/>
          </a:prstGeom>
          <a:noFill/>
          <a:ln/>
        </p:spPr>
        <p:txBody>
          <a:bodyPr wrap="square" lIns="0" tIns="0" rIns="0" bIns="0" rtlCol="0" anchor="ctr"/>
          <a:lstStyle/>
          <a:p>
            <a:pPr indent="0" marL="0">
              <a:buNone/>
            </a:pPr>
            <a:r>
              <a:rPr lang="en-US" sz="1200" b="1" dirty="0">
                <a:solidFill>
                  <a:schemeClr val="tx2"/>
                </a:solidFill>
              </a:rPr>
              <a:t>En tête de file</a:t>
            </a:r>
            <a:endParaRPr lang="en-US" sz="1200" dirty="0"/>
          </a:p>
        </p:txBody>
      </p:sp>
      <p:sp>
        <p:nvSpPr>
          <p:cNvPr id="22" name="Text 17"/>
          <p:cNvSpPr txBox="1"/>
          <p:nvPr/>
        </p:nvSpPr>
        <p:spPr>
          <a:xfrm>
            <a:off x="8869680" y="3328416"/>
            <a:ext cx="2788920" cy="630936"/>
          </a:xfrm>
          <a:prstGeom prst="rect">
            <a:avLst/>
          </a:prstGeom>
          <a:noFill/>
          <a:ln/>
        </p:spPr>
        <p:txBody>
          <a:bodyPr wrap="square" lIns="0" tIns="0" rIns="0" bIns="0" rtlCol="0" anchor="t"/>
          <a:lstStyle/>
          <a:p>
            <a:pPr indent="0" marL="0">
              <a:buNone/>
            </a:pPr>
            <a:r>
              <a:rPr lang="en-US" sz="1100" dirty="0">
                <a:solidFill>
                  <a:schemeClr val="tx1"/>
                </a:solidFill>
              </a:rPr>
              <a:t>Classé avant les demandes déjà affectées.</a:t>
            </a:r>
            <a:endParaRPr lang="en-US" sz="1100" dirty="0"/>
          </a:p>
        </p:txBody>
      </p:sp>
      <p:sp>
        <p:nvSpPr>
          <p:cNvPr id="23" name="Shape 18"/>
          <p:cNvSpPr/>
          <p:nvPr/>
        </p:nvSpPr>
        <p:spPr>
          <a:xfrm>
            <a:off x="8412480" y="4023360"/>
            <a:ext cx="329184" cy="329184"/>
          </a:xfrm>
          <a:prstGeom prst="ellipse">
            <a:avLst/>
          </a:prstGeom>
          <a:solidFill>
            <a:schemeClr val="accent2"/>
          </a:solidFill>
          <a:ln w="19050">
            <a:solidFill>
              <a:schemeClr val="bg1"/>
            </a:solidFill>
            <a:prstDash val="solid"/>
          </a:ln>
        </p:spPr>
      </p:sp>
      <p:sp>
        <p:nvSpPr>
          <p:cNvPr id="24" name="Text 19"/>
          <p:cNvSpPr txBox="1"/>
          <p:nvPr/>
        </p:nvSpPr>
        <p:spPr>
          <a:xfrm>
            <a:off x="8412480" y="402336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25" name="Text 20"/>
          <p:cNvSpPr txBox="1"/>
          <p:nvPr/>
        </p:nvSpPr>
        <p:spPr>
          <a:xfrm>
            <a:off x="8869680" y="4005072"/>
            <a:ext cx="2788920" cy="274320"/>
          </a:xfrm>
          <a:prstGeom prst="rect">
            <a:avLst/>
          </a:prstGeom>
          <a:noFill/>
          <a:ln/>
        </p:spPr>
        <p:txBody>
          <a:bodyPr wrap="square" lIns="0" tIns="0" rIns="0" bIns="0" rtlCol="0" anchor="ctr"/>
          <a:lstStyle/>
          <a:p>
            <a:pPr indent="0" marL="0">
              <a:buNone/>
            </a:pPr>
            <a:r>
              <a:rPr lang="en-US" sz="1200" b="1" dirty="0">
                <a:solidFill>
                  <a:schemeClr val="tx2"/>
                </a:solidFill>
              </a:rPr>
              <a:t>Sur la carte</a:t>
            </a:r>
            <a:endParaRPr lang="en-US" sz="1200" dirty="0"/>
          </a:p>
        </p:txBody>
      </p:sp>
      <p:sp>
        <p:nvSpPr>
          <p:cNvPr id="26" name="Text 21"/>
          <p:cNvSpPr txBox="1"/>
          <p:nvPr/>
        </p:nvSpPr>
        <p:spPr>
          <a:xfrm>
            <a:off x="8869680" y="4288536"/>
            <a:ext cx="2788920" cy="630936"/>
          </a:xfrm>
          <a:prstGeom prst="rect">
            <a:avLst/>
          </a:prstGeom>
          <a:noFill/>
          <a:ln/>
        </p:spPr>
        <p:txBody>
          <a:bodyPr wrap="square" lIns="0" tIns="0" rIns="0" bIns="0" rtlCol="0" anchor="t"/>
          <a:lstStyle/>
          <a:p>
            <a:pPr indent="0" marL="0">
              <a:buNone/>
            </a:pPr>
            <a:r>
              <a:rPr lang="en-US" sz="1100" dirty="0">
                <a:solidFill>
                  <a:schemeClr val="tx1"/>
                </a:solidFill>
              </a:rPr>
              <a:t>L'ouvrage passe en rouge, par arrondissement.</a:t>
            </a:r>
            <a:endParaRPr lang="en-US" sz="1100" dirty="0"/>
          </a:p>
        </p:txBody>
      </p:sp>
      <p:sp>
        <p:nvSpPr>
          <p:cNvPr id="27" name="Shape 22"/>
          <p:cNvSpPr/>
          <p:nvPr/>
        </p:nvSpPr>
        <p:spPr>
          <a:xfrm>
            <a:off x="8412480" y="4983480"/>
            <a:ext cx="329184" cy="329184"/>
          </a:xfrm>
          <a:prstGeom prst="ellipse">
            <a:avLst/>
          </a:prstGeom>
          <a:solidFill>
            <a:schemeClr val="accent2"/>
          </a:solidFill>
          <a:ln w="19050">
            <a:solidFill>
              <a:schemeClr val="bg1"/>
            </a:solidFill>
            <a:prstDash val="solid"/>
          </a:ln>
        </p:spPr>
      </p:sp>
      <p:sp>
        <p:nvSpPr>
          <p:cNvPr id="28" name="Text 23"/>
          <p:cNvSpPr txBox="1"/>
          <p:nvPr/>
        </p:nvSpPr>
        <p:spPr>
          <a:xfrm>
            <a:off x="8412480" y="498348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4</a:t>
            </a:r>
            <a:endParaRPr lang="en-US" sz="1300" dirty="0"/>
          </a:p>
        </p:txBody>
      </p:sp>
      <p:sp>
        <p:nvSpPr>
          <p:cNvPr id="29" name="Text 24"/>
          <p:cNvSpPr txBox="1"/>
          <p:nvPr/>
        </p:nvSpPr>
        <p:spPr>
          <a:xfrm>
            <a:off x="8869680" y="4965192"/>
            <a:ext cx="2788920" cy="274320"/>
          </a:xfrm>
          <a:prstGeom prst="rect">
            <a:avLst/>
          </a:prstGeom>
          <a:noFill/>
          <a:ln/>
        </p:spPr>
        <p:txBody>
          <a:bodyPr wrap="square" lIns="0" tIns="0" rIns="0" bIns="0" rtlCol="0" anchor="ctr"/>
          <a:lstStyle/>
          <a:p>
            <a:pPr indent="0" marL="0">
              <a:buNone/>
            </a:pPr>
            <a:r>
              <a:rPr lang="en-US" sz="1200" b="1" dirty="0">
                <a:solidFill>
                  <a:schemeClr val="tx2"/>
                </a:solidFill>
              </a:rPr>
              <a:t>Déjà en alerte</a:t>
            </a:r>
            <a:endParaRPr lang="en-US" sz="1200" dirty="0"/>
          </a:p>
        </p:txBody>
      </p:sp>
      <p:sp>
        <p:nvSpPr>
          <p:cNvPr id="30" name="Text 25"/>
          <p:cNvSpPr txBox="1"/>
          <p:nvPr/>
        </p:nvSpPr>
        <p:spPr>
          <a:xfrm>
            <a:off x="8869680" y="5248656"/>
            <a:ext cx="2788920" cy="630936"/>
          </a:xfrm>
          <a:prstGeom prst="rect">
            <a:avLst/>
          </a:prstGeom>
          <a:noFill/>
          <a:ln/>
        </p:spPr>
        <p:txBody>
          <a:bodyPr wrap="square" lIns="0" tIns="0" rIns="0" bIns="0" rtlCol="0" anchor="t"/>
          <a:lstStyle/>
          <a:p>
            <a:pPr indent="0" marL="0">
              <a:buNone/>
            </a:pPr>
            <a:r>
              <a:rPr lang="en-US" sz="1100" dirty="0">
                <a:solidFill>
                  <a:schemeClr val="tx1"/>
                </a:solidFill>
              </a:rPr>
              <a:t>La pompe était signalée en fin de vie.</a:t>
            </a:r>
            <a:endParaRPr lang="en-US" sz="1100" dirty="0"/>
          </a:p>
        </p:txBody>
      </p:sp>
      <p:sp>
        <p:nvSpPr>
          <p:cNvPr id="31" name="Text 26"/>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Prototype de l'auteur. Indicateurs, carte et alertes calculés à partir de données fictives.</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TRI ET AFFECTATION</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Le registre propose, l'agent communal décide</a:t>
            </a:r>
            <a:endParaRPr lang="en-US" sz="2800" dirty="0"/>
          </a:p>
        </p:txBody>
      </p:sp>
      <p:sp>
        <p:nvSpPr>
          <p:cNvPr id="5" name="Shape 2"/>
          <p:cNvSpPr/>
          <p:nvPr/>
        </p:nvSpPr>
        <p:spPr>
          <a:xfrm>
            <a:off x="548640" y="1517904"/>
            <a:ext cx="4846320" cy="329184"/>
          </a:xfrm>
          <a:prstGeom prst="roundRect">
            <a:avLst>
              <a:gd name="adj" fmla="val 50000"/>
            </a:avLst>
          </a:prstGeom>
          <a:solidFill>
            <a:schemeClr val="tx2"/>
          </a:solidFill>
          <a:ln/>
        </p:spPr>
      </p:sp>
      <p:sp>
        <p:nvSpPr>
          <p:cNvPr id="6" name="Text 3"/>
          <p:cNvSpPr txBox="1"/>
          <p:nvPr/>
        </p:nvSpPr>
        <p:spPr>
          <a:xfrm>
            <a:off x="713232" y="1517904"/>
            <a:ext cx="4572000" cy="329184"/>
          </a:xfrm>
          <a:prstGeom prst="rect">
            <a:avLst/>
          </a:prstGeom>
          <a:noFill/>
          <a:ln/>
        </p:spPr>
        <p:txBody>
          <a:bodyPr wrap="square" lIns="0" tIns="0" rIns="0" bIns="0" rtlCol="0" anchor="ctr"/>
          <a:lstStyle/>
          <a:p>
            <a:pPr indent="0" marL="0">
              <a:buNone/>
            </a:pPr>
            <a:r>
              <a:rPr lang="en-US" sz="1000" b="1" spc="150" kern="0" dirty="0">
                <a:solidFill>
                  <a:schemeClr val="accent2"/>
                </a:solidFill>
              </a:rPr>
              <a:t>ÉTAPE 5  ·  COMMUNE</a:t>
            </a:r>
            <a:endParaRPr lang="en-US" sz="1000" dirty="0"/>
          </a:p>
        </p:txBody>
      </p:sp>
      <p:sp>
        <p:nvSpPr>
          <p:cNvPr id="7" name="Shape 4"/>
          <p:cNvSpPr/>
          <p:nvPr/>
        </p:nvSpPr>
        <p:spPr>
          <a:xfrm>
            <a:off x="548640" y="2103120"/>
            <a:ext cx="5577840" cy="3723894"/>
          </a:xfrm>
          <a:prstGeom prst="rect">
            <a:avLst/>
          </a:prstGeom>
          <a:solidFill>
            <a:schemeClr val="bg1"/>
          </a:solidFill>
          <a:ln w="9525">
            <a:solidFill>
              <a:schemeClr val="accent6"/>
            </a:solidFill>
            <a:prstDash val="solid"/>
          </a:ln>
          <a:effectLst>
            <a:outerShdw sx="100000" sy="100000" kx="0" ky="0" algn="bl" rotWithShape="0" blurRad="101600" dist="38100" dir="5400000">
              <a:srgbClr val="253970">
                <a:alpha val="18000"/>
              </a:srgbClr>
            </a:outerShdw>
          </a:effectLst>
        </p:spPr>
      </p:sp>
      <p:sp>
        <p:nvSpPr>
          <p:cNvPr id="8" name="Shape 5"/>
          <p:cNvSpPr/>
          <p:nvPr/>
        </p:nvSpPr>
        <p:spPr>
          <a:xfrm>
            <a:off x="548640" y="2103120"/>
            <a:ext cx="5577840" cy="237744"/>
          </a:xfrm>
          <a:prstGeom prst="rect">
            <a:avLst/>
          </a:prstGeom>
          <a:solidFill>
            <a:schemeClr val="bg2"/>
          </a:solidFill>
          <a:ln/>
        </p:spPr>
      </p:sp>
      <p:sp>
        <p:nvSpPr>
          <p:cNvPr id="9" name="Shape 6"/>
          <p:cNvSpPr/>
          <p:nvPr/>
        </p:nvSpPr>
        <p:spPr>
          <a:xfrm>
            <a:off x="658368" y="2176272"/>
            <a:ext cx="91440" cy="91440"/>
          </a:xfrm>
          <a:prstGeom prst="ellipse">
            <a:avLst/>
          </a:prstGeom>
          <a:solidFill>
            <a:srgbClr val="F2B134"/>
          </a:solidFill>
          <a:ln/>
        </p:spPr>
      </p:sp>
      <p:sp>
        <p:nvSpPr>
          <p:cNvPr id="10" name="Shape 7"/>
          <p:cNvSpPr/>
          <p:nvPr/>
        </p:nvSpPr>
        <p:spPr>
          <a:xfrm>
            <a:off x="804672" y="2176272"/>
            <a:ext cx="91440" cy="91440"/>
          </a:xfrm>
          <a:prstGeom prst="ellipse">
            <a:avLst/>
          </a:prstGeom>
          <a:solidFill>
            <a:srgbClr val="C7DDED"/>
          </a:solidFill>
          <a:ln/>
        </p:spPr>
      </p:sp>
      <p:sp>
        <p:nvSpPr>
          <p:cNvPr id="11" name="Shape 8"/>
          <p:cNvSpPr/>
          <p:nvPr/>
        </p:nvSpPr>
        <p:spPr>
          <a:xfrm>
            <a:off x="950976" y="2176272"/>
            <a:ext cx="91440" cy="91440"/>
          </a:xfrm>
          <a:prstGeom prst="ellipse">
            <a:avLst/>
          </a:prstGeom>
          <a:solidFill>
            <a:srgbClr val="8E9CCB"/>
          </a:solidFill>
          <a:ln/>
        </p:spPr>
      </p:sp>
      <p:pic>
        <p:nvPicPr>
          <p:cNvPr id="12" name="Image 0" descr="Écran de tri et d'affectation d'un signalement">    </p:cNvPr>
          <p:cNvPicPr>
            <a:picLocks noChangeAspect="1"/>
          </p:cNvPicPr>
          <p:nvPr/>
        </p:nvPicPr>
        <p:blipFill>
          <a:blip r:embed="rId1"/>
          <a:stretch>
            <a:fillRect/>
          </a:stretch>
        </p:blipFill>
        <p:spPr>
          <a:xfrm>
            <a:off x="548640" y="2340864"/>
            <a:ext cx="5577840" cy="3486150"/>
          </a:xfrm>
          <a:prstGeom prst="rect">
            <a:avLst/>
          </a:prstGeom>
        </p:spPr>
      </p:pic>
      <p:sp>
        <p:nvSpPr>
          <p:cNvPr id="13" name="Shape 9"/>
          <p:cNvSpPr/>
          <p:nvPr/>
        </p:nvSpPr>
        <p:spPr>
          <a:xfrm>
            <a:off x="6446520" y="2148840"/>
            <a:ext cx="329184" cy="329184"/>
          </a:xfrm>
          <a:prstGeom prst="ellipse">
            <a:avLst/>
          </a:prstGeom>
          <a:solidFill>
            <a:schemeClr val="accent2"/>
          </a:solidFill>
          <a:ln w="19050">
            <a:solidFill>
              <a:schemeClr val="bg1"/>
            </a:solidFill>
            <a:prstDash val="solid"/>
          </a:ln>
        </p:spPr>
      </p:sp>
      <p:sp>
        <p:nvSpPr>
          <p:cNvPr id="14" name="Text 10"/>
          <p:cNvSpPr txBox="1"/>
          <p:nvPr/>
        </p:nvSpPr>
        <p:spPr>
          <a:xfrm>
            <a:off x="6446520" y="214884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15" name="Text 11"/>
          <p:cNvSpPr txBox="1"/>
          <p:nvPr/>
        </p:nvSpPr>
        <p:spPr>
          <a:xfrm>
            <a:off x="6903720" y="2130552"/>
            <a:ext cx="4754880" cy="274320"/>
          </a:xfrm>
          <a:prstGeom prst="rect">
            <a:avLst/>
          </a:prstGeom>
          <a:noFill/>
          <a:ln/>
        </p:spPr>
        <p:txBody>
          <a:bodyPr wrap="square" lIns="0" tIns="0" rIns="0" bIns="0" rtlCol="0" anchor="ctr"/>
          <a:lstStyle/>
          <a:p>
            <a:pPr indent="0" marL="0">
              <a:buNone/>
            </a:pPr>
            <a:r>
              <a:rPr lang="en-US" sz="1300" b="1" dirty="0">
                <a:solidFill>
                  <a:schemeClr val="tx2"/>
                </a:solidFill>
              </a:rPr>
              <a:t>Priorité suggérée selon l'ouvrage</a:t>
            </a:r>
            <a:endParaRPr lang="en-US" sz="1300" dirty="0"/>
          </a:p>
        </p:txBody>
      </p:sp>
      <p:sp>
        <p:nvSpPr>
          <p:cNvPr id="16" name="Text 12"/>
          <p:cNvSpPr txBox="1"/>
          <p:nvPr/>
        </p:nvSpPr>
        <p:spPr>
          <a:xfrm>
            <a:off x="6903720" y="2414016"/>
            <a:ext cx="4754880" cy="630936"/>
          </a:xfrm>
          <a:prstGeom prst="rect">
            <a:avLst/>
          </a:prstGeom>
          <a:noFill/>
          <a:ln/>
        </p:spPr>
        <p:txBody>
          <a:bodyPr wrap="square" lIns="0" tIns="0" rIns="0" bIns="0" rtlCol="0" anchor="t"/>
          <a:lstStyle/>
          <a:p>
            <a:pPr indent="0" marL="0">
              <a:buNone/>
            </a:pPr>
            <a:r>
              <a:rPr lang="en-US" sz="1200" dirty="0">
                <a:solidFill>
                  <a:schemeClr val="tx1"/>
                </a:solidFill>
              </a:rPr>
              <a:t>Arrêt d'eau potable : P1, délai visé 48 h. Une école ou un terrain dégradé : P3.</a:t>
            </a:r>
            <a:endParaRPr lang="en-US" sz="1200" dirty="0"/>
          </a:p>
        </p:txBody>
      </p:sp>
      <p:sp>
        <p:nvSpPr>
          <p:cNvPr id="17" name="Shape 13"/>
          <p:cNvSpPr/>
          <p:nvPr/>
        </p:nvSpPr>
        <p:spPr>
          <a:xfrm>
            <a:off x="6446520" y="3108960"/>
            <a:ext cx="329184" cy="329184"/>
          </a:xfrm>
          <a:prstGeom prst="ellipse">
            <a:avLst/>
          </a:prstGeom>
          <a:solidFill>
            <a:schemeClr val="accent2"/>
          </a:solidFill>
          <a:ln w="19050">
            <a:solidFill>
              <a:schemeClr val="bg1"/>
            </a:solidFill>
            <a:prstDash val="solid"/>
          </a:ln>
        </p:spPr>
      </p:sp>
      <p:sp>
        <p:nvSpPr>
          <p:cNvPr id="18" name="Text 14"/>
          <p:cNvSpPr txBox="1"/>
          <p:nvPr/>
        </p:nvSpPr>
        <p:spPr>
          <a:xfrm>
            <a:off x="6446520" y="310896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19" name="Text 15"/>
          <p:cNvSpPr txBox="1"/>
          <p:nvPr/>
        </p:nvSpPr>
        <p:spPr>
          <a:xfrm>
            <a:off x="6903720" y="3090672"/>
            <a:ext cx="4754880" cy="274320"/>
          </a:xfrm>
          <a:prstGeom prst="rect">
            <a:avLst/>
          </a:prstGeom>
          <a:noFill/>
          <a:ln/>
        </p:spPr>
        <p:txBody>
          <a:bodyPr wrap="square" lIns="0" tIns="0" rIns="0" bIns="0" rtlCol="0" anchor="ctr"/>
          <a:lstStyle/>
          <a:p>
            <a:pPr indent="0" marL="0">
              <a:buNone/>
            </a:pPr>
            <a:r>
              <a:rPr lang="en-US" sz="1300" b="1" dirty="0">
                <a:solidFill>
                  <a:schemeClr val="tx2"/>
                </a:solidFill>
              </a:rPr>
              <a:t>Équipe tirée du contrat d'entretien</a:t>
            </a:r>
            <a:endParaRPr lang="en-US" sz="1300" dirty="0"/>
          </a:p>
        </p:txBody>
      </p:sp>
      <p:sp>
        <p:nvSpPr>
          <p:cNvPr id="20" name="Text 16"/>
          <p:cNvSpPr txBox="1"/>
          <p:nvPr/>
        </p:nvSpPr>
        <p:spPr>
          <a:xfrm>
            <a:off x="6903720" y="3374136"/>
            <a:ext cx="4754880" cy="630936"/>
          </a:xfrm>
          <a:prstGeom prst="rect">
            <a:avLst/>
          </a:prstGeom>
          <a:noFill/>
          <a:ln/>
        </p:spPr>
        <p:txBody>
          <a:bodyPr wrap="square" lIns="0" tIns="0" rIns="0" bIns="0" rtlCol="0" anchor="t"/>
          <a:lstStyle/>
          <a:p>
            <a:pPr indent="0" marL="0">
              <a:buNone/>
            </a:pPr>
            <a:r>
              <a:rPr lang="en-US" sz="1200" dirty="0">
                <a:solidFill>
                  <a:schemeClr val="tx1"/>
                </a:solidFill>
              </a:rPr>
              <a:t>Le contrat de l'ouvrage désigne l'opérateur. L'agent peut en choisir un autre.</a:t>
            </a:r>
            <a:endParaRPr lang="en-US" sz="1200" dirty="0"/>
          </a:p>
        </p:txBody>
      </p:sp>
      <p:sp>
        <p:nvSpPr>
          <p:cNvPr id="21" name="Shape 17"/>
          <p:cNvSpPr/>
          <p:nvPr/>
        </p:nvSpPr>
        <p:spPr>
          <a:xfrm>
            <a:off x="6446520" y="4069080"/>
            <a:ext cx="329184" cy="329184"/>
          </a:xfrm>
          <a:prstGeom prst="ellipse">
            <a:avLst/>
          </a:prstGeom>
          <a:solidFill>
            <a:schemeClr val="accent2"/>
          </a:solidFill>
          <a:ln w="19050">
            <a:solidFill>
              <a:schemeClr val="bg1"/>
            </a:solidFill>
            <a:prstDash val="solid"/>
          </a:ln>
        </p:spPr>
      </p:sp>
      <p:sp>
        <p:nvSpPr>
          <p:cNvPr id="22" name="Text 18"/>
          <p:cNvSpPr txBox="1"/>
          <p:nvPr/>
        </p:nvSpPr>
        <p:spPr>
          <a:xfrm>
            <a:off x="6446520" y="406908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23" name="Text 19"/>
          <p:cNvSpPr txBox="1"/>
          <p:nvPr/>
        </p:nvSpPr>
        <p:spPr>
          <a:xfrm>
            <a:off x="6903720" y="4050792"/>
            <a:ext cx="4754880" cy="274320"/>
          </a:xfrm>
          <a:prstGeom prst="rect">
            <a:avLst/>
          </a:prstGeom>
          <a:noFill/>
          <a:ln/>
        </p:spPr>
        <p:txBody>
          <a:bodyPr wrap="square" lIns="0" tIns="0" rIns="0" bIns="0" rtlCol="0" anchor="ctr"/>
          <a:lstStyle/>
          <a:p>
            <a:pPr indent="0" marL="0">
              <a:buNone/>
            </a:pPr>
            <a:r>
              <a:rPr lang="en-US" sz="1300" b="1" dirty="0">
                <a:solidFill>
                  <a:schemeClr val="tx2"/>
                </a:solidFill>
              </a:rPr>
              <a:t>Pièce réservée dans le magasin</a:t>
            </a:r>
            <a:endParaRPr lang="en-US" sz="1300" dirty="0"/>
          </a:p>
        </p:txBody>
      </p:sp>
      <p:sp>
        <p:nvSpPr>
          <p:cNvPr id="24" name="Text 20"/>
          <p:cNvSpPr txBox="1"/>
          <p:nvPr/>
        </p:nvSpPr>
        <p:spPr>
          <a:xfrm>
            <a:off x="6903720" y="4334256"/>
            <a:ext cx="4754880" cy="630936"/>
          </a:xfrm>
          <a:prstGeom prst="rect">
            <a:avLst/>
          </a:prstGeom>
          <a:noFill/>
          <a:ln/>
        </p:spPr>
        <p:txBody>
          <a:bodyPr wrap="square" lIns="0" tIns="0" rIns="0" bIns="0" rtlCol="0" anchor="t"/>
          <a:lstStyle/>
          <a:p>
            <a:pPr indent="0" marL="0">
              <a:buNone/>
            </a:pPr>
            <a:r>
              <a:rPr lang="en-US" sz="1200" dirty="0">
                <a:solidFill>
                  <a:schemeClr val="tx1"/>
                </a:solidFill>
              </a:rPr>
              <a:t>La pompe est réservée avant le départ : le technicien arrive avec la bonne pièce.</a:t>
            </a:r>
            <a:endParaRPr lang="en-US" sz="1200" dirty="0"/>
          </a:p>
        </p:txBody>
      </p:sp>
      <p:sp>
        <p:nvSpPr>
          <p:cNvPr id="25" name="Shape 21"/>
          <p:cNvSpPr/>
          <p:nvPr/>
        </p:nvSpPr>
        <p:spPr>
          <a:xfrm>
            <a:off x="6446520" y="5029200"/>
            <a:ext cx="329184" cy="329184"/>
          </a:xfrm>
          <a:prstGeom prst="ellipse">
            <a:avLst/>
          </a:prstGeom>
          <a:solidFill>
            <a:schemeClr val="accent2"/>
          </a:solidFill>
          <a:ln w="19050">
            <a:solidFill>
              <a:schemeClr val="bg1"/>
            </a:solidFill>
            <a:prstDash val="solid"/>
          </a:ln>
        </p:spPr>
      </p:sp>
      <p:sp>
        <p:nvSpPr>
          <p:cNvPr id="26" name="Text 22"/>
          <p:cNvSpPr txBox="1"/>
          <p:nvPr/>
        </p:nvSpPr>
        <p:spPr>
          <a:xfrm>
            <a:off x="6446520" y="502920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4</a:t>
            </a:r>
            <a:endParaRPr lang="en-US" sz="1300" dirty="0"/>
          </a:p>
        </p:txBody>
      </p:sp>
      <p:sp>
        <p:nvSpPr>
          <p:cNvPr id="27" name="Text 23"/>
          <p:cNvSpPr txBox="1"/>
          <p:nvPr/>
        </p:nvSpPr>
        <p:spPr>
          <a:xfrm>
            <a:off x="6903720" y="5010912"/>
            <a:ext cx="4754880" cy="274320"/>
          </a:xfrm>
          <a:prstGeom prst="rect">
            <a:avLst/>
          </a:prstGeom>
          <a:noFill/>
          <a:ln/>
        </p:spPr>
        <p:txBody>
          <a:bodyPr wrap="square" lIns="0" tIns="0" rIns="0" bIns="0" rtlCol="0" anchor="ctr"/>
          <a:lstStyle/>
          <a:p>
            <a:pPr indent="0" marL="0">
              <a:buNone/>
            </a:pPr>
            <a:r>
              <a:rPr lang="en-US" sz="1300" b="1" dirty="0">
                <a:solidFill>
                  <a:schemeClr val="tx2"/>
                </a:solidFill>
              </a:rPr>
              <a:t>Alerte de stock immédiate</a:t>
            </a:r>
            <a:endParaRPr lang="en-US" sz="1300" dirty="0"/>
          </a:p>
        </p:txBody>
      </p:sp>
      <p:sp>
        <p:nvSpPr>
          <p:cNvPr id="28" name="Text 24"/>
          <p:cNvSpPr txBox="1"/>
          <p:nvPr/>
        </p:nvSpPr>
        <p:spPr>
          <a:xfrm>
            <a:off x="6903720" y="5294376"/>
            <a:ext cx="4754880" cy="630936"/>
          </a:xfrm>
          <a:prstGeom prst="rect">
            <a:avLst/>
          </a:prstGeom>
          <a:noFill/>
          <a:ln/>
        </p:spPr>
        <p:txBody>
          <a:bodyPr wrap="square" lIns="0" tIns="0" rIns="0" bIns="0" rtlCol="0" anchor="t"/>
          <a:lstStyle/>
          <a:p>
            <a:pPr indent="0" marL="0">
              <a:buNone/>
            </a:pPr>
            <a:r>
              <a:rPr lang="en-US" sz="1200" dirty="0">
                <a:solidFill>
                  <a:schemeClr val="tx1"/>
                </a:solidFill>
              </a:rPr>
              <a:t>La réservation fait passer le stock sous le seuil : l'achat est déclenché à temps.</a:t>
            </a:r>
            <a:endParaRPr lang="en-US" sz="1200" dirty="0"/>
          </a:p>
        </p:txBody>
      </p:sp>
      <p:sp>
        <p:nvSpPr>
          <p:cNvPr id="29" name="Text 25"/>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31 (filière des pièces de rechange) et p. 56 (contrats de performance). Règles de tri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CÔTÉ TECHNICIEN</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Sans réseau, mais une preuve à chaque geste</a:t>
            </a:r>
            <a:endParaRPr lang="en-US" sz="2800" dirty="0"/>
          </a:p>
        </p:txBody>
      </p:sp>
      <p:sp>
        <p:nvSpPr>
          <p:cNvPr id="5" name="Shape 2"/>
          <p:cNvSpPr/>
          <p:nvPr/>
        </p:nvSpPr>
        <p:spPr>
          <a:xfrm>
            <a:off x="548640" y="1517904"/>
            <a:ext cx="4846320" cy="329184"/>
          </a:xfrm>
          <a:prstGeom prst="roundRect">
            <a:avLst>
              <a:gd name="adj" fmla="val 50000"/>
            </a:avLst>
          </a:prstGeom>
          <a:solidFill>
            <a:schemeClr val="tx2"/>
          </a:solidFill>
          <a:ln/>
        </p:spPr>
      </p:sp>
      <p:sp>
        <p:nvSpPr>
          <p:cNvPr id="6" name="Text 3"/>
          <p:cNvSpPr txBox="1"/>
          <p:nvPr/>
        </p:nvSpPr>
        <p:spPr>
          <a:xfrm>
            <a:off x="713232" y="1517904"/>
            <a:ext cx="4572000" cy="329184"/>
          </a:xfrm>
          <a:prstGeom prst="rect">
            <a:avLst/>
          </a:prstGeom>
          <a:noFill/>
          <a:ln/>
        </p:spPr>
        <p:txBody>
          <a:bodyPr wrap="square" lIns="0" tIns="0" rIns="0" bIns="0" rtlCol="0" anchor="ctr"/>
          <a:lstStyle/>
          <a:p>
            <a:pPr indent="0" marL="0">
              <a:buNone/>
            </a:pPr>
            <a:r>
              <a:rPr lang="en-US" sz="1000" b="1" spc="150" kern="0" dirty="0">
                <a:solidFill>
                  <a:schemeClr val="accent2"/>
                </a:solidFill>
              </a:rPr>
              <a:t>ÉTAPES 6 ET 7  ·  TECHNICIEN</a:t>
            </a:r>
            <a:endParaRPr lang="en-US" sz="1000" dirty="0"/>
          </a:p>
        </p:txBody>
      </p:sp>
      <p:sp>
        <p:nvSpPr>
          <p:cNvPr id="7" name="Shape 4"/>
          <p:cNvSpPr/>
          <p:nvPr/>
        </p:nvSpPr>
        <p:spPr>
          <a:xfrm>
            <a:off x="685800" y="2057400"/>
            <a:ext cx="1997964" cy="3886200"/>
          </a:xfrm>
          <a:prstGeom prst="roundRect">
            <a:avLst>
              <a:gd name="adj" fmla="val 10069"/>
            </a:avLst>
          </a:prstGeom>
          <a:solidFill>
            <a:schemeClr val="tx2"/>
          </a:solidFill>
          <a:ln/>
          <a:effectLst>
            <a:outerShdw sx="100000" sy="100000" kx="0" ky="0" algn="bl" rotWithShape="0" blurRad="127000" dist="50800" dir="5400000">
              <a:srgbClr val="253970">
                <a:alpha val="25000"/>
              </a:srgbClr>
            </a:outerShdw>
          </a:effectLst>
        </p:spPr>
      </p:sp>
      <p:pic>
        <p:nvPicPr>
          <p:cNvPr id="8" name="Image 0" descr="Liste des interventions hors connexion">    </p:cNvPr>
          <p:cNvPicPr>
            <a:picLocks noChangeAspect="1"/>
          </p:cNvPicPr>
          <p:nvPr/>
        </p:nvPicPr>
        <p:blipFill>
          <a:blip r:embed="rId1"/>
          <a:stretch>
            <a:fillRect/>
          </a:stretch>
        </p:blipFill>
        <p:spPr>
          <a:xfrm>
            <a:off x="740664" y="2112264"/>
            <a:ext cx="1888236" cy="3776472"/>
          </a:xfrm>
          <a:prstGeom prst="rect">
            <a:avLst/>
          </a:prstGeom>
        </p:spPr>
      </p:pic>
      <p:sp>
        <p:nvSpPr>
          <p:cNvPr id="9" name="Shape 5"/>
          <p:cNvSpPr/>
          <p:nvPr/>
        </p:nvSpPr>
        <p:spPr>
          <a:xfrm>
            <a:off x="2926080" y="2057400"/>
            <a:ext cx="1997964" cy="3886200"/>
          </a:xfrm>
          <a:prstGeom prst="roundRect">
            <a:avLst>
              <a:gd name="adj" fmla="val 10069"/>
            </a:avLst>
          </a:prstGeom>
          <a:solidFill>
            <a:schemeClr val="tx2"/>
          </a:solidFill>
          <a:ln/>
          <a:effectLst>
            <a:outerShdw sx="100000" sy="100000" kx="0" ky="0" algn="bl" rotWithShape="0" blurRad="127000" dist="50800" dir="5400000">
              <a:srgbClr val="253970">
                <a:alpha val="25000"/>
              </a:srgbClr>
            </a:outerShdw>
          </a:effectLst>
        </p:spPr>
      </p:sp>
      <p:pic>
        <p:nvPicPr>
          <p:cNvPr id="10" name="Image 1" descr="Fiche d'intervention avec checklist">    </p:cNvPr>
          <p:cNvPicPr>
            <a:picLocks noChangeAspect="1"/>
          </p:cNvPicPr>
          <p:nvPr/>
        </p:nvPicPr>
        <p:blipFill>
          <a:blip r:embed="rId2"/>
          <a:stretch>
            <a:fillRect/>
          </a:stretch>
        </p:blipFill>
        <p:spPr>
          <a:xfrm>
            <a:off x="2980944" y="2112264"/>
            <a:ext cx="1888236" cy="3776472"/>
          </a:xfrm>
          <a:prstGeom prst="rect">
            <a:avLst/>
          </a:prstGeom>
        </p:spPr>
      </p:pic>
      <p:sp>
        <p:nvSpPr>
          <p:cNvPr id="11" name="Shape 6"/>
          <p:cNvSpPr/>
          <p:nvPr/>
        </p:nvSpPr>
        <p:spPr>
          <a:xfrm>
            <a:off x="5257800" y="2057400"/>
            <a:ext cx="329184" cy="329184"/>
          </a:xfrm>
          <a:prstGeom prst="ellipse">
            <a:avLst/>
          </a:prstGeom>
          <a:solidFill>
            <a:schemeClr val="accent2"/>
          </a:solidFill>
          <a:ln w="19050">
            <a:solidFill>
              <a:schemeClr val="bg1"/>
            </a:solidFill>
            <a:prstDash val="solid"/>
          </a:ln>
        </p:spPr>
      </p:sp>
      <p:sp>
        <p:nvSpPr>
          <p:cNvPr id="12" name="Text 7"/>
          <p:cNvSpPr txBox="1"/>
          <p:nvPr/>
        </p:nvSpPr>
        <p:spPr>
          <a:xfrm>
            <a:off x="5257800" y="205740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13" name="Text 8"/>
          <p:cNvSpPr txBox="1"/>
          <p:nvPr/>
        </p:nvSpPr>
        <p:spPr>
          <a:xfrm>
            <a:off x="5715000" y="2039112"/>
            <a:ext cx="5943600" cy="274320"/>
          </a:xfrm>
          <a:prstGeom prst="rect">
            <a:avLst/>
          </a:prstGeom>
          <a:noFill/>
          <a:ln/>
        </p:spPr>
        <p:txBody>
          <a:bodyPr wrap="square" lIns="0" tIns="0" rIns="0" bIns="0" rtlCol="0" anchor="ctr"/>
          <a:lstStyle/>
          <a:p>
            <a:pPr indent="0" marL="0">
              <a:buNone/>
            </a:pPr>
            <a:r>
              <a:rPr lang="en-US" sz="1300" b="1" dirty="0">
                <a:solidFill>
                  <a:schemeClr val="tx2"/>
                </a:solidFill>
              </a:rPr>
              <a:t>Hors connexion assumé</a:t>
            </a:r>
            <a:endParaRPr lang="en-US" sz="1300" dirty="0"/>
          </a:p>
        </p:txBody>
      </p:sp>
      <p:sp>
        <p:nvSpPr>
          <p:cNvPr id="14" name="Text 9"/>
          <p:cNvSpPr txBox="1"/>
          <p:nvPr/>
        </p:nvSpPr>
        <p:spPr>
          <a:xfrm>
            <a:off x="5715000" y="2322576"/>
            <a:ext cx="5943600" cy="630936"/>
          </a:xfrm>
          <a:prstGeom prst="rect">
            <a:avLst/>
          </a:prstGeom>
          <a:noFill/>
          <a:ln/>
        </p:spPr>
        <p:txBody>
          <a:bodyPr wrap="square" lIns="0" tIns="0" rIns="0" bIns="0" rtlCol="0" anchor="t"/>
          <a:lstStyle/>
          <a:p>
            <a:pPr indent="0" marL="0">
              <a:buNone/>
            </a:pPr>
            <a:r>
              <a:rPr lang="en-US" sz="1200" dirty="0">
                <a:solidFill>
                  <a:schemeClr val="tx1"/>
                </a:solidFill>
              </a:rPr>
              <a:t>Le bandeau le dit, et le travail continue. Le compte à rebours du délai reste visible.</a:t>
            </a:r>
            <a:endParaRPr lang="en-US" sz="1200" dirty="0"/>
          </a:p>
        </p:txBody>
      </p:sp>
      <p:sp>
        <p:nvSpPr>
          <p:cNvPr id="15" name="Shape 10"/>
          <p:cNvSpPr/>
          <p:nvPr/>
        </p:nvSpPr>
        <p:spPr>
          <a:xfrm>
            <a:off x="5257800" y="3017520"/>
            <a:ext cx="329184" cy="329184"/>
          </a:xfrm>
          <a:prstGeom prst="ellipse">
            <a:avLst/>
          </a:prstGeom>
          <a:solidFill>
            <a:schemeClr val="accent2"/>
          </a:solidFill>
          <a:ln w="19050">
            <a:solidFill>
              <a:schemeClr val="bg1"/>
            </a:solidFill>
            <a:prstDash val="solid"/>
          </a:ln>
        </p:spPr>
      </p:sp>
      <p:sp>
        <p:nvSpPr>
          <p:cNvPr id="16" name="Text 11"/>
          <p:cNvSpPr txBox="1"/>
          <p:nvPr/>
        </p:nvSpPr>
        <p:spPr>
          <a:xfrm>
            <a:off x="5257800" y="301752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17" name="Text 12"/>
          <p:cNvSpPr txBox="1"/>
          <p:nvPr/>
        </p:nvSpPr>
        <p:spPr>
          <a:xfrm>
            <a:off x="5715000" y="2999232"/>
            <a:ext cx="5943600" cy="274320"/>
          </a:xfrm>
          <a:prstGeom prst="rect">
            <a:avLst/>
          </a:prstGeom>
          <a:noFill/>
          <a:ln/>
        </p:spPr>
        <p:txBody>
          <a:bodyPr wrap="square" lIns="0" tIns="0" rIns="0" bIns="0" rtlCol="0" anchor="ctr"/>
          <a:lstStyle/>
          <a:p>
            <a:pPr indent="0" marL="0">
              <a:buNone/>
            </a:pPr>
            <a:r>
              <a:rPr lang="en-US" sz="1300" b="1" dirty="0">
                <a:solidFill>
                  <a:schemeClr val="tx2"/>
                </a:solidFill>
              </a:rPr>
              <a:t>Checklist propre au type d'ouvrage</a:t>
            </a:r>
            <a:endParaRPr lang="en-US" sz="1300" dirty="0"/>
          </a:p>
        </p:txBody>
      </p:sp>
      <p:sp>
        <p:nvSpPr>
          <p:cNvPr id="18" name="Text 13"/>
          <p:cNvSpPr txBox="1"/>
          <p:nvPr/>
        </p:nvSpPr>
        <p:spPr>
          <a:xfrm>
            <a:off x="5715000" y="3282696"/>
            <a:ext cx="5943600" cy="630936"/>
          </a:xfrm>
          <a:prstGeom prst="rect">
            <a:avLst/>
          </a:prstGeom>
          <a:noFill/>
          <a:ln/>
        </p:spPr>
        <p:txBody>
          <a:bodyPr wrap="square" lIns="0" tIns="0" rIns="0" bIns="0" rtlCol="0" anchor="t"/>
          <a:lstStyle/>
          <a:p>
            <a:pPr indent="0" marL="0">
              <a:buNone/>
            </a:pPr>
            <a:r>
              <a:rPr lang="en-US" sz="1200" dirty="0">
                <a:solidFill>
                  <a:schemeClr val="tx1"/>
                </a:solidFill>
              </a:rPr>
              <a:t>Six points pour un système d'eau. Le premier est la consignation électrique : sans elle, pas de clôture.</a:t>
            </a:r>
            <a:endParaRPr lang="en-US" sz="1200" dirty="0"/>
          </a:p>
        </p:txBody>
      </p:sp>
      <p:sp>
        <p:nvSpPr>
          <p:cNvPr id="19" name="Shape 14"/>
          <p:cNvSpPr/>
          <p:nvPr/>
        </p:nvSpPr>
        <p:spPr>
          <a:xfrm>
            <a:off x="5257800" y="3977640"/>
            <a:ext cx="329184" cy="329184"/>
          </a:xfrm>
          <a:prstGeom prst="ellipse">
            <a:avLst/>
          </a:prstGeom>
          <a:solidFill>
            <a:schemeClr val="accent2"/>
          </a:solidFill>
          <a:ln w="19050">
            <a:solidFill>
              <a:schemeClr val="bg1"/>
            </a:solidFill>
            <a:prstDash val="solid"/>
          </a:ln>
        </p:spPr>
      </p:sp>
      <p:sp>
        <p:nvSpPr>
          <p:cNvPr id="20" name="Text 15"/>
          <p:cNvSpPr txBox="1"/>
          <p:nvPr/>
        </p:nvSpPr>
        <p:spPr>
          <a:xfrm>
            <a:off x="5257800" y="397764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21" name="Text 16"/>
          <p:cNvSpPr txBox="1"/>
          <p:nvPr/>
        </p:nvSpPr>
        <p:spPr>
          <a:xfrm>
            <a:off x="5715000" y="3959352"/>
            <a:ext cx="5943600" cy="274320"/>
          </a:xfrm>
          <a:prstGeom prst="rect">
            <a:avLst/>
          </a:prstGeom>
          <a:noFill/>
          <a:ln/>
        </p:spPr>
        <p:txBody>
          <a:bodyPr wrap="square" lIns="0" tIns="0" rIns="0" bIns="0" rtlCol="0" anchor="ctr"/>
          <a:lstStyle/>
          <a:p>
            <a:pPr indent="0" marL="0">
              <a:buNone/>
            </a:pPr>
            <a:r>
              <a:rPr lang="en-US" sz="1300" b="1" dirty="0">
                <a:solidFill>
                  <a:schemeClr val="tx2"/>
                </a:solidFill>
              </a:rPr>
              <a:t>La pièce posée et son numéro de série</a:t>
            </a:r>
            <a:endParaRPr lang="en-US" sz="1300" dirty="0"/>
          </a:p>
        </p:txBody>
      </p:sp>
      <p:sp>
        <p:nvSpPr>
          <p:cNvPr id="22" name="Text 17"/>
          <p:cNvSpPr txBox="1"/>
          <p:nvPr/>
        </p:nvSpPr>
        <p:spPr>
          <a:xfrm>
            <a:off x="5715000" y="4242816"/>
            <a:ext cx="5943600" cy="630936"/>
          </a:xfrm>
          <a:prstGeom prst="rect">
            <a:avLst/>
          </a:prstGeom>
          <a:noFill/>
          <a:ln/>
        </p:spPr>
        <p:txBody>
          <a:bodyPr wrap="square" lIns="0" tIns="0" rIns="0" bIns="0" rtlCol="0" anchor="t"/>
          <a:lstStyle/>
          <a:p>
            <a:pPr indent="0" marL="0">
              <a:buNone/>
            </a:pPr>
            <a:r>
              <a:rPr lang="en-US" sz="1200" dirty="0">
                <a:solidFill>
                  <a:schemeClr val="tx1"/>
                </a:solidFill>
              </a:rPr>
              <a:t>La pompe de 2019 est déposée, renvoyée au magasin pour expertise ; la nouvelle entre dans le registre.</a:t>
            </a:r>
            <a:endParaRPr lang="en-US" sz="1200" dirty="0"/>
          </a:p>
        </p:txBody>
      </p:sp>
      <p:sp>
        <p:nvSpPr>
          <p:cNvPr id="23" name="Shape 18"/>
          <p:cNvSpPr/>
          <p:nvPr/>
        </p:nvSpPr>
        <p:spPr>
          <a:xfrm>
            <a:off x="5257800" y="4937760"/>
            <a:ext cx="329184" cy="329184"/>
          </a:xfrm>
          <a:prstGeom prst="ellipse">
            <a:avLst/>
          </a:prstGeom>
          <a:solidFill>
            <a:schemeClr val="accent2"/>
          </a:solidFill>
          <a:ln w="19050">
            <a:solidFill>
              <a:schemeClr val="bg1"/>
            </a:solidFill>
            <a:prstDash val="solid"/>
          </a:ln>
        </p:spPr>
      </p:sp>
      <p:sp>
        <p:nvSpPr>
          <p:cNvPr id="24" name="Text 19"/>
          <p:cNvSpPr txBox="1"/>
          <p:nvPr/>
        </p:nvSpPr>
        <p:spPr>
          <a:xfrm>
            <a:off x="5257800" y="493776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4</a:t>
            </a:r>
            <a:endParaRPr lang="en-US" sz="1300" dirty="0"/>
          </a:p>
        </p:txBody>
      </p:sp>
      <p:sp>
        <p:nvSpPr>
          <p:cNvPr id="25" name="Text 20"/>
          <p:cNvSpPr txBox="1"/>
          <p:nvPr/>
        </p:nvSpPr>
        <p:spPr>
          <a:xfrm>
            <a:off x="5715000" y="4919472"/>
            <a:ext cx="5943600" cy="274320"/>
          </a:xfrm>
          <a:prstGeom prst="rect">
            <a:avLst/>
          </a:prstGeom>
          <a:noFill/>
          <a:ln/>
        </p:spPr>
        <p:txBody>
          <a:bodyPr wrap="square" lIns="0" tIns="0" rIns="0" bIns="0" rtlCol="0" anchor="ctr"/>
          <a:lstStyle/>
          <a:p>
            <a:pPr indent="0" marL="0">
              <a:buNone/>
            </a:pPr>
            <a:r>
              <a:rPr lang="en-US" sz="1300" b="1" dirty="0">
                <a:solidFill>
                  <a:schemeClr val="tx2"/>
                </a:solidFill>
              </a:rPr>
              <a:t>Mesures et photos</a:t>
            </a:r>
            <a:endParaRPr lang="en-US" sz="1300" dirty="0"/>
          </a:p>
        </p:txBody>
      </p:sp>
      <p:sp>
        <p:nvSpPr>
          <p:cNvPr id="26" name="Text 21"/>
          <p:cNvSpPr txBox="1"/>
          <p:nvPr/>
        </p:nvSpPr>
        <p:spPr>
          <a:xfrm>
            <a:off x="5715000" y="5202936"/>
            <a:ext cx="5943600" cy="630936"/>
          </a:xfrm>
          <a:prstGeom prst="rect">
            <a:avLst/>
          </a:prstGeom>
          <a:noFill/>
          <a:ln/>
        </p:spPr>
        <p:txBody>
          <a:bodyPr wrap="square" lIns="0" tIns="0" rIns="0" bIns="0" rtlCol="0" anchor="t"/>
          <a:lstStyle/>
          <a:p>
            <a:pPr indent="0" marL="0">
              <a:buNone/>
            </a:pPr>
            <a:r>
              <a:rPr lang="en-US" sz="1200" dirty="0">
                <a:solidFill>
                  <a:schemeClr val="tx1"/>
                </a:solidFill>
              </a:rPr>
              <a:t>Débit après intervention, coût, photos avant et après, horodatées et localisées.</a:t>
            </a:r>
            <a:endParaRPr lang="en-US" sz="1200" dirty="0"/>
          </a:p>
        </p:txBody>
      </p:sp>
      <p:sp>
        <p:nvSpPr>
          <p:cNvPr id="27" name="Text 22"/>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64 (couverture 4G visée à 90 %). Application de terrain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CLÔTURE ET RETOUR À L'HABITANT</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La réparation est synchronisée, puis confirmée</a:t>
            </a:r>
            <a:endParaRPr lang="en-US" sz="2800" dirty="0"/>
          </a:p>
        </p:txBody>
      </p:sp>
      <p:sp>
        <p:nvSpPr>
          <p:cNvPr id="5" name="Shape 2"/>
          <p:cNvSpPr/>
          <p:nvPr/>
        </p:nvSpPr>
        <p:spPr>
          <a:xfrm>
            <a:off x="548640" y="1517904"/>
            <a:ext cx="4846320" cy="329184"/>
          </a:xfrm>
          <a:prstGeom prst="roundRect">
            <a:avLst>
              <a:gd name="adj" fmla="val 50000"/>
            </a:avLst>
          </a:prstGeom>
          <a:solidFill>
            <a:schemeClr val="tx2"/>
          </a:solidFill>
          <a:ln/>
        </p:spPr>
      </p:sp>
      <p:sp>
        <p:nvSpPr>
          <p:cNvPr id="6" name="Text 3"/>
          <p:cNvSpPr txBox="1"/>
          <p:nvPr/>
        </p:nvSpPr>
        <p:spPr>
          <a:xfrm>
            <a:off x="713232" y="1517904"/>
            <a:ext cx="4572000" cy="329184"/>
          </a:xfrm>
          <a:prstGeom prst="rect">
            <a:avLst/>
          </a:prstGeom>
          <a:noFill/>
          <a:ln/>
        </p:spPr>
        <p:txBody>
          <a:bodyPr wrap="square" lIns="0" tIns="0" rIns="0" bIns="0" rtlCol="0" anchor="ctr"/>
          <a:lstStyle/>
          <a:p>
            <a:pPr indent="0" marL="0">
              <a:buNone/>
            </a:pPr>
            <a:r>
              <a:rPr lang="en-US" sz="1000" b="1" spc="150" kern="0" dirty="0">
                <a:solidFill>
                  <a:schemeClr val="accent2"/>
                </a:solidFill>
              </a:rPr>
              <a:t>ÉTAPES 8 ET 9  ·  TECHNICIEN, PUIS HABITANT</a:t>
            </a:r>
            <a:endParaRPr lang="en-US" sz="1000" dirty="0"/>
          </a:p>
        </p:txBody>
      </p:sp>
      <p:sp>
        <p:nvSpPr>
          <p:cNvPr id="7" name="Shape 4"/>
          <p:cNvSpPr/>
          <p:nvPr/>
        </p:nvSpPr>
        <p:spPr>
          <a:xfrm>
            <a:off x="685800" y="2057400"/>
            <a:ext cx="1997964" cy="3886200"/>
          </a:xfrm>
          <a:prstGeom prst="roundRect">
            <a:avLst>
              <a:gd name="adj" fmla="val 10069"/>
            </a:avLst>
          </a:prstGeom>
          <a:solidFill>
            <a:schemeClr val="tx2"/>
          </a:solidFill>
          <a:ln/>
          <a:effectLst>
            <a:outerShdw sx="100000" sy="100000" kx="0" ky="0" algn="bl" rotWithShape="0" blurRad="127000" dist="50800" dir="5400000">
              <a:srgbClr val="253970">
                <a:alpha val="25000"/>
              </a:srgbClr>
            </a:outerShdw>
          </a:effectLst>
        </p:spPr>
      </p:sp>
      <p:pic>
        <p:nvPicPr>
          <p:cNvPr id="8" name="Image 0" descr="Intervention clôturée et synchronisée">    </p:cNvPr>
          <p:cNvPicPr>
            <a:picLocks noChangeAspect="1"/>
          </p:cNvPicPr>
          <p:nvPr/>
        </p:nvPicPr>
        <p:blipFill>
          <a:blip r:embed="rId1"/>
          <a:stretch>
            <a:fillRect/>
          </a:stretch>
        </p:blipFill>
        <p:spPr>
          <a:xfrm>
            <a:off x="740664" y="2112264"/>
            <a:ext cx="1888236" cy="3776472"/>
          </a:xfrm>
          <a:prstGeom prst="rect">
            <a:avLst/>
          </a:prstGeom>
        </p:spPr>
      </p:pic>
      <p:sp>
        <p:nvSpPr>
          <p:cNvPr id="9" name="Shape 5"/>
          <p:cNvSpPr/>
          <p:nvPr/>
        </p:nvSpPr>
        <p:spPr>
          <a:xfrm>
            <a:off x="2926080" y="2057400"/>
            <a:ext cx="1997964" cy="3886200"/>
          </a:xfrm>
          <a:prstGeom prst="roundRect">
            <a:avLst>
              <a:gd name="adj" fmla="val 10069"/>
            </a:avLst>
          </a:prstGeom>
          <a:solidFill>
            <a:schemeClr val="tx2"/>
          </a:solidFill>
          <a:ln/>
          <a:effectLst>
            <a:outerShdw sx="100000" sy="100000" kx="0" ky="0" algn="bl" rotWithShape="0" blurRad="127000" dist="50800" dir="5400000">
              <a:srgbClr val="253970">
                <a:alpha val="25000"/>
              </a:srgbClr>
            </a:outerShdw>
          </a:effectLst>
        </p:spPr>
      </p:sp>
      <p:pic>
        <p:nvPicPr>
          <p:cNvPr id="10" name="Image 1" descr="Suivi du signalement par l'habitant">    </p:cNvPr>
          <p:cNvPicPr>
            <a:picLocks noChangeAspect="1"/>
          </p:cNvPicPr>
          <p:nvPr/>
        </p:nvPicPr>
        <p:blipFill>
          <a:blip r:embed="rId2"/>
          <a:stretch>
            <a:fillRect/>
          </a:stretch>
        </p:blipFill>
        <p:spPr>
          <a:xfrm>
            <a:off x="2980944" y="2112264"/>
            <a:ext cx="1888236" cy="3776472"/>
          </a:xfrm>
          <a:prstGeom prst="rect">
            <a:avLst/>
          </a:prstGeom>
        </p:spPr>
      </p:pic>
      <p:sp>
        <p:nvSpPr>
          <p:cNvPr id="11" name="Shape 6"/>
          <p:cNvSpPr/>
          <p:nvPr/>
        </p:nvSpPr>
        <p:spPr>
          <a:xfrm>
            <a:off x="5257800" y="2057400"/>
            <a:ext cx="329184" cy="329184"/>
          </a:xfrm>
          <a:prstGeom prst="ellipse">
            <a:avLst/>
          </a:prstGeom>
          <a:solidFill>
            <a:schemeClr val="accent2"/>
          </a:solidFill>
          <a:ln w="19050">
            <a:solidFill>
              <a:schemeClr val="bg1"/>
            </a:solidFill>
            <a:prstDash val="solid"/>
          </a:ln>
        </p:spPr>
      </p:sp>
      <p:sp>
        <p:nvSpPr>
          <p:cNvPr id="12" name="Text 7"/>
          <p:cNvSpPr txBox="1"/>
          <p:nvPr/>
        </p:nvSpPr>
        <p:spPr>
          <a:xfrm>
            <a:off x="5257800" y="205740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13" name="Text 8"/>
          <p:cNvSpPr txBox="1"/>
          <p:nvPr/>
        </p:nvSpPr>
        <p:spPr>
          <a:xfrm>
            <a:off x="5715000" y="2039112"/>
            <a:ext cx="5943600" cy="274320"/>
          </a:xfrm>
          <a:prstGeom prst="rect">
            <a:avLst/>
          </a:prstGeom>
          <a:noFill/>
          <a:ln/>
        </p:spPr>
        <p:txBody>
          <a:bodyPr wrap="square" lIns="0" tIns="0" rIns="0" bIns="0" rtlCol="0" anchor="ctr"/>
          <a:lstStyle/>
          <a:p>
            <a:pPr indent="0" marL="0">
              <a:buNone/>
            </a:pPr>
            <a:r>
              <a:rPr lang="en-US" sz="1300" b="1" dirty="0">
                <a:solidFill>
                  <a:schemeClr val="tx2"/>
                </a:solidFill>
              </a:rPr>
              <a:t>Deux horodatages distincts</a:t>
            </a:r>
            <a:endParaRPr lang="en-US" sz="1300" dirty="0"/>
          </a:p>
        </p:txBody>
      </p:sp>
      <p:sp>
        <p:nvSpPr>
          <p:cNvPr id="14" name="Text 9"/>
          <p:cNvSpPr txBox="1"/>
          <p:nvPr/>
        </p:nvSpPr>
        <p:spPr>
          <a:xfrm>
            <a:off x="5715000" y="2322576"/>
            <a:ext cx="5943600" cy="630936"/>
          </a:xfrm>
          <a:prstGeom prst="rect">
            <a:avLst/>
          </a:prstGeom>
          <a:noFill/>
          <a:ln/>
        </p:spPr>
        <p:txBody>
          <a:bodyPr wrap="square" lIns="0" tIns="0" rIns="0" bIns="0" rtlCol="0" anchor="t"/>
          <a:lstStyle/>
          <a:p>
            <a:pPr indent="0" marL="0">
              <a:buNone/>
            </a:pPr>
            <a:r>
              <a:rPr lang="en-US" sz="1200" dirty="0">
                <a:solidFill>
                  <a:schemeClr val="tx1"/>
                </a:solidFill>
              </a:rPr>
              <a:t>Enregistrée sur le téléphone, puis synchronisée : on sait quand le travail a été fait, pas seulement quand il a été transmis.</a:t>
            </a:r>
            <a:endParaRPr lang="en-US" sz="1200" dirty="0"/>
          </a:p>
        </p:txBody>
      </p:sp>
      <p:sp>
        <p:nvSpPr>
          <p:cNvPr id="15" name="Shape 10"/>
          <p:cNvSpPr/>
          <p:nvPr/>
        </p:nvSpPr>
        <p:spPr>
          <a:xfrm>
            <a:off x="5257800" y="3017520"/>
            <a:ext cx="329184" cy="329184"/>
          </a:xfrm>
          <a:prstGeom prst="ellipse">
            <a:avLst/>
          </a:prstGeom>
          <a:solidFill>
            <a:schemeClr val="accent2"/>
          </a:solidFill>
          <a:ln w="19050">
            <a:solidFill>
              <a:schemeClr val="bg1"/>
            </a:solidFill>
            <a:prstDash val="solid"/>
          </a:ln>
        </p:spPr>
      </p:sp>
      <p:sp>
        <p:nvSpPr>
          <p:cNvPr id="16" name="Text 11"/>
          <p:cNvSpPr txBox="1"/>
          <p:nvPr/>
        </p:nvSpPr>
        <p:spPr>
          <a:xfrm>
            <a:off x="5257800" y="301752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17" name="Text 12"/>
          <p:cNvSpPr txBox="1"/>
          <p:nvPr/>
        </p:nvSpPr>
        <p:spPr>
          <a:xfrm>
            <a:off x="5715000" y="2999232"/>
            <a:ext cx="5943600" cy="274320"/>
          </a:xfrm>
          <a:prstGeom prst="rect">
            <a:avLst/>
          </a:prstGeom>
          <a:noFill/>
          <a:ln/>
        </p:spPr>
        <p:txBody>
          <a:bodyPr wrap="square" lIns="0" tIns="0" rIns="0" bIns="0" rtlCol="0" anchor="ctr"/>
          <a:lstStyle/>
          <a:p>
            <a:pPr indent="0" marL="0">
              <a:buNone/>
            </a:pPr>
            <a:r>
              <a:rPr lang="en-US" sz="1300" b="1" dirty="0">
                <a:solidFill>
                  <a:schemeClr val="tx2"/>
                </a:solidFill>
              </a:rPr>
              <a:t>Le même dossier pour tous</a:t>
            </a:r>
            <a:endParaRPr lang="en-US" sz="1300" dirty="0"/>
          </a:p>
        </p:txBody>
      </p:sp>
      <p:sp>
        <p:nvSpPr>
          <p:cNvPr id="18" name="Text 13"/>
          <p:cNvSpPr txBox="1"/>
          <p:nvPr/>
        </p:nvSpPr>
        <p:spPr>
          <a:xfrm>
            <a:off x="5715000" y="3282696"/>
            <a:ext cx="5943600" cy="630936"/>
          </a:xfrm>
          <a:prstGeom prst="rect">
            <a:avLst/>
          </a:prstGeom>
          <a:noFill/>
          <a:ln/>
        </p:spPr>
        <p:txBody>
          <a:bodyPr wrap="square" lIns="0" tIns="0" rIns="0" bIns="0" rtlCol="0" anchor="t"/>
          <a:lstStyle/>
          <a:p>
            <a:pPr indent="0" marL="0">
              <a:buNone/>
            </a:pPr>
            <a:r>
              <a:rPr lang="en-US" sz="1200" dirty="0">
                <a:solidFill>
                  <a:schemeClr val="tx1"/>
                </a:solidFill>
              </a:rPr>
              <a:t>Ce que voit l'habitant vient du même dossier que celui de la commune : rien n'est ressaisi.</a:t>
            </a:r>
            <a:endParaRPr lang="en-US" sz="1200" dirty="0"/>
          </a:p>
        </p:txBody>
      </p:sp>
      <p:sp>
        <p:nvSpPr>
          <p:cNvPr id="19" name="Shape 14"/>
          <p:cNvSpPr/>
          <p:nvPr/>
        </p:nvSpPr>
        <p:spPr>
          <a:xfrm>
            <a:off x="5257800" y="3977640"/>
            <a:ext cx="329184" cy="329184"/>
          </a:xfrm>
          <a:prstGeom prst="ellipse">
            <a:avLst/>
          </a:prstGeom>
          <a:solidFill>
            <a:schemeClr val="accent2"/>
          </a:solidFill>
          <a:ln w="19050">
            <a:solidFill>
              <a:schemeClr val="bg1"/>
            </a:solidFill>
            <a:prstDash val="solid"/>
          </a:ln>
        </p:spPr>
      </p:sp>
      <p:sp>
        <p:nvSpPr>
          <p:cNvPr id="20" name="Text 15"/>
          <p:cNvSpPr txBox="1"/>
          <p:nvPr/>
        </p:nvSpPr>
        <p:spPr>
          <a:xfrm>
            <a:off x="5257800" y="397764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21" name="Text 16"/>
          <p:cNvSpPr txBox="1"/>
          <p:nvPr/>
        </p:nvSpPr>
        <p:spPr>
          <a:xfrm>
            <a:off x="5715000" y="3959352"/>
            <a:ext cx="5943600" cy="274320"/>
          </a:xfrm>
          <a:prstGeom prst="rect">
            <a:avLst/>
          </a:prstGeom>
          <a:noFill/>
          <a:ln/>
        </p:spPr>
        <p:txBody>
          <a:bodyPr wrap="square" lIns="0" tIns="0" rIns="0" bIns="0" rtlCol="0" anchor="ctr"/>
          <a:lstStyle/>
          <a:p>
            <a:pPr indent="0" marL="0">
              <a:buNone/>
            </a:pPr>
            <a:r>
              <a:rPr lang="en-US" sz="1300" b="1" dirty="0">
                <a:solidFill>
                  <a:schemeClr val="tx2"/>
                </a:solidFill>
              </a:rPr>
              <a:t>Le délai réel est connu</a:t>
            </a:r>
            <a:endParaRPr lang="en-US" sz="1300" dirty="0"/>
          </a:p>
        </p:txBody>
      </p:sp>
      <p:sp>
        <p:nvSpPr>
          <p:cNvPr id="22" name="Text 17"/>
          <p:cNvSpPr txBox="1"/>
          <p:nvPr/>
        </p:nvSpPr>
        <p:spPr>
          <a:xfrm>
            <a:off x="5715000" y="4242816"/>
            <a:ext cx="5943600" cy="630936"/>
          </a:xfrm>
          <a:prstGeom prst="rect">
            <a:avLst/>
          </a:prstGeom>
          <a:noFill/>
          <a:ln/>
        </p:spPr>
        <p:txBody>
          <a:bodyPr wrap="square" lIns="0" tIns="0" rIns="0" bIns="0" rtlCol="0" anchor="t"/>
          <a:lstStyle/>
          <a:p>
            <a:pPr indent="0" marL="0">
              <a:buNone/>
            </a:pPr>
            <a:r>
              <a:rPr lang="en-US" sz="1200" dirty="0">
                <a:solidFill>
                  <a:schemeClr val="tx1"/>
                </a:solidFill>
              </a:rPr>
              <a:t>Eau rétablie 29 h après le signalement, pour un délai visé de 48 h.</a:t>
            </a:r>
            <a:endParaRPr lang="en-US" sz="1200" dirty="0"/>
          </a:p>
        </p:txBody>
      </p:sp>
      <p:sp>
        <p:nvSpPr>
          <p:cNvPr id="23" name="Shape 18"/>
          <p:cNvSpPr/>
          <p:nvPr/>
        </p:nvSpPr>
        <p:spPr>
          <a:xfrm>
            <a:off x="5257800" y="4937760"/>
            <a:ext cx="329184" cy="329184"/>
          </a:xfrm>
          <a:prstGeom prst="ellipse">
            <a:avLst/>
          </a:prstGeom>
          <a:solidFill>
            <a:schemeClr val="accent2"/>
          </a:solidFill>
          <a:ln w="19050">
            <a:solidFill>
              <a:schemeClr val="bg1"/>
            </a:solidFill>
            <a:prstDash val="solid"/>
          </a:ln>
        </p:spPr>
      </p:sp>
      <p:sp>
        <p:nvSpPr>
          <p:cNvPr id="24" name="Text 19"/>
          <p:cNvSpPr txBox="1"/>
          <p:nvPr/>
        </p:nvSpPr>
        <p:spPr>
          <a:xfrm>
            <a:off x="5257800" y="493776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4</a:t>
            </a:r>
            <a:endParaRPr lang="en-US" sz="1300" dirty="0"/>
          </a:p>
        </p:txBody>
      </p:sp>
      <p:sp>
        <p:nvSpPr>
          <p:cNvPr id="25" name="Text 20"/>
          <p:cNvSpPr txBox="1"/>
          <p:nvPr/>
        </p:nvSpPr>
        <p:spPr>
          <a:xfrm>
            <a:off x="5715000" y="4919472"/>
            <a:ext cx="5943600" cy="274320"/>
          </a:xfrm>
          <a:prstGeom prst="rect">
            <a:avLst/>
          </a:prstGeom>
          <a:noFill/>
          <a:ln/>
        </p:spPr>
        <p:txBody>
          <a:bodyPr wrap="square" lIns="0" tIns="0" rIns="0" bIns="0" rtlCol="0" anchor="ctr"/>
          <a:lstStyle/>
          <a:p>
            <a:pPr indent="0" marL="0">
              <a:buNone/>
            </a:pPr>
            <a:r>
              <a:rPr lang="en-US" sz="1300" b="1" dirty="0">
                <a:solidFill>
                  <a:schemeClr val="tx2"/>
                </a:solidFill>
              </a:rPr>
              <a:t>L'habitant confirme</a:t>
            </a:r>
            <a:endParaRPr lang="en-US" sz="1300" dirty="0"/>
          </a:p>
        </p:txBody>
      </p:sp>
      <p:sp>
        <p:nvSpPr>
          <p:cNvPr id="26" name="Text 21"/>
          <p:cNvSpPr txBox="1"/>
          <p:nvPr/>
        </p:nvSpPr>
        <p:spPr>
          <a:xfrm>
            <a:off x="5715000" y="5202936"/>
            <a:ext cx="5943600" cy="630936"/>
          </a:xfrm>
          <a:prstGeom prst="rect">
            <a:avLst/>
          </a:prstGeom>
          <a:noFill/>
          <a:ln/>
        </p:spPr>
        <p:txBody>
          <a:bodyPr wrap="square" lIns="0" tIns="0" rIns="0" bIns="0" rtlCol="0" anchor="t"/>
          <a:lstStyle/>
          <a:p>
            <a:pPr indent="0" marL="0">
              <a:buNone/>
            </a:pPr>
            <a:r>
              <a:rPr lang="en-US" sz="1200" dirty="0">
                <a:solidFill>
                  <a:schemeClr val="tx1"/>
                </a:solidFill>
              </a:rPr>
              <a:t>« Le problème est-il réglé ? » Un « non » rouvre le signalement pour la commune.</a:t>
            </a:r>
            <a:endParaRPr lang="en-US" sz="1200" dirty="0"/>
          </a:p>
        </p:txBody>
      </p:sp>
      <p:sp>
        <p:nvSpPr>
          <p:cNvPr id="27" name="Text 22"/>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47 (retours usagers). Parcours et preuve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LA FICHE DE L'OUVRAGE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La fiche de l'ouvrage garde toute son histoire</a:t>
            </a:r>
            <a:endParaRPr lang="en-US" sz="2800" dirty="0"/>
          </a:p>
        </p:txBody>
      </p:sp>
      <p:sp>
        <p:nvSpPr>
          <p:cNvPr id="5" name="Shape 2"/>
          <p:cNvSpPr/>
          <p:nvPr/>
        </p:nvSpPr>
        <p:spPr>
          <a:xfrm>
            <a:off x="548640" y="1517904"/>
            <a:ext cx="4846320" cy="329184"/>
          </a:xfrm>
          <a:prstGeom prst="roundRect">
            <a:avLst>
              <a:gd name="adj" fmla="val 50000"/>
            </a:avLst>
          </a:prstGeom>
          <a:solidFill>
            <a:schemeClr val="tx2"/>
          </a:solidFill>
          <a:ln/>
        </p:spPr>
      </p:sp>
      <p:sp>
        <p:nvSpPr>
          <p:cNvPr id="6" name="Text 3"/>
          <p:cNvSpPr txBox="1"/>
          <p:nvPr/>
        </p:nvSpPr>
        <p:spPr>
          <a:xfrm>
            <a:off x="713232" y="1517904"/>
            <a:ext cx="4572000" cy="329184"/>
          </a:xfrm>
          <a:prstGeom prst="rect">
            <a:avLst/>
          </a:prstGeom>
          <a:noFill/>
          <a:ln/>
        </p:spPr>
        <p:txBody>
          <a:bodyPr wrap="square" lIns="0" tIns="0" rIns="0" bIns="0" rtlCol="0" anchor="ctr"/>
          <a:lstStyle/>
          <a:p>
            <a:pPr indent="0" marL="0">
              <a:buNone/>
            </a:pPr>
            <a:r>
              <a:rPr lang="en-US" sz="1000" b="1" spc="150" kern="0" dirty="0">
                <a:solidFill>
                  <a:schemeClr val="accent2"/>
                </a:solidFill>
              </a:rPr>
              <a:t>ÉTAPE 10  ·  COMMUNE</a:t>
            </a:r>
            <a:endParaRPr lang="en-US" sz="1000" dirty="0"/>
          </a:p>
        </p:txBody>
      </p:sp>
      <p:sp>
        <p:nvSpPr>
          <p:cNvPr id="7" name="Shape 4"/>
          <p:cNvSpPr/>
          <p:nvPr/>
        </p:nvSpPr>
        <p:spPr>
          <a:xfrm>
            <a:off x="548640" y="2103120"/>
            <a:ext cx="5577840" cy="3723894"/>
          </a:xfrm>
          <a:prstGeom prst="rect">
            <a:avLst/>
          </a:prstGeom>
          <a:solidFill>
            <a:schemeClr val="bg1"/>
          </a:solidFill>
          <a:ln w="9525">
            <a:solidFill>
              <a:schemeClr val="accent6"/>
            </a:solidFill>
            <a:prstDash val="solid"/>
          </a:ln>
          <a:effectLst>
            <a:outerShdw sx="100000" sy="100000" kx="0" ky="0" algn="bl" rotWithShape="0" blurRad="101600" dist="38100" dir="5400000">
              <a:srgbClr val="253970">
                <a:alpha val="18000"/>
              </a:srgbClr>
            </a:outerShdw>
          </a:effectLst>
        </p:spPr>
      </p:sp>
      <p:sp>
        <p:nvSpPr>
          <p:cNvPr id="8" name="Shape 5"/>
          <p:cNvSpPr/>
          <p:nvPr/>
        </p:nvSpPr>
        <p:spPr>
          <a:xfrm>
            <a:off x="548640" y="2103120"/>
            <a:ext cx="5577840" cy="237744"/>
          </a:xfrm>
          <a:prstGeom prst="rect">
            <a:avLst/>
          </a:prstGeom>
          <a:solidFill>
            <a:schemeClr val="bg2"/>
          </a:solidFill>
          <a:ln/>
        </p:spPr>
      </p:sp>
      <p:sp>
        <p:nvSpPr>
          <p:cNvPr id="9" name="Shape 6"/>
          <p:cNvSpPr/>
          <p:nvPr/>
        </p:nvSpPr>
        <p:spPr>
          <a:xfrm>
            <a:off x="658368" y="2176272"/>
            <a:ext cx="91440" cy="91440"/>
          </a:xfrm>
          <a:prstGeom prst="ellipse">
            <a:avLst/>
          </a:prstGeom>
          <a:solidFill>
            <a:srgbClr val="F2B134"/>
          </a:solidFill>
          <a:ln/>
        </p:spPr>
      </p:sp>
      <p:sp>
        <p:nvSpPr>
          <p:cNvPr id="10" name="Shape 7"/>
          <p:cNvSpPr/>
          <p:nvPr/>
        </p:nvSpPr>
        <p:spPr>
          <a:xfrm>
            <a:off x="804672" y="2176272"/>
            <a:ext cx="91440" cy="91440"/>
          </a:xfrm>
          <a:prstGeom prst="ellipse">
            <a:avLst/>
          </a:prstGeom>
          <a:solidFill>
            <a:srgbClr val="C7DDED"/>
          </a:solidFill>
          <a:ln/>
        </p:spPr>
      </p:sp>
      <p:sp>
        <p:nvSpPr>
          <p:cNvPr id="11" name="Shape 8"/>
          <p:cNvSpPr/>
          <p:nvPr/>
        </p:nvSpPr>
        <p:spPr>
          <a:xfrm>
            <a:off x="950976" y="2176272"/>
            <a:ext cx="91440" cy="91440"/>
          </a:xfrm>
          <a:prstGeom prst="ellipse">
            <a:avLst/>
          </a:prstGeom>
          <a:solidFill>
            <a:srgbClr val="8E9CCB"/>
          </a:solidFill>
          <a:ln/>
        </p:spPr>
      </p:sp>
      <p:pic>
        <p:nvPicPr>
          <p:cNvPr id="12" name="Image 0" descr="Fiche d'un ouvrage avec pièces et historique">    </p:cNvPr>
          <p:cNvPicPr>
            <a:picLocks noChangeAspect="1"/>
          </p:cNvPicPr>
          <p:nvPr/>
        </p:nvPicPr>
        <p:blipFill>
          <a:blip r:embed="rId1"/>
          <a:stretch>
            <a:fillRect/>
          </a:stretch>
        </p:blipFill>
        <p:spPr>
          <a:xfrm>
            <a:off x="548640" y="2340864"/>
            <a:ext cx="5577840" cy="3486150"/>
          </a:xfrm>
          <a:prstGeom prst="rect">
            <a:avLst/>
          </a:prstGeom>
        </p:spPr>
      </p:pic>
      <p:sp>
        <p:nvSpPr>
          <p:cNvPr id="13" name="Shape 9"/>
          <p:cNvSpPr/>
          <p:nvPr/>
        </p:nvSpPr>
        <p:spPr>
          <a:xfrm>
            <a:off x="6446520" y="2148840"/>
            <a:ext cx="329184" cy="329184"/>
          </a:xfrm>
          <a:prstGeom prst="ellipse">
            <a:avLst/>
          </a:prstGeom>
          <a:solidFill>
            <a:schemeClr val="accent2"/>
          </a:solidFill>
          <a:ln w="19050">
            <a:solidFill>
              <a:schemeClr val="bg1"/>
            </a:solidFill>
            <a:prstDash val="solid"/>
          </a:ln>
        </p:spPr>
      </p:sp>
      <p:sp>
        <p:nvSpPr>
          <p:cNvPr id="14" name="Text 10"/>
          <p:cNvSpPr txBox="1"/>
          <p:nvPr/>
        </p:nvSpPr>
        <p:spPr>
          <a:xfrm>
            <a:off x="6446520" y="214884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15" name="Text 11"/>
          <p:cNvSpPr txBox="1"/>
          <p:nvPr/>
        </p:nvSpPr>
        <p:spPr>
          <a:xfrm>
            <a:off x="6903720" y="2130552"/>
            <a:ext cx="4754880" cy="274320"/>
          </a:xfrm>
          <a:prstGeom prst="rect">
            <a:avLst/>
          </a:prstGeom>
          <a:noFill/>
          <a:ln/>
        </p:spPr>
        <p:txBody>
          <a:bodyPr wrap="square" lIns="0" tIns="0" rIns="0" bIns="0" rtlCol="0" anchor="ctr"/>
          <a:lstStyle/>
          <a:p>
            <a:pPr indent="0" marL="0">
              <a:buNone/>
            </a:pPr>
            <a:r>
              <a:rPr lang="en-US" sz="1300" b="1" dirty="0">
                <a:solidFill>
                  <a:schemeClr val="tx2"/>
                </a:solidFill>
              </a:rPr>
              <a:t>Les pièces suivies, une par une</a:t>
            </a:r>
            <a:endParaRPr lang="en-US" sz="1300" dirty="0"/>
          </a:p>
        </p:txBody>
      </p:sp>
      <p:sp>
        <p:nvSpPr>
          <p:cNvPr id="16" name="Text 12"/>
          <p:cNvSpPr txBox="1"/>
          <p:nvPr/>
        </p:nvSpPr>
        <p:spPr>
          <a:xfrm>
            <a:off x="6903720" y="2414016"/>
            <a:ext cx="4754880" cy="630936"/>
          </a:xfrm>
          <a:prstGeom prst="rect">
            <a:avLst/>
          </a:prstGeom>
          <a:noFill/>
          <a:ln/>
        </p:spPr>
        <p:txBody>
          <a:bodyPr wrap="square" lIns="0" tIns="0" rIns="0" bIns="0" rtlCol="0" anchor="t"/>
          <a:lstStyle/>
          <a:p>
            <a:pPr indent="0" marL="0">
              <a:buNone/>
            </a:pPr>
            <a:r>
              <a:rPr lang="en-US" sz="1200" dirty="0">
                <a:solidFill>
                  <a:schemeClr val="tx1"/>
                </a:solidFill>
              </a:rPr>
              <a:t>Date de pose, âge rapporté à la durée de vie, garantie, numéro de série.</a:t>
            </a:r>
            <a:endParaRPr lang="en-US" sz="1200" dirty="0"/>
          </a:p>
        </p:txBody>
      </p:sp>
      <p:sp>
        <p:nvSpPr>
          <p:cNvPr id="17" name="Shape 13"/>
          <p:cNvSpPr/>
          <p:nvPr/>
        </p:nvSpPr>
        <p:spPr>
          <a:xfrm>
            <a:off x="6446520" y="3108960"/>
            <a:ext cx="329184" cy="329184"/>
          </a:xfrm>
          <a:prstGeom prst="ellipse">
            <a:avLst/>
          </a:prstGeom>
          <a:solidFill>
            <a:schemeClr val="accent2"/>
          </a:solidFill>
          <a:ln w="19050">
            <a:solidFill>
              <a:schemeClr val="bg1"/>
            </a:solidFill>
            <a:prstDash val="solid"/>
          </a:ln>
        </p:spPr>
      </p:sp>
      <p:sp>
        <p:nvSpPr>
          <p:cNvPr id="18" name="Text 14"/>
          <p:cNvSpPr txBox="1"/>
          <p:nvPr/>
        </p:nvSpPr>
        <p:spPr>
          <a:xfrm>
            <a:off x="6446520" y="310896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19" name="Text 15"/>
          <p:cNvSpPr txBox="1"/>
          <p:nvPr/>
        </p:nvSpPr>
        <p:spPr>
          <a:xfrm>
            <a:off x="6903720" y="3090672"/>
            <a:ext cx="4754880" cy="274320"/>
          </a:xfrm>
          <a:prstGeom prst="rect">
            <a:avLst/>
          </a:prstGeom>
          <a:noFill/>
          <a:ln/>
        </p:spPr>
        <p:txBody>
          <a:bodyPr wrap="square" lIns="0" tIns="0" rIns="0" bIns="0" rtlCol="0" anchor="ctr"/>
          <a:lstStyle/>
          <a:p>
            <a:pPr indent="0" marL="0">
              <a:buNone/>
            </a:pPr>
            <a:r>
              <a:rPr lang="en-US" sz="1300" b="1" dirty="0">
                <a:solidFill>
                  <a:schemeClr val="tx2"/>
                </a:solidFill>
              </a:rPr>
              <a:t>L'historique de l'ouvrage</a:t>
            </a:r>
            <a:endParaRPr lang="en-US" sz="1300" dirty="0"/>
          </a:p>
        </p:txBody>
      </p:sp>
      <p:sp>
        <p:nvSpPr>
          <p:cNvPr id="20" name="Text 16"/>
          <p:cNvSpPr txBox="1"/>
          <p:nvPr/>
        </p:nvSpPr>
        <p:spPr>
          <a:xfrm>
            <a:off x="6903720" y="3374136"/>
            <a:ext cx="4754880" cy="630936"/>
          </a:xfrm>
          <a:prstGeom prst="rect">
            <a:avLst/>
          </a:prstGeom>
          <a:noFill/>
          <a:ln/>
        </p:spPr>
        <p:txBody>
          <a:bodyPr wrap="square" lIns="0" tIns="0" rIns="0" bIns="0" rtlCol="0" anchor="t"/>
          <a:lstStyle/>
          <a:p>
            <a:pPr indent="0" marL="0">
              <a:buNone/>
            </a:pPr>
            <a:r>
              <a:rPr lang="en-US" sz="1200" dirty="0">
                <a:solidFill>
                  <a:schemeClr val="tx1"/>
                </a:solidFill>
              </a:rPr>
              <a:t>Signalements, décisions, entretiens préventifs et réparations, avec leur coût.</a:t>
            </a:r>
            <a:endParaRPr lang="en-US" sz="1200" dirty="0"/>
          </a:p>
        </p:txBody>
      </p:sp>
      <p:sp>
        <p:nvSpPr>
          <p:cNvPr id="21" name="Shape 17"/>
          <p:cNvSpPr/>
          <p:nvPr/>
        </p:nvSpPr>
        <p:spPr>
          <a:xfrm>
            <a:off x="6446520" y="4069080"/>
            <a:ext cx="329184" cy="329184"/>
          </a:xfrm>
          <a:prstGeom prst="ellipse">
            <a:avLst/>
          </a:prstGeom>
          <a:solidFill>
            <a:schemeClr val="accent2"/>
          </a:solidFill>
          <a:ln w="19050">
            <a:solidFill>
              <a:schemeClr val="bg1"/>
            </a:solidFill>
            <a:prstDash val="solid"/>
          </a:ln>
        </p:spPr>
      </p:sp>
      <p:sp>
        <p:nvSpPr>
          <p:cNvPr id="22" name="Text 18"/>
          <p:cNvSpPr txBox="1"/>
          <p:nvPr/>
        </p:nvSpPr>
        <p:spPr>
          <a:xfrm>
            <a:off x="6446520" y="406908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23" name="Text 19"/>
          <p:cNvSpPr txBox="1"/>
          <p:nvPr/>
        </p:nvSpPr>
        <p:spPr>
          <a:xfrm>
            <a:off x="6903720" y="4050792"/>
            <a:ext cx="4754880" cy="274320"/>
          </a:xfrm>
          <a:prstGeom prst="rect">
            <a:avLst/>
          </a:prstGeom>
          <a:noFill/>
          <a:ln/>
        </p:spPr>
        <p:txBody>
          <a:bodyPr wrap="square" lIns="0" tIns="0" rIns="0" bIns="0" rtlCol="0" anchor="ctr"/>
          <a:lstStyle/>
          <a:p>
            <a:pPr indent="0" marL="0">
              <a:buNone/>
            </a:pPr>
            <a:r>
              <a:rPr lang="en-US" sz="1300" b="1" dirty="0">
                <a:solidFill>
                  <a:schemeClr val="tx2"/>
                </a:solidFill>
              </a:rPr>
              <a:t>Le coût réel de l'ouvrage</a:t>
            </a:r>
            <a:endParaRPr lang="en-US" sz="1300" dirty="0"/>
          </a:p>
        </p:txBody>
      </p:sp>
      <p:sp>
        <p:nvSpPr>
          <p:cNvPr id="24" name="Text 20"/>
          <p:cNvSpPr txBox="1"/>
          <p:nvPr/>
        </p:nvSpPr>
        <p:spPr>
          <a:xfrm>
            <a:off x="6903720" y="4334256"/>
            <a:ext cx="4754880" cy="630936"/>
          </a:xfrm>
          <a:prstGeom prst="rect">
            <a:avLst/>
          </a:prstGeom>
          <a:noFill/>
          <a:ln/>
        </p:spPr>
        <p:txBody>
          <a:bodyPr wrap="square" lIns="0" tIns="0" rIns="0" bIns="0" rtlCol="0" anchor="t"/>
          <a:lstStyle/>
          <a:p>
            <a:pPr indent="0" marL="0">
              <a:buNone/>
            </a:pPr>
            <a:r>
              <a:rPr lang="en-US" sz="1200" dirty="0">
                <a:solidFill>
                  <a:schemeClr val="tx1"/>
                </a:solidFill>
              </a:rPr>
              <a:t>1 673 000 FCFA sur 12 mois (fictif). C'est la base du coût de cycle de vie.</a:t>
            </a:r>
            <a:endParaRPr lang="en-US" sz="1200" dirty="0"/>
          </a:p>
        </p:txBody>
      </p:sp>
      <p:sp>
        <p:nvSpPr>
          <p:cNvPr id="25" name="Shape 21"/>
          <p:cNvSpPr/>
          <p:nvPr/>
        </p:nvSpPr>
        <p:spPr>
          <a:xfrm>
            <a:off x="6446520" y="5029200"/>
            <a:ext cx="329184" cy="329184"/>
          </a:xfrm>
          <a:prstGeom prst="ellipse">
            <a:avLst/>
          </a:prstGeom>
          <a:solidFill>
            <a:schemeClr val="accent2"/>
          </a:solidFill>
          <a:ln w="19050">
            <a:solidFill>
              <a:schemeClr val="bg1"/>
            </a:solidFill>
            <a:prstDash val="solid"/>
          </a:ln>
        </p:spPr>
      </p:sp>
      <p:sp>
        <p:nvSpPr>
          <p:cNvPr id="26" name="Text 22"/>
          <p:cNvSpPr txBox="1"/>
          <p:nvPr/>
        </p:nvSpPr>
        <p:spPr>
          <a:xfrm>
            <a:off x="6446520" y="502920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4</a:t>
            </a:r>
            <a:endParaRPr lang="en-US" sz="1300" dirty="0"/>
          </a:p>
        </p:txBody>
      </p:sp>
      <p:sp>
        <p:nvSpPr>
          <p:cNvPr id="27" name="Text 23"/>
          <p:cNvSpPr txBox="1"/>
          <p:nvPr/>
        </p:nvSpPr>
        <p:spPr>
          <a:xfrm>
            <a:off x="6903720" y="5010912"/>
            <a:ext cx="4754880" cy="274320"/>
          </a:xfrm>
          <a:prstGeom prst="rect">
            <a:avLst/>
          </a:prstGeom>
          <a:noFill/>
          <a:ln/>
        </p:spPr>
        <p:txBody>
          <a:bodyPr wrap="square" lIns="0" tIns="0" rIns="0" bIns="0" rtlCol="0" anchor="ctr"/>
          <a:lstStyle/>
          <a:p>
            <a:pPr indent="0" marL="0">
              <a:buNone/>
            </a:pPr>
            <a:r>
              <a:rPr lang="en-US" sz="1300" b="1" dirty="0">
                <a:solidFill>
                  <a:schemeClr val="tx2"/>
                </a:solidFill>
              </a:rPr>
              <a:t>Les documents rattachés</a:t>
            </a:r>
            <a:endParaRPr lang="en-US" sz="1300" dirty="0"/>
          </a:p>
        </p:txBody>
      </p:sp>
      <p:sp>
        <p:nvSpPr>
          <p:cNvPr id="28" name="Text 24"/>
          <p:cNvSpPr txBox="1"/>
          <p:nvPr/>
        </p:nvSpPr>
        <p:spPr>
          <a:xfrm>
            <a:off x="6903720" y="5294376"/>
            <a:ext cx="4754880" cy="630936"/>
          </a:xfrm>
          <a:prstGeom prst="rect">
            <a:avLst/>
          </a:prstGeom>
          <a:noFill/>
          <a:ln/>
        </p:spPr>
        <p:txBody>
          <a:bodyPr wrap="square" lIns="0" tIns="0" rIns="0" bIns="0" rtlCol="0" anchor="t"/>
          <a:lstStyle/>
          <a:p>
            <a:pPr indent="0" marL="0">
              <a:buNone/>
            </a:pPr>
            <a:r>
              <a:rPr lang="en-US" sz="1200" dirty="0">
                <a:solidFill>
                  <a:schemeClr val="tx1"/>
                </a:solidFill>
              </a:rPr>
              <a:t>PV de réception, plans, garanties : retrouvés en un clic, même après un changement d'équipe.</a:t>
            </a:r>
            <a:endParaRPr lang="en-US" sz="1200" dirty="0"/>
          </a:p>
        </p:txBody>
      </p:sp>
      <p:sp>
        <p:nvSpPr>
          <p:cNvPr id="29" name="Text 25"/>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Modèle 3D : ouvrage type à l'échelle (document 2). Montants fictifs.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INDICATEURS</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Les indicateurs se recalculent seuls</a:t>
            </a:r>
            <a:endParaRPr lang="en-US" sz="2800" dirty="0"/>
          </a:p>
        </p:txBody>
      </p:sp>
      <p:sp>
        <p:nvSpPr>
          <p:cNvPr id="5" name="Shape 2"/>
          <p:cNvSpPr/>
          <p:nvPr/>
        </p:nvSpPr>
        <p:spPr>
          <a:xfrm>
            <a:off x="548640" y="1517904"/>
            <a:ext cx="4846320" cy="329184"/>
          </a:xfrm>
          <a:prstGeom prst="roundRect">
            <a:avLst>
              <a:gd name="adj" fmla="val 50000"/>
            </a:avLst>
          </a:prstGeom>
          <a:solidFill>
            <a:schemeClr val="tx2"/>
          </a:solidFill>
          <a:ln/>
        </p:spPr>
      </p:sp>
      <p:sp>
        <p:nvSpPr>
          <p:cNvPr id="6" name="Text 3"/>
          <p:cNvSpPr txBox="1"/>
          <p:nvPr/>
        </p:nvSpPr>
        <p:spPr>
          <a:xfrm>
            <a:off x="713232" y="1517904"/>
            <a:ext cx="4572000" cy="329184"/>
          </a:xfrm>
          <a:prstGeom prst="rect">
            <a:avLst/>
          </a:prstGeom>
          <a:noFill/>
          <a:ln/>
        </p:spPr>
        <p:txBody>
          <a:bodyPr wrap="square" lIns="0" tIns="0" rIns="0" bIns="0" rtlCol="0" anchor="ctr"/>
          <a:lstStyle/>
          <a:p>
            <a:pPr indent="0" marL="0">
              <a:buNone/>
            </a:pPr>
            <a:r>
              <a:rPr lang="en-US" sz="1000" b="1" spc="150" kern="0" dirty="0">
                <a:solidFill>
                  <a:schemeClr val="accent2"/>
                </a:solidFill>
              </a:rPr>
              <a:t>ÉTAPE 11  ·  COMMUNE</a:t>
            </a:r>
            <a:endParaRPr lang="en-US" sz="1000" dirty="0"/>
          </a:p>
        </p:txBody>
      </p:sp>
      <p:sp>
        <p:nvSpPr>
          <p:cNvPr id="7" name="Shape 4"/>
          <p:cNvSpPr/>
          <p:nvPr/>
        </p:nvSpPr>
        <p:spPr>
          <a:xfrm>
            <a:off x="548640" y="2103120"/>
            <a:ext cx="5577840" cy="3723894"/>
          </a:xfrm>
          <a:prstGeom prst="rect">
            <a:avLst/>
          </a:prstGeom>
          <a:solidFill>
            <a:schemeClr val="bg1"/>
          </a:solidFill>
          <a:ln w="9525">
            <a:solidFill>
              <a:schemeClr val="accent6"/>
            </a:solidFill>
            <a:prstDash val="solid"/>
          </a:ln>
          <a:effectLst>
            <a:outerShdw sx="100000" sy="100000" kx="0" ky="0" algn="bl" rotWithShape="0" blurRad="101600" dist="38100" dir="5400000">
              <a:srgbClr val="253970">
                <a:alpha val="18000"/>
              </a:srgbClr>
            </a:outerShdw>
          </a:effectLst>
        </p:spPr>
      </p:sp>
      <p:sp>
        <p:nvSpPr>
          <p:cNvPr id="8" name="Shape 5"/>
          <p:cNvSpPr/>
          <p:nvPr/>
        </p:nvSpPr>
        <p:spPr>
          <a:xfrm>
            <a:off x="548640" y="2103120"/>
            <a:ext cx="5577840" cy="237744"/>
          </a:xfrm>
          <a:prstGeom prst="rect">
            <a:avLst/>
          </a:prstGeom>
          <a:solidFill>
            <a:schemeClr val="bg2"/>
          </a:solidFill>
          <a:ln/>
        </p:spPr>
      </p:sp>
      <p:sp>
        <p:nvSpPr>
          <p:cNvPr id="9" name="Shape 6"/>
          <p:cNvSpPr/>
          <p:nvPr/>
        </p:nvSpPr>
        <p:spPr>
          <a:xfrm>
            <a:off x="658368" y="2176272"/>
            <a:ext cx="91440" cy="91440"/>
          </a:xfrm>
          <a:prstGeom prst="ellipse">
            <a:avLst/>
          </a:prstGeom>
          <a:solidFill>
            <a:srgbClr val="F2B134"/>
          </a:solidFill>
          <a:ln/>
        </p:spPr>
      </p:sp>
      <p:sp>
        <p:nvSpPr>
          <p:cNvPr id="10" name="Shape 7"/>
          <p:cNvSpPr/>
          <p:nvPr/>
        </p:nvSpPr>
        <p:spPr>
          <a:xfrm>
            <a:off x="804672" y="2176272"/>
            <a:ext cx="91440" cy="91440"/>
          </a:xfrm>
          <a:prstGeom prst="ellipse">
            <a:avLst/>
          </a:prstGeom>
          <a:solidFill>
            <a:srgbClr val="C7DDED"/>
          </a:solidFill>
          <a:ln/>
        </p:spPr>
      </p:sp>
      <p:sp>
        <p:nvSpPr>
          <p:cNvPr id="11" name="Shape 8"/>
          <p:cNvSpPr/>
          <p:nvPr/>
        </p:nvSpPr>
        <p:spPr>
          <a:xfrm>
            <a:off x="950976" y="2176272"/>
            <a:ext cx="91440" cy="91440"/>
          </a:xfrm>
          <a:prstGeom prst="ellipse">
            <a:avLst/>
          </a:prstGeom>
          <a:solidFill>
            <a:srgbClr val="8E9CCB"/>
          </a:solidFill>
          <a:ln/>
        </p:spPr>
      </p:sp>
      <p:pic>
        <p:nvPicPr>
          <p:cNvPr id="12" name="Image 0" descr="Tableau de bord après le scénario">    </p:cNvPr>
          <p:cNvPicPr>
            <a:picLocks noChangeAspect="1"/>
          </p:cNvPicPr>
          <p:nvPr/>
        </p:nvPicPr>
        <p:blipFill>
          <a:blip r:embed="rId1"/>
          <a:stretch>
            <a:fillRect/>
          </a:stretch>
        </p:blipFill>
        <p:spPr>
          <a:xfrm>
            <a:off x="548640" y="2340864"/>
            <a:ext cx="5577840" cy="3486150"/>
          </a:xfrm>
          <a:prstGeom prst="rect">
            <a:avLst/>
          </a:prstGeom>
        </p:spPr>
      </p:pic>
      <p:sp>
        <p:nvSpPr>
          <p:cNvPr id="13" name="Text 9"/>
          <p:cNvSpPr txBox="1"/>
          <p:nvPr/>
        </p:nvSpPr>
        <p:spPr>
          <a:xfrm>
            <a:off x="6446520" y="2148840"/>
            <a:ext cx="521208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AVANT ET APRÈS LE SCÉNARIO</a:t>
            </a:r>
            <a:endParaRPr lang="en-US" sz="1100" dirty="0"/>
          </a:p>
        </p:txBody>
      </p:sp>
      <p:sp>
        <p:nvSpPr>
          <p:cNvPr id="14" name="ba0"/>
          <p:cNvSpPr/>
          <p:nvPr/>
        </p:nvSpPr>
        <p:spPr>
          <a:xfrm>
            <a:off x="6446520" y="2514600"/>
            <a:ext cx="5212080" cy="603504"/>
          </a:xfrm>
          <a:prstGeom prst="roundRect">
            <a:avLst>
              <a:gd name="adj" fmla="val 18182"/>
            </a:avLst>
          </a:prstGeom>
          <a:solidFill>
            <a:schemeClr val="bg2"/>
          </a:solidFill>
          <a:ln/>
        </p:spPr>
      </p:sp>
      <p:sp>
        <p:nvSpPr>
          <p:cNvPr id="15" name="Text 11"/>
          <p:cNvSpPr txBox="1"/>
          <p:nvPr/>
        </p:nvSpPr>
        <p:spPr>
          <a:xfrm>
            <a:off x="6629400" y="2514600"/>
            <a:ext cx="2651760" cy="603504"/>
          </a:xfrm>
          <a:prstGeom prst="rect">
            <a:avLst/>
          </a:prstGeom>
          <a:noFill/>
          <a:ln/>
        </p:spPr>
        <p:txBody>
          <a:bodyPr wrap="square" lIns="0" tIns="0" rIns="0" bIns="0" rtlCol="0" anchor="ctr"/>
          <a:lstStyle/>
          <a:p>
            <a:pPr indent="0" marL="0">
              <a:buNone/>
            </a:pPr>
            <a:r>
              <a:rPr lang="en-US" sz="1150" b="1" dirty="0">
                <a:solidFill>
                  <a:schemeClr val="tx2"/>
                </a:solidFill>
              </a:rPr>
              <a:t>Disponibilité des ouvrages</a:t>
            </a:r>
            <a:endParaRPr lang="en-US" sz="1150" dirty="0"/>
          </a:p>
        </p:txBody>
      </p:sp>
      <p:sp>
        <p:nvSpPr>
          <p:cNvPr id="16" name="Text 12"/>
          <p:cNvSpPr txBox="1"/>
          <p:nvPr/>
        </p:nvSpPr>
        <p:spPr>
          <a:xfrm>
            <a:off x="9326880" y="2514600"/>
            <a:ext cx="822960" cy="603504"/>
          </a:xfrm>
          <a:prstGeom prst="rect">
            <a:avLst/>
          </a:prstGeom>
          <a:noFill/>
          <a:ln/>
        </p:spPr>
        <p:txBody>
          <a:bodyPr wrap="square" lIns="0" tIns="0" rIns="0" bIns="0" rtlCol="0" anchor="ctr"/>
          <a:lstStyle/>
          <a:p>
            <a:pPr algn="ctr" indent="0" marL="0">
              <a:buNone/>
            </a:pPr>
            <a:r>
              <a:rPr lang="en-US" sz="1300" dirty="0">
                <a:solidFill>
                  <a:schemeClr val="accent5"/>
                </a:solidFill>
              </a:rPr>
              <a:t>83 %</a:t>
            </a:r>
            <a:endParaRPr lang="en-US" sz="1300" dirty="0"/>
          </a:p>
        </p:txBody>
      </p:sp>
      <p:sp>
        <p:nvSpPr>
          <p:cNvPr id="17" name="Shape 13"/>
          <p:cNvSpPr/>
          <p:nvPr/>
        </p:nvSpPr>
        <p:spPr>
          <a:xfrm>
            <a:off x="10195560" y="2697480"/>
            <a:ext cx="237744" cy="237744"/>
          </a:xfrm>
          <a:prstGeom prst="rightArrow">
            <a:avLst/>
          </a:prstGeom>
          <a:solidFill>
            <a:schemeClr val="accent2"/>
          </a:solidFill>
          <a:ln/>
        </p:spPr>
      </p:sp>
      <p:sp>
        <p:nvSpPr>
          <p:cNvPr id="18" name="Text 14"/>
          <p:cNvSpPr txBox="1"/>
          <p:nvPr/>
        </p:nvSpPr>
        <p:spPr>
          <a:xfrm>
            <a:off x="10515600" y="2514600"/>
            <a:ext cx="1097280" cy="603504"/>
          </a:xfrm>
          <a:prstGeom prst="rect">
            <a:avLst/>
          </a:prstGeom>
          <a:noFill/>
          <a:ln/>
        </p:spPr>
        <p:txBody>
          <a:bodyPr wrap="square" lIns="0" tIns="0" rIns="0" bIns="0" rtlCol="0" anchor="ctr"/>
          <a:lstStyle/>
          <a:p>
            <a:pPr algn="ctr" indent="0" marL="0">
              <a:buNone/>
            </a:pPr>
            <a:r>
              <a:rPr lang="en-US" sz="1300" b="1" dirty="0">
                <a:solidFill>
                  <a:schemeClr val="tx2"/>
                </a:solidFill>
              </a:rPr>
              <a:t>88 %</a:t>
            </a:r>
            <a:endParaRPr lang="en-US" sz="1300" dirty="0"/>
          </a:p>
        </p:txBody>
      </p:sp>
      <p:sp>
        <p:nvSpPr>
          <p:cNvPr id="19" name="ba1"/>
          <p:cNvSpPr/>
          <p:nvPr/>
        </p:nvSpPr>
        <p:spPr>
          <a:xfrm>
            <a:off x="6446520" y="3246120"/>
            <a:ext cx="5212080" cy="603504"/>
          </a:xfrm>
          <a:prstGeom prst="roundRect">
            <a:avLst>
              <a:gd name="adj" fmla="val 18182"/>
            </a:avLst>
          </a:prstGeom>
          <a:solidFill>
            <a:schemeClr val="bg1"/>
          </a:solidFill>
          <a:ln/>
        </p:spPr>
      </p:sp>
      <p:sp>
        <p:nvSpPr>
          <p:cNvPr id="20" name="Text 16"/>
          <p:cNvSpPr txBox="1"/>
          <p:nvPr/>
        </p:nvSpPr>
        <p:spPr>
          <a:xfrm>
            <a:off x="6629400" y="3246120"/>
            <a:ext cx="2651760" cy="603504"/>
          </a:xfrm>
          <a:prstGeom prst="rect">
            <a:avLst/>
          </a:prstGeom>
          <a:noFill/>
          <a:ln/>
        </p:spPr>
        <p:txBody>
          <a:bodyPr wrap="square" lIns="0" tIns="0" rIns="0" bIns="0" rtlCol="0" anchor="ctr"/>
          <a:lstStyle/>
          <a:p>
            <a:pPr indent="0" marL="0">
              <a:buNone/>
            </a:pPr>
            <a:r>
              <a:rPr lang="en-US" sz="1150" b="1" dirty="0">
                <a:solidFill>
                  <a:schemeClr val="tx2"/>
                </a:solidFill>
              </a:rPr>
              <a:t>Signalements à traiter</a:t>
            </a:r>
            <a:endParaRPr lang="en-US" sz="1150" dirty="0"/>
          </a:p>
        </p:txBody>
      </p:sp>
      <p:sp>
        <p:nvSpPr>
          <p:cNvPr id="21" name="Text 17"/>
          <p:cNvSpPr txBox="1"/>
          <p:nvPr/>
        </p:nvSpPr>
        <p:spPr>
          <a:xfrm>
            <a:off x="9326880" y="3246120"/>
            <a:ext cx="822960" cy="603504"/>
          </a:xfrm>
          <a:prstGeom prst="rect">
            <a:avLst/>
          </a:prstGeom>
          <a:noFill/>
          <a:ln/>
        </p:spPr>
        <p:txBody>
          <a:bodyPr wrap="square" lIns="0" tIns="0" rIns="0" bIns="0" rtlCol="0" anchor="ctr"/>
          <a:lstStyle/>
          <a:p>
            <a:pPr algn="ctr" indent="0" marL="0">
              <a:buNone/>
            </a:pPr>
            <a:r>
              <a:rPr lang="en-US" sz="1300" dirty="0">
                <a:solidFill>
                  <a:schemeClr val="accent5"/>
                </a:solidFill>
              </a:rPr>
              <a:t>5</a:t>
            </a:r>
            <a:endParaRPr lang="en-US" sz="1300" dirty="0"/>
          </a:p>
        </p:txBody>
      </p:sp>
      <p:sp>
        <p:nvSpPr>
          <p:cNvPr id="22" name="Shape 18"/>
          <p:cNvSpPr/>
          <p:nvPr/>
        </p:nvSpPr>
        <p:spPr>
          <a:xfrm>
            <a:off x="10195560" y="3429000"/>
            <a:ext cx="237744" cy="237744"/>
          </a:xfrm>
          <a:prstGeom prst="rightArrow">
            <a:avLst/>
          </a:prstGeom>
          <a:solidFill>
            <a:schemeClr val="accent2"/>
          </a:solidFill>
          <a:ln/>
        </p:spPr>
      </p:sp>
      <p:sp>
        <p:nvSpPr>
          <p:cNvPr id="23" name="Text 19"/>
          <p:cNvSpPr txBox="1"/>
          <p:nvPr/>
        </p:nvSpPr>
        <p:spPr>
          <a:xfrm>
            <a:off x="10515600" y="3246120"/>
            <a:ext cx="1097280" cy="603504"/>
          </a:xfrm>
          <a:prstGeom prst="rect">
            <a:avLst/>
          </a:prstGeom>
          <a:noFill/>
          <a:ln/>
        </p:spPr>
        <p:txBody>
          <a:bodyPr wrap="square" lIns="0" tIns="0" rIns="0" bIns="0" rtlCol="0" anchor="ctr"/>
          <a:lstStyle/>
          <a:p>
            <a:pPr algn="ctr" indent="0" marL="0">
              <a:buNone/>
            </a:pPr>
            <a:r>
              <a:rPr lang="en-US" sz="1300" b="1" dirty="0">
                <a:solidFill>
                  <a:schemeClr val="tx2"/>
                </a:solidFill>
              </a:rPr>
              <a:t>4</a:t>
            </a:r>
            <a:endParaRPr lang="en-US" sz="1300" dirty="0"/>
          </a:p>
        </p:txBody>
      </p:sp>
      <p:sp>
        <p:nvSpPr>
          <p:cNvPr id="24" name="ba2"/>
          <p:cNvSpPr/>
          <p:nvPr/>
        </p:nvSpPr>
        <p:spPr>
          <a:xfrm>
            <a:off x="6446520" y="3977640"/>
            <a:ext cx="5212080" cy="603504"/>
          </a:xfrm>
          <a:prstGeom prst="roundRect">
            <a:avLst>
              <a:gd name="adj" fmla="val 18182"/>
            </a:avLst>
          </a:prstGeom>
          <a:solidFill>
            <a:schemeClr val="bg2"/>
          </a:solidFill>
          <a:ln/>
        </p:spPr>
      </p:sp>
      <p:sp>
        <p:nvSpPr>
          <p:cNvPr id="25" name="Text 21"/>
          <p:cNvSpPr txBox="1"/>
          <p:nvPr/>
        </p:nvSpPr>
        <p:spPr>
          <a:xfrm>
            <a:off x="6629400" y="3977640"/>
            <a:ext cx="2651760" cy="603504"/>
          </a:xfrm>
          <a:prstGeom prst="rect">
            <a:avLst/>
          </a:prstGeom>
          <a:noFill/>
          <a:ln/>
        </p:spPr>
        <p:txBody>
          <a:bodyPr wrap="square" lIns="0" tIns="0" rIns="0" bIns="0" rtlCol="0" anchor="ctr"/>
          <a:lstStyle/>
          <a:p>
            <a:pPr indent="0" marL="0">
              <a:buNone/>
            </a:pPr>
            <a:r>
              <a:rPr lang="en-US" sz="1150" b="1" dirty="0">
                <a:solidFill>
                  <a:schemeClr val="tx2"/>
                </a:solidFill>
              </a:rPr>
              <a:t>Stock de pompes immergées</a:t>
            </a:r>
            <a:endParaRPr lang="en-US" sz="1150" dirty="0"/>
          </a:p>
        </p:txBody>
      </p:sp>
      <p:sp>
        <p:nvSpPr>
          <p:cNvPr id="26" name="Text 22"/>
          <p:cNvSpPr txBox="1"/>
          <p:nvPr/>
        </p:nvSpPr>
        <p:spPr>
          <a:xfrm>
            <a:off x="9326880" y="3977640"/>
            <a:ext cx="822960" cy="603504"/>
          </a:xfrm>
          <a:prstGeom prst="rect">
            <a:avLst/>
          </a:prstGeom>
          <a:noFill/>
          <a:ln/>
        </p:spPr>
        <p:txBody>
          <a:bodyPr wrap="square" lIns="0" tIns="0" rIns="0" bIns="0" rtlCol="0" anchor="ctr"/>
          <a:lstStyle/>
          <a:p>
            <a:pPr algn="ctr" indent="0" marL="0">
              <a:buNone/>
            </a:pPr>
            <a:r>
              <a:rPr lang="en-US" sz="1300" dirty="0">
                <a:solidFill>
                  <a:schemeClr val="accent5"/>
                </a:solidFill>
              </a:rPr>
              <a:t>1</a:t>
            </a:r>
            <a:endParaRPr lang="en-US" sz="1300" dirty="0"/>
          </a:p>
        </p:txBody>
      </p:sp>
      <p:sp>
        <p:nvSpPr>
          <p:cNvPr id="27" name="Shape 23"/>
          <p:cNvSpPr/>
          <p:nvPr/>
        </p:nvSpPr>
        <p:spPr>
          <a:xfrm>
            <a:off x="10195560" y="4160520"/>
            <a:ext cx="237744" cy="237744"/>
          </a:xfrm>
          <a:prstGeom prst="rightArrow">
            <a:avLst/>
          </a:prstGeom>
          <a:solidFill>
            <a:schemeClr val="accent2"/>
          </a:solidFill>
          <a:ln/>
        </p:spPr>
      </p:sp>
      <p:sp>
        <p:nvSpPr>
          <p:cNvPr id="28" name="Text 24"/>
          <p:cNvSpPr txBox="1"/>
          <p:nvPr/>
        </p:nvSpPr>
        <p:spPr>
          <a:xfrm>
            <a:off x="10515600" y="3977640"/>
            <a:ext cx="1097280" cy="603504"/>
          </a:xfrm>
          <a:prstGeom prst="rect">
            <a:avLst/>
          </a:prstGeom>
          <a:noFill/>
          <a:ln/>
        </p:spPr>
        <p:txBody>
          <a:bodyPr wrap="square" lIns="0" tIns="0" rIns="0" bIns="0" rtlCol="0" anchor="ctr"/>
          <a:lstStyle/>
          <a:p>
            <a:pPr algn="ctr" indent="0" marL="0">
              <a:buNone/>
            </a:pPr>
            <a:r>
              <a:rPr lang="en-US" sz="1300" b="1" dirty="0">
                <a:solidFill>
                  <a:schemeClr val="tx2"/>
                </a:solidFill>
              </a:rPr>
              <a:t>0 · alerte</a:t>
            </a:r>
            <a:endParaRPr lang="en-US" sz="1300" dirty="0"/>
          </a:p>
        </p:txBody>
      </p:sp>
      <p:sp>
        <p:nvSpPr>
          <p:cNvPr id="29" name="ba3"/>
          <p:cNvSpPr/>
          <p:nvPr/>
        </p:nvSpPr>
        <p:spPr>
          <a:xfrm>
            <a:off x="6446520" y="4709160"/>
            <a:ext cx="5212080" cy="603504"/>
          </a:xfrm>
          <a:prstGeom prst="roundRect">
            <a:avLst>
              <a:gd name="adj" fmla="val 18182"/>
            </a:avLst>
          </a:prstGeom>
          <a:solidFill>
            <a:schemeClr val="bg1"/>
          </a:solidFill>
          <a:ln/>
        </p:spPr>
      </p:sp>
      <p:sp>
        <p:nvSpPr>
          <p:cNvPr id="30" name="Text 26"/>
          <p:cNvSpPr txBox="1"/>
          <p:nvPr/>
        </p:nvSpPr>
        <p:spPr>
          <a:xfrm>
            <a:off x="6629400" y="4709160"/>
            <a:ext cx="2651760" cy="603504"/>
          </a:xfrm>
          <a:prstGeom prst="rect">
            <a:avLst/>
          </a:prstGeom>
          <a:noFill/>
          <a:ln/>
        </p:spPr>
        <p:txBody>
          <a:bodyPr wrap="square" lIns="0" tIns="0" rIns="0" bIns="0" rtlCol="0" anchor="ctr"/>
          <a:lstStyle/>
          <a:p>
            <a:pPr indent="0" marL="0">
              <a:buNone/>
            </a:pPr>
            <a:r>
              <a:rPr lang="en-US" sz="1150" b="1" dirty="0">
                <a:solidFill>
                  <a:schemeClr val="tx2"/>
                </a:solidFill>
              </a:rPr>
              <a:t>Alerte d'usure de la pompe</a:t>
            </a:r>
            <a:endParaRPr lang="en-US" sz="1150" dirty="0"/>
          </a:p>
        </p:txBody>
      </p:sp>
      <p:sp>
        <p:nvSpPr>
          <p:cNvPr id="31" name="Text 27"/>
          <p:cNvSpPr txBox="1"/>
          <p:nvPr/>
        </p:nvSpPr>
        <p:spPr>
          <a:xfrm>
            <a:off x="9326880" y="4709160"/>
            <a:ext cx="822960" cy="603504"/>
          </a:xfrm>
          <a:prstGeom prst="rect">
            <a:avLst/>
          </a:prstGeom>
          <a:noFill/>
          <a:ln/>
        </p:spPr>
        <p:txBody>
          <a:bodyPr wrap="square" lIns="0" tIns="0" rIns="0" bIns="0" rtlCol="0" anchor="ctr"/>
          <a:lstStyle/>
          <a:p>
            <a:pPr algn="ctr" indent="0" marL="0">
              <a:buNone/>
            </a:pPr>
            <a:r>
              <a:rPr lang="en-US" sz="1300" dirty="0">
                <a:solidFill>
                  <a:schemeClr val="accent5"/>
                </a:solidFill>
              </a:rPr>
              <a:t>active</a:t>
            </a:r>
            <a:endParaRPr lang="en-US" sz="1300" dirty="0"/>
          </a:p>
        </p:txBody>
      </p:sp>
      <p:sp>
        <p:nvSpPr>
          <p:cNvPr id="32" name="Shape 28"/>
          <p:cNvSpPr/>
          <p:nvPr/>
        </p:nvSpPr>
        <p:spPr>
          <a:xfrm>
            <a:off x="10195560" y="4892040"/>
            <a:ext cx="237744" cy="237744"/>
          </a:xfrm>
          <a:prstGeom prst="rightArrow">
            <a:avLst/>
          </a:prstGeom>
          <a:solidFill>
            <a:schemeClr val="accent2"/>
          </a:solidFill>
          <a:ln/>
        </p:spPr>
      </p:sp>
      <p:sp>
        <p:nvSpPr>
          <p:cNvPr id="33" name="Text 29"/>
          <p:cNvSpPr txBox="1"/>
          <p:nvPr/>
        </p:nvSpPr>
        <p:spPr>
          <a:xfrm>
            <a:off x="10515600" y="4709160"/>
            <a:ext cx="1097280" cy="603504"/>
          </a:xfrm>
          <a:prstGeom prst="rect">
            <a:avLst/>
          </a:prstGeom>
          <a:noFill/>
          <a:ln/>
        </p:spPr>
        <p:txBody>
          <a:bodyPr wrap="square" lIns="0" tIns="0" rIns="0" bIns="0" rtlCol="0" anchor="ctr"/>
          <a:lstStyle/>
          <a:p>
            <a:pPr algn="ctr" indent="0" marL="0">
              <a:buNone/>
            </a:pPr>
            <a:r>
              <a:rPr lang="en-US" sz="1300" b="1" dirty="0">
                <a:solidFill>
                  <a:schemeClr val="tx2"/>
                </a:solidFill>
              </a:rPr>
              <a:t>levée</a:t>
            </a:r>
            <a:endParaRPr lang="en-US" sz="1300" dirty="0"/>
          </a:p>
        </p:txBody>
      </p:sp>
      <p:sp>
        <p:nvSpPr>
          <p:cNvPr id="34" name="Text 30"/>
          <p:cNvSpPr txBox="1"/>
          <p:nvPr/>
        </p:nvSpPr>
        <p:spPr>
          <a:xfrm>
            <a:off x="6446520" y="5532120"/>
            <a:ext cx="5212080" cy="365760"/>
          </a:xfrm>
          <a:prstGeom prst="rect">
            <a:avLst/>
          </a:prstGeom>
          <a:noFill/>
          <a:ln/>
        </p:spPr>
        <p:txBody>
          <a:bodyPr wrap="square" lIns="0" tIns="0" rIns="0" bIns="0" rtlCol="0" anchor="ctr"/>
          <a:lstStyle/>
          <a:p>
            <a:pPr indent="0" marL="0">
              <a:buNone/>
            </a:pPr>
            <a:r>
              <a:rPr lang="en-US" sz="1100" i="1" dirty="0">
                <a:solidFill>
                  <a:schemeClr val="accent5"/>
                </a:solidFill>
              </a:rPr>
              <a:t>Les 7 indicateurs utilisent les définitions du document 2.</a:t>
            </a:r>
            <a:endParaRPr lang="en-US" sz="1100" dirty="0"/>
          </a:p>
        </p:txBody>
      </p:sp>
      <p:sp>
        <p:nvSpPr>
          <p:cNvPr id="35" name="Text 31"/>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56 (suivi semestriel de la performance des communes). Valeurs fictives du prototype.</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CÔTÉ PÔLE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Le pôle compare ses communes à définitions égales</a:t>
            </a:r>
            <a:endParaRPr lang="en-US" sz="2800" dirty="0"/>
          </a:p>
        </p:txBody>
      </p:sp>
      <p:sp>
        <p:nvSpPr>
          <p:cNvPr id="5" name="Shape 2"/>
          <p:cNvSpPr/>
          <p:nvPr/>
        </p:nvSpPr>
        <p:spPr>
          <a:xfrm>
            <a:off x="548640" y="1517904"/>
            <a:ext cx="4846320" cy="329184"/>
          </a:xfrm>
          <a:prstGeom prst="roundRect">
            <a:avLst>
              <a:gd name="adj" fmla="val 50000"/>
            </a:avLst>
          </a:prstGeom>
          <a:solidFill>
            <a:schemeClr val="tx2"/>
          </a:solidFill>
          <a:ln/>
        </p:spPr>
      </p:sp>
      <p:sp>
        <p:nvSpPr>
          <p:cNvPr id="6" name="Text 3"/>
          <p:cNvSpPr txBox="1"/>
          <p:nvPr/>
        </p:nvSpPr>
        <p:spPr>
          <a:xfrm>
            <a:off x="713232" y="1517904"/>
            <a:ext cx="4572000" cy="329184"/>
          </a:xfrm>
          <a:prstGeom prst="rect">
            <a:avLst/>
          </a:prstGeom>
          <a:noFill/>
          <a:ln/>
        </p:spPr>
        <p:txBody>
          <a:bodyPr wrap="square" lIns="0" tIns="0" rIns="0" bIns="0" rtlCol="0" anchor="ctr"/>
          <a:lstStyle/>
          <a:p>
            <a:pPr indent="0" marL="0">
              <a:buNone/>
            </a:pPr>
            <a:r>
              <a:rPr lang="en-US" sz="1000" b="1" spc="150" kern="0" dirty="0">
                <a:solidFill>
                  <a:schemeClr val="accent2"/>
                </a:solidFill>
              </a:rPr>
              <a:t>ÉTAPE 12  ·  PÔLE</a:t>
            </a:r>
            <a:endParaRPr lang="en-US" sz="1000" dirty="0"/>
          </a:p>
        </p:txBody>
      </p:sp>
      <p:sp>
        <p:nvSpPr>
          <p:cNvPr id="7" name="Shape 4"/>
          <p:cNvSpPr/>
          <p:nvPr/>
        </p:nvSpPr>
        <p:spPr>
          <a:xfrm>
            <a:off x="548640" y="2103120"/>
            <a:ext cx="5577840" cy="3723894"/>
          </a:xfrm>
          <a:prstGeom prst="rect">
            <a:avLst/>
          </a:prstGeom>
          <a:solidFill>
            <a:schemeClr val="bg1"/>
          </a:solidFill>
          <a:ln w="9525">
            <a:solidFill>
              <a:schemeClr val="accent6"/>
            </a:solidFill>
            <a:prstDash val="solid"/>
          </a:ln>
          <a:effectLst>
            <a:outerShdw sx="100000" sy="100000" kx="0" ky="0" algn="bl" rotWithShape="0" blurRad="101600" dist="38100" dir="5400000">
              <a:srgbClr val="253970">
                <a:alpha val="18000"/>
              </a:srgbClr>
            </a:outerShdw>
          </a:effectLst>
        </p:spPr>
      </p:sp>
      <p:sp>
        <p:nvSpPr>
          <p:cNvPr id="8" name="Shape 5"/>
          <p:cNvSpPr/>
          <p:nvPr/>
        </p:nvSpPr>
        <p:spPr>
          <a:xfrm>
            <a:off x="548640" y="2103120"/>
            <a:ext cx="5577840" cy="237744"/>
          </a:xfrm>
          <a:prstGeom prst="rect">
            <a:avLst/>
          </a:prstGeom>
          <a:solidFill>
            <a:schemeClr val="bg2"/>
          </a:solidFill>
          <a:ln/>
        </p:spPr>
      </p:sp>
      <p:sp>
        <p:nvSpPr>
          <p:cNvPr id="9" name="Shape 6"/>
          <p:cNvSpPr/>
          <p:nvPr/>
        </p:nvSpPr>
        <p:spPr>
          <a:xfrm>
            <a:off x="658368" y="2176272"/>
            <a:ext cx="91440" cy="91440"/>
          </a:xfrm>
          <a:prstGeom prst="ellipse">
            <a:avLst/>
          </a:prstGeom>
          <a:solidFill>
            <a:srgbClr val="F2B134"/>
          </a:solidFill>
          <a:ln/>
        </p:spPr>
      </p:sp>
      <p:sp>
        <p:nvSpPr>
          <p:cNvPr id="10" name="Shape 7"/>
          <p:cNvSpPr/>
          <p:nvPr/>
        </p:nvSpPr>
        <p:spPr>
          <a:xfrm>
            <a:off x="804672" y="2176272"/>
            <a:ext cx="91440" cy="91440"/>
          </a:xfrm>
          <a:prstGeom prst="ellipse">
            <a:avLst/>
          </a:prstGeom>
          <a:solidFill>
            <a:srgbClr val="C7DDED"/>
          </a:solidFill>
          <a:ln/>
        </p:spPr>
      </p:sp>
      <p:sp>
        <p:nvSpPr>
          <p:cNvPr id="11" name="Shape 8"/>
          <p:cNvSpPr/>
          <p:nvPr/>
        </p:nvSpPr>
        <p:spPr>
          <a:xfrm>
            <a:off x="950976" y="2176272"/>
            <a:ext cx="91440" cy="91440"/>
          </a:xfrm>
          <a:prstGeom prst="ellipse">
            <a:avLst/>
          </a:prstGeom>
          <a:solidFill>
            <a:srgbClr val="8E9CCB"/>
          </a:solidFill>
          <a:ln/>
        </p:spPr>
      </p:sp>
      <p:pic>
        <p:nvPicPr>
          <p:cNvPr id="12" name="Image 0" descr="Comparaison des communes du pôle">    </p:cNvPr>
          <p:cNvPicPr>
            <a:picLocks noChangeAspect="1"/>
          </p:cNvPicPr>
          <p:nvPr/>
        </p:nvPicPr>
        <p:blipFill>
          <a:blip r:embed="rId1"/>
          <a:stretch>
            <a:fillRect/>
          </a:stretch>
        </p:blipFill>
        <p:spPr>
          <a:xfrm>
            <a:off x="548640" y="2340864"/>
            <a:ext cx="5577840" cy="3486150"/>
          </a:xfrm>
          <a:prstGeom prst="rect">
            <a:avLst/>
          </a:prstGeom>
        </p:spPr>
      </p:pic>
      <p:sp>
        <p:nvSpPr>
          <p:cNvPr id="13" name="Shape 9"/>
          <p:cNvSpPr/>
          <p:nvPr/>
        </p:nvSpPr>
        <p:spPr>
          <a:xfrm>
            <a:off x="6446520" y="2148840"/>
            <a:ext cx="329184" cy="329184"/>
          </a:xfrm>
          <a:prstGeom prst="ellipse">
            <a:avLst/>
          </a:prstGeom>
          <a:solidFill>
            <a:schemeClr val="accent2"/>
          </a:solidFill>
          <a:ln w="19050">
            <a:solidFill>
              <a:schemeClr val="bg1"/>
            </a:solidFill>
            <a:prstDash val="solid"/>
          </a:ln>
        </p:spPr>
      </p:sp>
      <p:sp>
        <p:nvSpPr>
          <p:cNvPr id="14" name="Text 10"/>
          <p:cNvSpPr txBox="1"/>
          <p:nvPr/>
        </p:nvSpPr>
        <p:spPr>
          <a:xfrm>
            <a:off x="6446520" y="214884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15" name="Text 11"/>
          <p:cNvSpPr txBox="1"/>
          <p:nvPr/>
        </p:nvSpPr>
        <p:spPr>
          <a:xfrm>
            <a:off x="6903720" y="2130552"/>
            <a:ext cx="4754880" cy="274320"/>
          </a:xfrm>
          <a:prstGeom prst="rect">
            <a:avLst/>
          </a:prstGeom>
          <a:noFill/>
          <a:ln/>
        </p:spPr>
        <p:txBody>
          <a:bodyPr wrap="square" lIns="0" tIns="0" rIns="0" bIns="0" rtlCol="0" anchor="ctr"/>
          <a:lstStyle/>
          <a:p>
            <a:pPr indent="0" marL="0">
              <a:buNone/>
            </a:pPr>
            <a:r>
              <a:rPr lang="en-US" sz="1300" b="1" dirty="0">
                <a:solidFill>
                  <a:schemeClr val="tx2"/>
                </a:solidFill>
              </a:rPr>
              <a:t>Une comparaison loyale</a:t>
            </a:r>
            <a:endParaRPr lang="en-US" sz="1300" dirty="0"/>
          </a:p>
        </p:txBody>
      </p:sp>
      <p:sp>
        <p:nvSpPr>
          <p:cNvPr id="16" name="Text 12"/>
          <p:cNvSpPr txBox="1"/>
          <p:nvPr/>
        </p:nvSpPr>
        <p:spPr>
          <a:xfrm>
            <a:off x="6903720" y="2414016"/>
            <a:ext cx="4754880" cy="630936"/>
          </a:xfrm>
          <a:prstGeom prst="rect">
            <a:avLst/>
          </a:prstGeom>
          <a:noFill/>
          <a:ln/>
        </p:spPr>
        <p:txBody>
          <a:bodyPr wrap="square" lIns="0" tIns="0" rIns="0" bIns="0" rtlCol="0" anchor="t"/>
          <a:lstStyle/>
          <a:p>
            <a:pPr indent="0" marL="0">
              <a:buNone/>
            </a:pPr>
            <a:r>
              <a:rPr lang="en-US" sz="1200" dirty="0">
                <a:solidFill>
                  <a:schemeClr val="tx1"/>
                </a:solidFill>
              </a:rPr>
              <a:t>Mêmes définitions pour toutes les communes. La meilleure valeur est en vert.</a:t>
            </a:r>
            <a:endParaRPr lang="en-US" sz="1200" dirty="0"/>
          </a:p>
        </p:txBody>
      </p:sp>
      <p:sp>
        <p:nvSpPr>
          <p:cNvPr id="17" name="Shape 13"/>
          <p:cNvSpPr/>
          <p:nvPr/>
        </p:nvSpPr>
        <p:spPr>
          <a:xfrm>
            <a:off x="6446520" y="3108960"/>
            <a:ext cx="329184" cy="329184"/>
          </a:xfrm>
          <a:prstGeom prst="ellipse">
            <a:avLst/>
          </a:prstGeom>
          <a:solidFill>
            <a:schemeClr val="accent2"/>
          </a:solidFill>
          <a:ln w="19050">
            <a:solidFill>
              <a:schemeClr val="bg1"/>
            </a:solidFill>
            <a:prstDash val="solid"/>
          </a:ln>
        </p:spPr>
      </p:sp>
      <p:sp>
        <p:nvSpPr>
          <p:cNvPr id="18" name="Text 14"/>
          <p:cNvSpPr txBox="1"/>
          <p:nvPr/>
        </p:nvSpPr>
        <p:spPr>
          <a:xfrm>
            <a:off x="6446520" y="310896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19" name="Text 15"/>
          <p:cNvSpPr txBox="1"/>
          <p:nvPr/>
        </p:nvSpPr>
        <p:spPr>
          <a:xfrm>
            <a:off x="6903720" y="3090672"/>
            <a:ext cx="4754880" cy="274320"/>
          </a:xfrm>
          <a:prstGeom prst="rect">
            <a:avLst/>
          </a:prstGeom>
          <a:noFill/>
          <a:ln/>
        </p:spPr>
        <p:txBody>
          <a:bodyPr wrap="square" lIns="0" tIns="0" rIns="0" bIns="0" rtlCol="0" anchor="ctr"/>
          <a:lstStyle/>
          <a:p>
            <a:pPr indent="0" marL="0">
              <a:buNone/>
            </a:pPr>
            <a:r>
              <a:rPr lang="en-US" sz="1300" b="1" dirty="0">
                <a:solidFill>
                  <a:schemeClr val="tx2"/>
                </a:solidFill>
              </a:rPr>
              <a:t>Des achats regroupés</a:t>
            </a:r>
            <a:endParaRPr lang="en-US" sz="1300" dirty="0"/>
          </a:p>
        </p:txBody>
      </p:sp>
      <p:sp>
        <p:nvSpPr>
          <p:cNvPr id="20" name="Text 16"/>
          <p:cNvSpPr txBox="1"/>
          <p:nvPr/>
        </p:nvSpPr>
        <p:spPr>
          <a:xfrm>
            <a:off x="6903720" y="3374136"/>
            <a:ext cx="4754880" cy="630936"/>
          </a:xfrm>
          <a:prstGeom prst="rect">
            <a:avLst/>
          </a:prstGeom>
          <a:noFill/>
          <a:ln/>
        </p:spPr>
        <p:txBody>
          <a:bodyPr wrap="square" lIns="0" tIns="0" rIns="0" bIns="0" rtlCol="0" anchor="t"/>
          <a:lstStyle/>
          <a:p>
            <a:pPr indent="0" marL="0">
              <a:buNone/>
            </a:pPr>
            <a:r>
              <a:rPr lang="en-US" sz="1200" dirty="0">
                <a:solidFill>
                  <a:schemeClr val="tx1"/>
                </a:solidFill>
              </a:rPr>
              <a:t>Les pompes sont sous le seuil dans 3 communes sur 5 : un achat groupé coûte moins cher.</a:t>
            </a:r>
            <a:endParaRPr lang="en-US" sz="1200" dirty="0"/>
          </a:p>
        </p:txBody>
      </p:sp>
      <p:sp>
        <p:nvSpPr>
          <p:cNvPr id="21" name="Shape 17"/>
          <p:cNvSpPr/>
          <p:nvPr/>
        </p:nvSpPr>
        <p:spPr>
          <a:xfrm>
            <a:off x="6446520" y="4069080"/>
            <a:ext cx="329184" cy="329184"/>
          </a:xfrm>
          <a:prstGeom prst="ellipse">
            <a:avLst/>
          </a:prstGeom>
          <a:solidFill>
            <a:schemeClr val="accent2"/>
          </a:solidFill>
          <a:ln w="19050">
            <a:solidFill>
              <a:schemeClr val="bg1"/>
            </a:solidFill>
            <a:prstDash val="solid"/>
          </a:ln>
        </p:spPr>
      </p:sp>
      <p:sp>
        <p:nvSpPr>
          <p:cNvPr id="22" name="Text 18"/>
          <p:cNvSpPr txBox="1"/>
          <p:nvPr/>
        </p:nvSpPr>
        <p:spPr>
          <a:xfrm>
            <a:off x="6446520" y="406908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23" name="Text 19"/>
          <p:cNvSpPr txBox="1"/>
          <p:nvPr/>
        </p:nvSpPr>
        <p:spPr>
          <a:xfrm>
            <a:off x="6903720" y="4050792"/>
            <a:ext cx="4754880" cy="274320"/>
          </a:xfrm>
          <a:prstGeom prst="rect">
            <a:avLst/>
          </a:prstGeom>
          <a:noFill/>
          <a:ln/>
        </p:spPr>
        <p:txBody>
          <a:bodyPr wrap="square" lIns="0" tIns="0" rIns="0" bIns="0" rtlCol="0" anchor="ctr"/>
          <a:lstStyle/>
          <a:p>
            <a:pPr indent="0" marL="0">
              <a:buNone/>
            </a:pPr>
            <a:r>
              <a:rPr lang="en-US" sz="1300" b="1" dirty="0">
                <a:solidFill>
                  <a:schemeClr val="tx2"/>
                </a:solidFill>
              </a:rPr>
              <a:t>Des renouvellements prévus</a:t>
            </a:r>
            <a:endParaRPr lang="en-US" sz="1300" dirty="0"/>
          </a:p>
        </p:txBody>
      </p:sp>
      <p:sp>
        <p:nvSpPr>
          <p:cNvPr id="24" name="Text 20"/>
          <p:cNvSpPr txBox="1"/>
          <p:nvPr/>
        </p:nvSpPr>
        <p:spPr>
          <a:xfrm>
            <a:off x="6903720" y="4334256"/>
            <a:ext cx="4754880" cy="630936"/>
          </a:xfrm>
          <a:prstGeom prst="rect">
            <a:avLst/>
          </a:prstGeom>
          <a:noFill/>
          <a:ln/>
        </p:spPr>
        <p:txBody>
          <a:bodyPr wrap="square" lIns="0" tIns="0" rIns="0" bIns="0" rtlCol="0" anchor="t"/>
          <a:lstStyle/>
          <a:p>
            <a:pPr indent="0" marL="0">
              <a:buNone/>
            </a:pPr>
            <a:r>
              <a:rPr lang="en-US" sz="1200" dirty="0">
                <a:solidFill>
                  <a:schemeClr val="tx1"/>
                </a:solidFill>
              </a:rPr>
              <a:t>Date de pose + durée de vie : les pièces à remplacer chaque année jusqu'en 2033.</a:t>
            </a:r>
            <a:endParaRPr lang="en-US" sz="1200" dirty="0"/>
          </a:p>
        </p:txBody>
      </p:sp>
      <p:sp>
        <p:nvSpPr>
          <p:cNvPr id="25" name="Shape 21"/>
          <p:cNvSpPr/>
          <p:nvPr/>
        </p:nvSpPr>
        <p:spPr>
          <a:xfrm>
            <a:off x="6446520" y="5029200"/>
            <a:ext cx="329184" cy="329184"/>
          </a:xfrm>
          <a:prstGeom prst="ellipse">
            <a:avLst/>
          </a:prstGeom>
          <a:solidFill>
            <a:schemeClr val="accent2"/>
          </a:solidFill>
          <a:ln w="19050">
            <a:solidFill>
              <a:schemeClr val="bg1"/>
            </a:solidFill>
            <a:prstDash val="solid"/>
          </a:ln>
        </p:spPr>
      </p:sp>
      <p:sp>
        <p:nvSpPr>
          <p:cNvPr id="26" name="Text 22"/>
          <p:cNvSpPr txBox="1"/>
          <p:nvPr/>
        </p:nvSpPr>
        <p:spPr>
          <a:xfrm>
            <a:off x="6446520" y="502920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rPr>
              <a:t>4</a:t>
            </a:r>
            <a:endParaRPr lang="en-US" sz="1300" dirty="0"/>
          </a:p>
        </p:txBody>
      </p:sp>
      <p:sp>
        <p:nvSpPr>
          <p:cNvPr id="27" name="Text 23"/>
          <p:cNvSpPr txBox="1"/>
          <p:nvPr/>
        </p:nvSpPr>
        <p:spPr>
          <a:xfrm>
            <a:off x="6903720" y="5010912"/>
            <a:ext cx="4754880" cy="274320"/>
          </a:xfrm>
          <a:prstGeom prst="rect">
            <a:avLst/>
          </a:prstGeom>
          <a:noFill/>
          <a:ln/>
        </p:spPr>
        <p:txBody>
          <a:bodyPr wrap="square" lIns="0" tIns="0" rIns="0" bIns="0" rtlCol="0" anchor="ctr"/>
          <a:lstStyle/>
          <a:p>
            <a:pPr indent="0" marL="0">
              <a:buNone/>
            </a:pPr>
            <a:r>
              <a:rPr lang="en-US" sz="1300" b="1" dirty="0">
                <a:solidFill>
                  <a:schemeClr val="tx2"/>
                </a:solidFill>
              </a:rPr>
              <a:t>Un appui ciblé</a:t>
            </a:r>
            <a:endParaRPr lang="en-US" sz="1300" dirty="0"/>
          </a:p>
        </p:txBody>
      </p:sp>
      <p:sp>
        <p:nvSpPr>
          <p:cNvPr id="28" name="Text 24"/>
          <p:cNvSpPr txBox="1"/>
          <p:nvPr/>
        </p:nvSpPr>
        <p:spPr>
          <a:xfrm>
            <a:off x="6903720" y="5294376"/>
            <a:ext cx="4754880" cy="630936"/>
          </a:xfrm>
          <a:prstGeom prst="rect">
            <a:avLst/>
          </a:prstGeom>
          <a:noFill/>
          <a:ln/>
        </p:spPr>
        <p:txBody>
          <a:bodyPr wrap="square" lIns="0" tIns="0" rIns="0" bIns="0" rtlCol="0" anchor="t"/>
          <a:lstStyle/>
          <a:p>
            <a:pPr indent="0" marL="0">
              <a:buNone/>
            </a:pPr>
            <a:r>
              <a:rPr lang="en-US" sz="1200" dirty="0">
                <a:solidFill>
                  <a:schemeClr val="tx1"/>
                </a:solidFill>
              </a:rPr>
              <a:t>La commune D, à 44 % de préventif fait à temps, reçoit un appui en priorité.</a:t>
            </a:r>
            <a:endParaRPr lang="en-US" sz="1200" dirty="0"/>
          </a:p>
        </p:txBody>
      </p:sp>
      <p:sp>
        <p:nvSpPr>
          <p:cNvPr id="29" name="Text 25"/>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9 (agences régionales par pôle). Communes B à E : valeurs fictives.</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HONNÊTETÉ SUR LE PROTOTYPE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Ce que le prototype fait, et ce qu'il ne fait pas encore</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2743200"/>
                <a:gridCol w="4023360"/>
                <a:gridCol w="4325112"/>
              </a:tblGrid>
              <a:tr h="347472">
                <a:tc>
                  <a:txBody>
                    <a:bodyPr/>
                    <a:lstStyle/>
                    <a:p>
                      <a:pPr indent="0" marL="0">
                        <a:buNone/>
                      </a:pPr>
                      <a:r>
                        <a:rPr lang="en-US" sz="1150" b="1" dirty="0">
                          <a:solidFill>
                            <a:schemeClr val="bg1"/>
                          </a:solidFill>
                        </a:rPr>
                        <a:t>Fonction</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Dans le prototype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À construire pour le pilote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484632">
                <a:tc>
                  <a:txBody>
                    <a:bodyPr/>
                    <a:lstStyle/>
                    <a:p>
                      <a:pPr indent="0" marL="0">
                        <a:buNone/>
                      </a:pPr>
                      <a:r>
                        <a:rPr lang="en-US" sz="1150" b="1" dirty="0">
                          <a:solidFill>
                            <a:schemeClr val="tx2"/>
                          </a:solidFill>
                        </a:rPr>
                        <a:t>Parcours complet</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Habitant, commune, technicien, pôle, sur une même donnée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Rien : c'est le cœur à éprouver</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484632">
                <a:tc>
                  <a:txBody>
                    <a:bodyPr/>
                    <a:lstStyle/>
                    <a:p>
                      <a:pPr indent="0" marL="0">
                        <a:buNone/>
                      </a:pPr>
                      <a:r>
                        <a:rPr lang="en-US" sz="1150" b="1" dirty="0">
                          <a:solidFill>
                            <a:schemeClr val="tx2"/>
                          </a:solidFill>
                        </a:rPr>
                        <a:t>Hors connexion</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Simulé : bascule manuelle et synchronisation</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Stockage réel sur le téléphone et reprise automatique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484632">
                <a:tc>
                  <a:txBody>
                    <a:bodyPr/>
                    <a:lstStyle/>
                    <a:p>
                      <a:pPr indent="0" marL="0">
                        <a:buNone/>
                      </a:pPr>
                      <a:r>
                        <a:rPr lang="en-US" sz="1150" b="1" dirty="0">
                          <a:solidFill>
                            <a:schemeClr val="tx2"/>
                          </a:solidFill>
                        </a:rPr>
                        <a:t>SMS et appel</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Décrits à l'écran, non envoyés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Passerelle avec un opérateur télécom béninois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484632">
                <a:tc>
                  <a:txBody>
                    <a:bodyPr/>
                    <a:lstStyle/>
                    <a:p>
                      <a:pPr indent="0" marL="0">
                        <a:buNone/>
                      </a:pPr>
                      <a:r>
                        <a:rPr lang="en-US" sz="1150" b="1" dirty="0">
                          <a:solidFill>
                            <a:schemeClr val="tx2"/>
                          </a:solidFill>
                        </a:rPr>
                        <a:t>Comptes et droits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Changement de vue libre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Connexion des agents, droits par rôle, journal d'audit</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484632">
                <a:tc>
                  <a:txBody>
                    <a:bodyPr/>
                    <a:lstStyle/>
                    <a:p>
                      <a:pPr indent="0" marL="0">
                        <a:buNone/>
                      </a:pPr>
                      <a:r>
                        <a:rPr lang="en-US" sz="1150" b="1" dirty="0">
                          <a:solidFill>
                            <a:schemeClr val="tx2"/>
                          </a:solidFill>
                        </a:rPr>
                        <a:t>Données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Fictives, en mémoire du navigateur</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Base hébergée au Bénin, sauvegardes, export ouvert</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484632">
                <a:tc>
                  <a:txBody>
                    <a:bodyPr/>
                    <a:lstStyle/>
                    <a:p>
                      <a:pPr indent="0" marL="0">
                        <a:buNone/>
                      </a:pPr>
                      <a:r>
                        <a:rPr lang="en-US" sz="1150" b="1" dirty="0">
                          <a:solidFill>
                            <a:schemeClr val="tx2"/>
                          </a:solidFill>
                        </a:rPr>
                        <a:t>Carte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Schéma des arrondissements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Fond de carte réel et lien avec le cadastre numérique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484632">
                <a:tc>
                  <a:txBody>
                    <a:bodyPr/>
                    <a:lstStyle/>
                    <a:p>
                      <a:pPr indent="0" marL="0">
                        <a:buNone/>
                      </a:pPr>
                      <a:r>
                        <a:rPr lang="en-US" sz="1150" b="1" dirty="0">
                          <a:solidFill>
                            <a:schemeClr val="tx2"/>
                          </a:solidFill>
                        </a:rPr>
                        <a:t>Langues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Français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Langues locales et pictogrammes, testés avec les relais digitaux</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23 (cadastre numérique) et p. 64 (localisation de la donnée, relais digitaux). Évaluation :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LE PILOTE PROPOSÉ</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Un pilote de 90 jours : une commune, deux familles d'ouvrages</a:t>
            </a:r>
            <a:endParaRPr lang="en-US" sz="2800" dirty="0"/>
          </a:p>
        </p:txBody>
      </p:sp>
      <p:sp>
        <p:nvSpPr>
          <p:cNvPr id="5" name="perim"/>
          <p:cNvSpPr/>
          <p:nvPr/>
        </p:nvSpPr>
        <p:spPr>
          <a:xfrm>
            <a:off x="548640" y="1965960"/>
            <a:ext cx="3108960" cy="3977640"/>
          </a:xfrm>
          <a:prstGeom prst="roundRect">
            <a:avLst>
              <a:gd name="adj" fmla="val 3529"/>
            </a:avLst>
          </a:prstGeom>
          <a:solidFill>
            <a:schemeClr val="tx2"/>
          </a:solidFill>
          <a:ln/>
        </p:spPr>
      </p:sp>
      <p:sp>
        <p:nvSpPr>
          <p:cNvPr id="6" name="Text 3"/>
          <p:cNvSpPr txBox="1"/>
          <p:nvPr/>
        </p:nvSpPr>
        <p:spPr>
          <a:xfrm>
            <a:off x="777240" y="2194560"/>
            <a:ext cx="27432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PÉRIMÈTRE</a:t>
            </a:r>
            <a:endParaRPr lang="en-US" sz="1100" dirty="0"/>
          </a:p>
        </p:txBody>
      </p:sp>
      <p:sp>
        <p:nvSpPr>
          <p:cNvPr id="7" name="Shape 4"/>
          <p:cNvSpPr/>
          <p:nvPr/>
        </p:nvSpPr>
        <p:spPr>
          <a:xfrm>
            <a:off x="777240" y="2670048"/>
            <a:ext cx="128016" cy="128016"/>
          </a:xfrm>
          <a:prstGeom prst="ellipse">
            <a:avLst/>
          </a:prstGeom>
          <a:solidFill>
            <a:schemeClr val="accent2"/>
          </a:solidFill>
          <a:ln/>
        </p:spPr>
      </p:sp>
      <p:sp>
        <p:nvSpPr>
          <p:cNvPr id="8" name="Text 5"/>
          <p:cNvSpPr txBox="1"/>
          <p:nvPr/>
        </p:nvSpPr>
        <p:spPr>
          <a:xfrm>
            <a:off x="1033272" y="2606040"/>
            <a:ext cx="2487168" cy="585216"/>
          </a:xfrm>
          <a:prstGeom prst="rect">
            <a:avLst/>
          </a:prstGeom>
          <a:noFill/>
          <a:ln/>
        </p:spPr>
        <p:txBody>
          <a:bodyPr wrap="square" lIns="0" tIns="0" rIns="0" bIns="0" rtlCol="0" anchor="t"/>
          <a:lstStyle/>
          <a:p>
            <a:pPr indent="0" marL="0">
              <a:buNone/>
            </a:pPr>
            <a:r>
              <a:rPr lang="en-US" sz="1200" dirty="0">
                <a:solidFill>
                  <a:schemeClr val="bg1"/>
                </a:solidFill>
              </a:rPr>
              <a:t>Une commune volontaire, un référent nommé</a:t>
            </a:r>
            <a:endParaRPr lang="en-US" sz="1200" dirty="0"/>
          </a:p>
        </p:txBody>
      </p:sp>
      <p:sp>
        <p:nvSpPr>
          <p:cNvPr id="9" name="Shape 6"/>
          <p:cNvSpPr/>
          <p:nvPr/>
        </p:nvSpPr>
        <p:spPr>
          <a:xfrm>
            <a:off x="777240" y="3291840"/>
            <a:ext cx="128016" cy="128016"/>
          </a:xfrm>
          <a:prstGeom prst="ellipse">
            <a:avLst/>
          </a:prstGeom>
          <a:solidFill>
            <a:schemeClr val="accent2"/>
          </a:solidFill>
          <a:ln/>
        </p:spPr>
      </p:sp>
      <p:sp>
        <p:nvSpPr>
          <p:cNvPr id="10" name="Text 7"/>
          <p:cNvSpPr txBox="1"/>
          <p:nvPr/>
        </p:nvSpPr>
        <p:spPr>
          <a:xfrm>
            <a:off x="1033272" y="3227832"/>
            <a:ext cx="2487168" cy="585216"/>
          </a:xfrm>
          <a:prstGeom prst="rect">
            <a:avLst/>
          </a:prstGeom>
          <a:noFill/>
          <a:ln/>
        </p:spPr>
        <p:txBody>
          <a:bodyPr wrap="square" lIns="0" tIns="0" rIns="0" bIns="0" rtlCol="0" anchor="t"/>
          <a:lstStyle/>
          <a:p>
            <a:pPr indent="0" marL="0">
              <a:buNone/>
            </a:pPr>
            <a:r>
              <a:rPr lang="en-US" sz="1200" dirty="0">
                <a:solidFill>
                  <a:schemeClr val="bg1"/>
                </a:solidFill>
              </a:rPr>
              <a:t>Tous ses ouvrages d'eau potable</a:t>
            </a:r>
            <a:endParaRPr lang="en-US" sz="1200" dirty="0"/>
          </a:p>
        </p:txBody>
      </p:sp>
      <p:sp>
        <p:nvSpPr>
          <p:cNvPr id="11" name="Shape 8"/>
          <p:cNvSpPr/>
          <p:nvPr/>
        </p:nvSpPr>
        <p:spPr>
          <a:xfrm>
            <a:off x="777240" y="3913632"/>
            <a:ext cx="128016" cy="128016"/>
          </a:xfrm>
          <a:prstGeom prst="ellipse">
            <a:avLst/>
          </a:prstGeom>
          <a:solidFill>
            <a:schemeClr val="accent2"/>
          </a:solidFill>
          <a:ln/>
        </p:spPr>
      </p:sp>
      <p:sp>
        <p:nvSpPr>
          <p:cNvPr id="12" name="Text 9"/>
          <p:cNvSpPr txBox="1"/>
          <p:nvPr/>
        </p:nvSpPr>
        <p:spPr>
          <a:xfrm>
            <a:off x="1033272" y="3849624"/>
            <a:ext cx="2487168" cy="585216"/>
          </a:xfrm>
          <a:prstGeom prst="rect">
            <a:avLst/>
          </a:prstGeom>
          <a:noFill/>
          <a:ln/>
        </p:spPr>
        <p:txBody>
          <a:bodyPr wrap="square" lIns="0" tIns="0" rIns="0" bIns="0" rtlCol="0" anchor="t"/>
          <a:lstStyle/>
          <a:p>
            <a:pPr indent="0" marL="0">
              <a:buNone/>
            </a:pPr>
            <a:r>
              <a:rPr lang="en-US" sz="1200" dirty="0">
                <a:solidFill>
                  <a:schemeClr val="bg1"/>
                </a:solidFill>
              </a:rPr>
              <a:t>Tout son éclairage public</a:t>
            </a:r>
            <a:endParaRPr lang="en-US" sz="1200" dirty="0"/>
          </a:p>
        </p:txBody>
      </p:sp>
      <p:sp>
        <p:nvSpPr>
          <p:cNvPr id="13" name="Shape 10"/>
          <p:cNvSpPr/>
          <p:nvPr/>
        </p:nvSpPr>
        <p:spPr>
          <a:xfrm>
            <a:off x="777240" y="4535424"/>
            <a:ext cx="128016" cy="128016"/>
          </a:xfrm>
          <a:prstGeom prst="ellipse">
            <a:avLst/>
          </a:prstGeom>
          <a:solidFill>
            <a:schemeClr val="accent2"/>
          </a:solidFill>
          <a:ln/>
        </p:spPr>
      </p:sp>
      <p:sp>
        <p:nvSpPr>
          <p:cNvPr id="14" name="Text 11"/>
          <p:cNvSpPr txBox="1"/>
          <p:nvPr/>
        </p:nvSpPr>
        <p:spPr>
          <a:xfrm>
            <a:off x="1033272" y="4471416"/>
            <a:ext cx="2487168" cy="585216"/>
          </a:xfrm>
          <a:prstGeom prst="rect">
            <a:avLst/>
          </a:prstGeom>
          <a:noFill/>
          <a:ln/>
        </p:spPr>
        <p:txBody>
          <a:bodyPr wrap="square" lIns="0" tIns="0" rIns="0" bIns="0" rtlCol="0" anchor="t"/>
          <a:lstStyle/>
          <a:p>
            <a:pPr indent="0" marL="0">
              <a:buNone/>
            </a:pPr>
            <a:r>
              <a:rPr lang="en-US" sz="1200" dirty="0">
                <a:solidFill>
                  <a:schemeClr val="bg1"/>
                </a:solidFill>
              </a:rPr>
              <a:t>Une équipe eau, un électricien, un agent communal</a:t>
            </a:r>
            <a:endParaRPr lang="en-US" sz="1200" dirty="0"/>
          </a:p>
        </p:txBody>
      </p:sp>
      <p:sp>
        <p:nvSpPr>
          <p:cNvPr id="15" name="Shape 12"/>
          <p:cNvSpPr/>
          <p:nvPr/>
        </p:nvSpPr>
        <p:spPr>
          <a:xfrm>
            <a:off x="777240" y="5157216"/>
            <a:ext cx="128016" cy="128016"/>
          </a:xfrm>
          <a:prstGeom prst="ellipse">
            <a:avLst/>
          </a:prstGeom>
          <a:solidFill>
            <a:schemeClr val="accent2"/>
          </a:solidFill>
          <a:ln/>
        </p:spPr>
      </p:sp>
      <p:sp>
        <p:nvSpPr>
          <p:cNvPr id="16" name="Text 13"/>
          <p:cNvSpPr txBox="1"/>
          <p:nvPr/>
        </p:nvSpPr>
        <p:spPr>
          <a:xfrm>
            <a:off x="1033272" y="5093208"/>
            <a:ext cx="2487168" cy="585216"/>
          </a:xfrm>
          <a:prstGeom prst="rect">
            <a:avLst/>
          </a:prstGeom>
          <a:noFill/>
          <a:ln/>
        </p:spPr>
        <p:txBody>
          <a:bodyPr wrap="square" lIns="0" tIns="0" rIns="0" bIns="0" rtlCol="0" anchor="t"/>
          <a:lstStyle/>
          <a:p>
            <a:pPr indent="0" marL="0">
              <a:buNone/>
            </a:pPr>
            <a:r>
              <a:rPr lang="en-US" sz="1200" dirty="0">
                <a:solidFill>
                  <a:schemeClr val="bg1"/>
                </a:solidFill>
              </a:rPr>
              <a:t>Les relais digitaux de la commune</a:t>
            </a:r>
            <a:endParaRPr lang="en-US" sz="1200" dirty="0"/>
          </a:p>
        </p:txBody>
      </p:sp>
      <p:sp>
        <p:nvSpPr>
          <p:cNvPr id="17" name="ph0"/>
          <p:cNvSpPr/>
          <p:nvPr/>
        </p:nvSpPr>
        <p:spPr>
          <a:xfrm>
            <a:off x="3886200" y="1965960"/>
            <a:ext cx="1810512" cy="3977640"/>
          </a:xfrm>
          <a:prstGeom prst="roundRect">
            <a:avLst>
              <a:gd name="adj" fmla="val 6061"/>
            </a:avLst>
          </a:prstGeom>
          <a:solidFill>
            <a:schemeClr val="bg2"/>
          </a:solidFill>
          <a:ln/>
        </p:spPr>
      </p:sp>
      <p:sp>
        <p:nvSpPr>
          <p:cNvPr id="18" name="Text 15"/>
          <p:cNvSpPr txBox="1"/>
          <p:nvPr/>
        </p:nvSpPr>
        <p:spPr>
          <a:xfrm>
            <a:off x="4023360" y="2148840"/>
            <a:ext cx="1536192" cy="274320"/>
          </a:xfrm>
          <a:prstGeom prst="rect">
            <a:avLst/>
          </a:prstGeom>
          <a:noFill/>
          <a:ln/>
        </p:spPr>
        <p:txBody>
          <a:bodyPr wrap="square" lIns="0" tIns="0" rIns="0" bIns="0" rtlCol="0" anchor="ctr"/>
          <a:lstStyle/>
          <a:p>
            <a:pPr indent="0" marL="0">
              <a:buNone/>
            </a:pPr>
            <a:r>
              <a:rPr lang="en-US" sz="950" b="1" spc="100" kern="0" dirty="0">
                <a:solidFill>
                  <a:schemeClr val="accent1"/>
                </a:solidFill>
              </a:rPr>
              <a:t>SEMAINES 1 À 4</a:t>
            </a:r>
            <a:endParaRPr lang="en-US" sz="950" dirty="0"/>
          </a:p>
        </p:txBody>
      </p:sp>
      <p:sp>
        <p:nvSpPr>
          <p:cNvPr id="19" name="Text 16"/>
          <p:cNvSpPr txBox="1"/>
          <p:nvPr/>
        </p:nvSpPr>
        <p:spPr>
          <a:xfrm>
            <a:off x="4023360" y="2450592"/>
            <a:ext cx="1536192" cy="411480"/>
          </a:xfrm>
          <a:prstGeom prst="rect">
            <a:avLst/>
          </a:prstGeom>
          <a:noFill/>
          <a:ln/>
        </p:spPr>
        <p:txBody>
          <a:bodyPr wrap="square" lIns="0" tIns="0" rIns="0" bIns="0" rtlCol="0" anchor="ctr"/>
          <a:lstStyle/>
          <a:p>
            <a:pPr indent="0" marL="0">
              <a:buNone/>
            </a:pPr>
            <a:r>
              <a:rPr lang="en-US" sz="1700" b="1" dirty="0">
                <a:solidFill>
                  <a:schemeClr val="tx2"/>
                </a:solidFill>
              </a:rPr>
              <a:t>Départ</a:t>
            </a:r>
            <a:endParaRPr lang="en-US" sz="1700" dirty="0"/>
          </a:p>
        </p:txBody>
      </p:sp>
      <p:sp>
        <p:nvSpPr>
          <p:cNvPr id="20" name="Shape 17"/>
          <p:cNvSpPr/>
          <p:nvPr/>
        </p:nvSpPr>
        <p:spPr>
          <a:xfrm>
            <a:off x="4023360" y="3127248"/>
            <a:ext cx="128016" cy="128016"/>
          </a:xfrm>
          <a:prstGeom prst="ellipse">
            <a:avLst/>
          </a:prstGeom>
          <a:solidFill>
            <a:schemeClr val="accent2"/>
          </a:solidFill>
          <a:ln/>
        </p:spPr>
      </p:sp>
      <p:sp>
        <p:nvSpPr>
          <p:cNvPr id="21" name="Text 18"/>
          <p:cNvSpPr txBox="1"/>
          <p:nvPr/>
        </p:nvSpPr>
        <p:spPr>
          <a:xfrm>
            <a:off x="4279392" y="3063240"/>
            <a:ext cx="1280160" cy="804672"/>
          </a:xfrm>
          <a:prstGeom prst="rect">
            <a:avLst/>
          </a:prstGeom>
          <a:noFill/>
          <a:ln/>
        </p:spPr>
        <p:txBody>
          <a:bodyPr wrap="square" lIns="0" tIns="0" rIns="0" bIns="0" rtlCol="0" anchor="t"/>
          <a:lstStyle/>
          <a:p>
            <a:pPr indent="0" marL="0">
              <a:buNone/>
            </a:pPr>
            <a:r>
              <a:rPr lang="en-US" sz="1100" dirty="0">
                <a:solidFill>
                  <a:schemeClr val="tx1"/>
                </a:solidFill>
              </a:rPr>
              <a:t>Inventaire et pose des plaques</a:t>
            </a:r>
            <a:endParaRPr lang="en-US" sz="1100" dirty="0"/>
          </a:p>
        </p:txBody>
      </p:sp>
      <p:sp>
        <p:nvSpPr>
          <p:cNvPr id="22" name="Shape 19"/>
          <p:cNvSpPr/>
          <p:nvPr/>
        </p:nvSpPr>
        <p:spPr>
          <a:xfrm>
            <a:off x="4023360" y="3968496"/>
            <a:ext cx="128016" cy="128016"/>
          </a:xfrm>
          <a:prstGeom prst="ellipse">
            <a:avLst/>
          </a:prstGeom>
          <a:solidFill>
            <a:schemeClr val="accent2"/>
          </a:solidFill>
          <a:ln/>
        </p:spPr>
      </p:sp>
      <p:sp>
        <p:nvSpPr>
          <p:cNvPr id="23" name="Text 20"/>
          <p:cNvSpPr txBox="1"/>
          <p:nvPr/>
        </p:nvSpPr>
        <p:spPr>
          <a:xfrm>
            <a:off x="4279392" y="3904488"/>
            <a:ext cx="1280160" cy="804672"/>
          </a:xfrm>
          <a:prstGeom prst="rect">
            <a:avLst/>
          </a:prstGeom>
          <a:noFill/>
          <a:ln/>
        </p:spPr>
        <p:txBody>
          <a:bodyPr wrap="square" lIns="0" tIns="0" rIns="0" bIns="0" rtlCol="0" anchor="t"/>
          <a:lstStyle/>
          <a:p>
            <a:pPr indent="0" marL="0">
              <a:buNone/>
            </a:pPr>
            <a:r>
              <a:rPr lang="en-US" sz="1100" dirty="0">
                <a:solidFill>
                  <a:schemeClr val="tx1"/>
                </a:solidFill>
              </a:rPr>
              <a:t>Saisie des pièces et des contrats</a:t>
            </a:r>
            <a:endParaRPr lang="en-US" sz="1100" dirty="0"/>
          </a:p>
        </p:txBody>
      </p:sp>
      <p:sp>
        <p:nvSpPr>
          <p:cNvPr id="24" name="Shape 21"/>
          <p:cNvSpPr/>
          <p:nvPr/>
        </p:nvSpPr>
        <p:spPr>
          <a:xfrm>
            <a:off x="4023360" y="4809744"/>
            <a:ext cx="128016" cy="128016"/>
          </a:xfrm>
          <a:prstGeom prst="ellipse">
            <a:avLst/>
          </a:prstGeom>
          <a:solidFill>
            <a:schemeClr val="accent2"/>
          </a:solidFill>
          <a:ln/>
        </p:spPr>
      </p:sp>
      <p:sp>
        <p:nvSpPr>
          <p:cNvPr id="25" name="Text 22"/>
          <p:cNvSpPr txBox="1"/>
          <p:nvPr/>
        </p:nvSpPr>
        <p:spPr>
          <a:xfrm>
            <a:off x="4279392" y="4745736"/>
            <a:ext cx="1280160" cy="804672"/>
          </a:xfrm>
          <a:prstGeom prst="rect">
            <a:avLst/>
          </a:prstGeom>
          <a:noFill/>
          <a:ln/>
        </p:spPr>
        <p:txBody>
          <a:bodyPr wrap="square" lIns="0" tIns="0" rIns="0" bIns="0" rtlCol="0" anchor="t"/>
          <a:lstStyle/>
          <a:p>
            <a:pPr indent="0" marL="0">
              <a:buNone/>
            </a:pPr>
            <a:r>
              <a:rPr lang="en-US" sz="1100" dirty="0">
                <a:solidFill>
                  <a:schemeClr val="tx1"/>
                </a:solidFill>
              </a:rPr>
              <a:t>Mesure de la situation de départ</a:t>
            </a:r>
            <a:endParaRPr lang="en-US" sz="1100" dirty="0"/>
          </a:p>
        </p:txBody>
      </p:sp>
      <p:sp>
        <p:nvSpPr>
          <p:cNvPr id="26" name="Shape 23"/>
          <p:cNvSpPr/>
          <p:nvPr/>
        </p:nvSpPr>
        <p:spPr>
          <a:xfrm>
            <a:off x="5650992" y="3840480"/>
            <a:ext cx="219456" cy="237744"/>
          </a:xfrm>
          <a:prstGeom prst="rightArrow">
            <a:avLst/>
          </a:prstGeom>
          <a:solidFill>
            <a:schemeClr val="accent2"/>
          </a:solidFill>
          <a:ln/>
        </p:spPr>
      </p:sp>
      <p:sp>
        <p:nvSpPr>
          <p:cNvPr id="27" name="ph1"/>
          <p:cNvSpPr/>
          <p:nvPr/>
        </p:nvSpPr>
        <p:spPr>
          <a:xfrm>
            <a:off x="5852160" y="1965960"/>
            <a:ext cx="1810512" cy="3977640"/>
          </a:xfrm>
          <a:prstGeom prst="roundRect">
            <a:avLst>
              <a:gd name="adj" fmla="val 6061"/>
            </a:avLst>
          </a:prstGeom>
          <a:solidFill>
            <a:schemeClr val="bg2"/>
          </a:solidFill>
          <a:ln/>
        </p:spPr>
      </p:sp>
      <p:sp>
        <p:nvSpPr>
          <p:cNvPr id="28" name="Text 25"/>
          <p:cNvSpPr txBox="1"/>
          <p:nvPr/>
        </p:nvSpPr>
        <p:spPr>
          <a:xfrm>
            <a:off x="5989320" y="2148840"/>
            <a:ext cx="1536192" cy="274320"/>
          </a:xfrm>
          <a:prstGeom prst="rect">
            <a:avLst/>
          </a:prstGeom>
          <a:noFill/>
          <a:ln/>
        </p:spPr>
        <p:txBody>
          <a:bodyPr wrap="square" lIns="0" tIns="0" rIns="0" bIns="0" rtlCol="0" anchor="ctr"/>
          <a:lstStyle/>
          <a:p>
            <a:pPr indent="0" marL="0">
              <a:buNone/>
            </a:pPr>
            <a:r>
              <a:rPr lang="en-US" sz="950" b="1" spc="100" kern="0" dirty="0">
                <a:solidFill>
                  <a:schemeClr val="accent1"/>
                </a:solidFill>
              </a:rPr>
              <a:t>SEMAINES 5 ET 6</a:t>
            </a:r>
            <a:endParaRPr lang="en-US" sz="950" dirty="0"/>
          </a:p>
        </p:txBody>
      </p:sp>
      <p:sp>
        <p:nvSpPr>
          <p:cNvPr id="29" name="Text 26"/>
          <p:cNvSpPr txBox="1"/>
          <p:nvPr/>
        </p:nvSpPr>
        <p:spPr>
          <a:xfrm>
            <a:off x="5989320" y="2450592"/>
            <a:ext cx="1536192" cy="411480"/>
          </a:xfrm>
          <a:prstGeom prst="rect">
            <a:avLst/>
          </a:prstGeom>
          <a:noFill/>
          <a:ln/>
        </p:spPr>
        <p:txBody>
          <a:bodyPr wrap="square" lIns="0" tIns="0" rIns="0" bIns="0" rtlCol="0" anchor="ctr"/>
          <a:lstStyle/>
          <a:p>
            <a:pPr indent="0" marL="0">
              <a:buNone/>
            </a:pPr>
            <a:r>
              <a:rPr lang="en-US" sz="1700" b="1" dirty="0">
                <a:solidFill>
                  <a:schemeClr val="tx2"/>
                </a:solidFill>
              </a:rPr>
              <a:t>Lancement</a:t>
            </a:r>
            <a:endParaRPr lang="en-US" sz="1700" dirty="0"/>
          </a:p>
        </p:txBody>
      </p:sp>
      <p:sp>
        <p:nvSpPr>
          <p:cNvPr id="30" name="Shape 27"/>
          <p:cNvSpPr/>
          <p:nvPr/>
        </p:nvSpPr>
        <p:spPr>
          <a:xfrm>
            <a:off x="5989320" y="3127248"/>
            <a:ext cx="128016" cy="128016"/>
          </a:xfrm>
          <a:prstGeom prst="ellipse">
            <a:avLst/>
          </a:prstGeom>
          <a:solidFill>
            <a:schemeClr val="accent2"/>
          </a:solidFill>
          <a:ln/>
        </p:spPr>
      </p:sp>
      <p:sp>
        <p:nvSpPr>
          <p:cNvPr id="31" name="Text 28"/>
          <p:cNvSpPr txBox="1"/>
          <p:nvPr/>
        </p:nvSpPr>
        <p:spPr>
          <a:xfrm>
            <a:off x="6245352" y="3063240"/>
            <a:ext cx="1280160" cy="804672"/>
          </a:xfrm>
          <a:prstGeom prst="rect">
            <a:avLst/>
          </a:prstGeom>
          <a:noFill/>
          <a:ln/>
        </p:spPr>
        <p:txBody>
          <a:bodyPr wrap="square" lIns="0" tIns="0" rIns="0" bIns="0" rtlCol="0" anchor="t"/>
          <a:lstStyle/>
          <a:p>
            <a:pPr indent="0" marL="0">
              <a:buNone/>
            </a:pPr>
            <a:r>
              <a:rPr lang="en-US" sz="1100" dirty="0">
                <a:solidFill>
                  <a:schemeClr val="tx1"/>
                </a:solidFill>
              </a:rPr>
              <a:t>Formation des agents et opérateurs</a:t>
            </a:r>
            <a:endParaRPr lang="en-US" sz="1100" dirty="0"/>
          </a:p>
        </p:txBody>
      </p:sp>
      <p:sp>
        <p:nvSpPr>
          <p:cNvPr id="32" name="Shape 29"/>
          <p:cNvSpPr/>
          <p:nvPr/>
        </p:nvSpPr>
        <p:spPr>
          <a:xfrm>
            <a:off x="5989320" y="3968496"/>
            <a:ext cx="128016" cy="128016"/>
          </a:xfrm>
          <a:prstGeom prst="ellipse">
            <a:avLst/>
          </a:prstGeom>
          <a:solidFill>
            <a:schemeClr val="accent2"/>
          </a:solidFill>
          <a:ln/>
        </p:spPr>
      </p:sp>
      <p:sp>
        <p:nvSpPr>
          <p:cNvPr id="33" name="Text 30"/>
          <p:cNvSpPr txBox="1"/>
          <p:nvPr/>
        </p:nvSpPr>
        <p:spPr>
          <a:xfrm>
            <a:off x="6245352" y="3904488"/>
            <a:ext cx="1280160" cy="804672"/>
          </a:xfrm>
          <a:prstGeom prst="rect">
            <a:avLst/>
          </a:prstGeom>
          <a:noFill/>
          <a:ln/>
        </p:spPr>
        <p:txBody>
          <a:bodyPr wrap="square" lIns="0" tIns="0" rIns="0" bIns="0" rtlCol="0" anchor="t"/>
          <a:lstStyle/>
          <a:p>
            <a:pPr indent="0" marL="0">
              <a:buNone/>
            </a:pPr>
            <a:r>
              <a:rPr lang="en-US" sz="1100" dirty="0">
                <a:solidFill>
                  <a:schemeClr val="tx1"/>
                </a:solidFill>
              </a:rPr>
              <a:t>Information des habitants</a:t>
            </a:r>
            <a:endParaRPr lang="en-US" sz="1100" dirty="0"/>
          </a:p>
        </p:txBody>
      </p:sp>
      <p:sp>
        <p:nvSpPr>
          <p:cNvPr id="34" name="Shape 31"/>
          <p:cNvSpPr/>
          <p:nvPr/>
        </p:nvSpPr>
        <p:spPr>
          <a:xfrm>
            <a:off x="5989320" y="4809744"/>
            <a:ext cx="128016" cy="128016"/>
          </a:xfrm>
          <a:prstGeom prst="ellipse">
            <a:avLst/>
          </a:prstGeom>
          <a:solidFill>
            <a:schemeClr val="accent2"/>
          </a:solidFill>
          <a:ln/>
        </p:spPr>
      </p:sp>
      <p:sp>
        <p:nvSpPr>
          <p:cNvPr id="35" name="Text 32"/>
          <p:cNvSpPr txBox="1"/>
          <p:nvPr/>
        </p:nvSpPr>
        <p:spPr>
          <a:xfrm>
            <a:off x="6245352" y="4745736"/>
            <a:ext cx="1280160" cy="804672"/>
          </a:xfrm>
          <a:prstGeom prst="rect">
            <a:avLst/>
          </a:prstGeom>
          <a:noFill/>
          <a:ln/>
        </p:spPr>
        <p:txBody>
          <a:bodyPr wrap="square" lIns="0" tIns="0" rIns="0" bIns="0" rtlCol="0" anchor="t"/>
          <a:lstStyle/>
          <a:p>
            <a:pPr indent="0" marL="0">
              <a:buNone/>
            </a:pPr>
            <a:r>
              <a:rPr lang="en-US" sz="1100" dirty="0">
                <a:solidFill>
                  <a:schemeClr val="tx1"/>
                </a:solidFill>
              </a:rPr>
              <a:t>Premiers signalements</a:t>
            </a:r>
            <a:endParaRPr lang="en-US" sz="1100" dirty="0"/>
          </a:p>
        </p:txBody>
      </p:sp>
      <p:sp>
        <p:nvSpPr>
          <p:cNvPr id="36" name="Shape 33"/>
          <p:cNvSpPr/>
          <p:nvPr/>
        </p:nvSpPr>
        <p:spPr>
          <a:xfrm>
            <a:off x="7616952" y="3840480"/>
            <a:ext cx="219456" cy="237744"/>
          </a:xfrm>
          <a:prstGeom prst="rightArrow">
            <a:avLst/>
          </a:prstGeom>
          <a:solidFill>
            <a:schemeClr val="accent2"/>
          </a:solidFill>
          <a:ln/>
        </p:spPr>
      </p:sp>
      <p:sp>
        <p:nvSpPr>
          <p:cNvPr id="37" name="ph2"/>
          <p:cNvSpPr/>
          <p:nvPr/>
        </p:nvSpPr>
        <p:spPr>
          <a:xfrm>
            <a:off x="7818120" y="1965960"/>
            <a:ext cx="1810512" cy="3977640"/>
          </a:xfrm>
          <a:prstGeom prst="roundRect">
            <a:avLst>
              <a:gd name="adj" fmla="val 6061"/>
            </a:avLst>
          </a:prstGeom>
          <a:solidFill>
            <a:schemeClr val="bg2"/>
          </a:solidFill>
          <a:ln/>
        </p:spPr>
      </p:sp>
      <p:sp>
        <p:nvSpPr>
          <p:cNvPr id="38" name="Text 35"/>
          <p:cNvSpPr txBox="1"/>
          <p:nvPr/>
        </p:nvSpPr>
        <p:spPr>
          <a:xfrm>
            <a:off x="7955280" y="2148840"/>
            <a:ext cx="1536192" cy="274320"/>
          </a:xfrm>
          <a:prstGeom prst="rect">
            <a:avLst/>
          </a:prstGeom>
          <a:noFill/>
          <a:ln/>
        </p:spPr>
        <p:txBody>
          <a:bodyPr wrap="square" lIns="0" tIns="0" rIns="0" bIns="0" rtlCol="0" anchor="ctr"/>
          <a:lstStyle/>
          <a:p>
            <a:pPr indent="0" marL="0">
              <a:buNone/>
            </a:pPr>
            <a:r>
              <a:rPr lang="en-US" sz="950" b="1" spc="100" kern="0" dirty="0">
                <a:solidFill>
                  <a:schemeClr val="accent1"/>
                </a:solidFill>
              </a:rPr>
              <a:t>SEMAINES 7 À 12</a:t>
            </a:r>
            <a:endParaRPr lang="en-US" sz="950" dirty="0"/>
          </a:p>
        </p:txBody>
      </p:sp>
      <p:sp>
        <p:nvSpPr>
          <p:cNvPr id="39" name="Text 36"/>
          <p:cNvSpPr txBox="1"/>
          <p:nvPr/>
        </p:nvSpPr>
        <p:spPr>
          <a:xfrm>
            <a:off x="7955280" y="2450592"/>
            <a:ext cx="1536192" cy="411480"/>
          </a:xfrm>
          <a:prstGeom prst="rect">
            <a:avLst/>
          </a:prstGeom>
          <a:noFill/>
          <a:ln/>
        </p:spPr>
        <p:txBody>
          <a:bodyPr wrap="square" lIns="0" tIns="0" rIns="0" bIns="0" rtlCol="0" anchor="ctr"/>
          <a:lstStyle/>
          <a:p>
            <a:pPr indent="0" marL="0">
              <a:buNone/>
            </a:pPr>
            <a:r>
              <a:rPr lang="en-US" sz="1700" b="1" dirty="0">
                <a:solidFill>
                  <a:schemeClr val="tx2"/>
                </a:solidFill>
              </a:rPr>
              <a:t>Exploitation</a:t>
            </a:r>
            <a:endParaRPr lang="en-US" sz="1700" dirty="0"/>
          </a:p>
        </p:txBody>
      </p:sp>
      <p:sp>
        <p:nvSpPr>
          <p:cNvPr id="40" name="Shape 37"/>
          <p:cNvSpPr/>
          <p:nvPr/>
        </p:nvSpPr>
        <p:spPr>
          <a:xfrm>
            <a:off x="7955280" y="3127248"/>
            <a:ext cx="128016" cy="128016"/>
          </a:xfrm>
          <a:prstGeom prst="ellipse">
            <a:avLst/>
          </a:prstGeom>
          <a:solidFill>
            <a:schemeClr val="accent2"/>
          </a:solidFill>
          <a:ln/>
        </p:spPr>
      </p:sp>
      <p:sp>
        <p:nvSpPr>
          <p:cNvPr id="41" name="Text 38"/>
          <p:cNvSpPr txBox="1"/>
          <p:nvPr/>
        </p:nvSpPr>
        <p:spPr>
          <a:xfrm>
            <a:off x="8211312" y="3063240"/>
            <a:ext cx="1280160" cy="804672"/>
          </a:xfrm>
          <a:prstGeom prst="rect">
            <a:avLst/>
          </a:prstGeom>
          <a:noFill/>
          <a:ln/>
        </p:spPr>
        <p:txBody>
          <a:bodyPr wrap="square" lIns="0" tIns="0" rIns="0" bIns="0" rtlCol="0" anchor="t"/>
          <a:lstStyle/>
          <a:p>
            <a:pPr indent="0" marL="0">
              <a:buNone/>
            </a:pPr>
            <a:r>
              <a:rPr lang="en-US" sz="1100" dirty="0">
                <a:solidFill>
                  <a:schemeClr val="tx1"/>
                </a:solidFill>
              </a:rPr>
              <a:t>Signalements et interventions réels</a:t>
            </a:r>
            <a:endParaRPr lang="en-US" sz="1100" dirty="0"/>
          </a:p>
        </p:txBody>
      </p:sp>
      <p:sp>
        <p:nvSpPr>
          <p:cNvPr id="42" name="Shape 39"/>
          <p:cNvSpPr/>
          <p:nvPr/>
        </p:nvSpPr>
        <p:spPr>
          <a:xfrm>
            <a:off x="7955280" y="3968496"/>
            <a:ext cx="128016" cy="128016"/>
          </a:xfrm>
          <a:prstGeom prst="ellipse">
            <a:avLst/>
          </a:prstGeom>
          <a:solidFill>
            <a:schemeClr val="accent2"/>
          </a:solidFill>
          <a:ln/>
        </p:spPr>
      </p:sp>
      <p:sp>
        <p:nvSpPr>
          <p:cNvPr id="43" name="Text 40"/>
          <p:cNvSpPr txBox="1"/>
          <p:nvPr/>
        </p:nvSpPr>
        <p:spPr>
          <a:xfrm>
            <a:off x="8211312" y="3904488"/>
            <a:ext cx="1280160" cy="804672"/>
          </a:xfrm>
          <a:prstGeom prst="rect">
            <a:avLst/>
          </a:prstGeom>
          <a:noFill/>
          <a:ln/>
        </p:spPr>
        <p:txBody>
          <a:bodyPr wrap="square" lIns="0" tIns="0" rIns="0" bIns="0" rtlCol="0" anchor="t"/>
          <a:lstStyle/>
          <a:p>
            <a:pPr indent="0" marL="0">
              <a:buNone/>
            </a:pPr>
            <a:r>
              <a:rPr lang="en-US" sz="1100" dirty="0">
                <a:solidFill>
                  <a:schemeClr val="tx1"/>
                </a:solidFill>
              </a:rPr>
              <a:t>Point hebdomadaire avec la commune</a:t>
            </a:r>
            <a:endParaRPr lang="en-US" sz="1100" dirty="0"/>
          </a:p>
        </p:txBody>
      </p:sp>
      <p:sp>
        <p:nvSpPr>
          <p:cNvPr id="44" name="Shape 41"/>
          <p:cNvSpPr/>
          <p:nvPr/>
        </p:nvSpPr>
        <p:spPr>
          <a:xfrm>
            <a:off x="7955280" y="4809744"/>
            <a:ext cx="128016" cy="128016"/>
          </a:xfrm>
          <a:prstGeom prst="ellipse">
            <a:avLst/>
          </a:prstGeom>
          <a:solidFill>
            <a:schemeClr val="accent2"/>
          </a:solidFill>
          <a:ln/>
        </p:spPr>
      </p:sp>
      <p:sp>
        <p:nvSpPr>
          <p:cNvPr id="45" name="Text 42"/>
          <p:cNvSpPr txBox="1"/>
          <p:nvPr/>
        </p:nvSpPr>
        <p:spPr>
          <a:xfrm>
            <a:off x="8211312" y="4745736"/>
            <a:ext cx="1280160" cy="804672"/>
          </a:xfrm>
          <a:prstGeom prst="rect">
            <a:avLst/>
          </a:prstGeom>
          <a:noFill/>
          <a:ln/>
        </p:spPr>
        <p:txBody>
          <a:bodyPr wrap="square" lIns="0" tIns="0" rIns="0" bIns="0" rtlCol="0" anchor="t"/>
          <a:lstStyle/>
          <a:p>
            <a:pPr indent="0" marL="0">
              <a:buNone/>
            </a:pPr>
            <a:r>
              <a:rPr lang="en-US" sz="1100" dirty="0">
                <a:solidFill>
                  <a:schemeClr val="tx1"/>
                </a:solidFill>
              </a:rPr>
              <a:t>Ajustements de l'outil</a:t>
            </a:r>
            <a:endParaRPr lang="en-US" sz="1100" dirty="0"/>
          </a:p>
        </p:txBody>
      </p:sp>
      <p:sp>
        <p:nvSpPr>
          <p:cNvPr id="46" name="Shape 43"/>
          <p:cNvSpPr/>
          <p:nvPr/>
        </p:nvSpPr>
        <p:spPr>
          <a:xfrm>
            <a:off x="9582912" y="3840480"/>
            <a:ext cx="219456" cy="237744"/>
          </a:xfrm>
          <a:prstGeom prst="rightArrow">
            <a:avLst/>
          </a:prstGeom>
          <a:solidFill>
            <a:schemeClr val="accent2"/>
          </a:solidFill>
          <a:ln/>
        </p:spPr>
      </p:sp>
      <p:sp>
        <p:nvSpPr>
          <p:cNvPr id="47" name="ph3"/>
          <p:cNvSpPr/>
          <p:nvPr/>
        </p:nvSpPr>
        <p:spPr>
          <a:xfrm>
            <a:off x="9784080" y="1965960"/>
            <a:ext cx="1810512" cy="3977640"/>
          </a:xfrm>
          <a:prstGeom prst="roundRect">
            <a:avLst>
              <a:gd name="adj" fmla="val 6061"/>
            </a:avLst>
          </a:prstGeom>
          <a:solidFill>
            <a:schemeClr val="accent1"/>
          </a:solidFill>
          <a:ln/>
        </p:spPr>
      </p:sp>
      <p:sp>
        <p:nvSpPr>
          <p:cNvPr id="48" name="Text 45"/>
          <p:cNvSpPr txBox="1"/>
          <p:nvPr/>
        </p:nvSpPr>
        <p:spPr>
          <a:xfrm>
            <a:off x="9921240" y="2148840"/>
            <a:ext cx="1536192" cy="274320"/>
          </a:xfrm>
          <a:prstGeom prst="rect">
            <a:avLst/>
          </a:prstGeom>
          <a:noFill/>
          <a:ln/>
        </p:spPr>
        <p:txBody>
          <a:bodyPr wrap="square" lIns="0" tIns="0" rIns="0" bIns="0" rtlCol="0" anchor="ctr"/>
          <a:lstStyle/>
          <a:p>
            <a:pPr indent="0" marL="0">
              <a:buNone/>
            </a:pPr>
            <a:r>
              <a:rPr lang="en-US" sz="950" b="1" spc="100" kern="0" dirty="0">
                <a:solidFill>
                  <a:schemeClr val="accent2"/>
                </a:solidFill>
              </a:rPr>
              <a:t>SEMAINE 13</a:t>
            </a:r>
            <a:endParaRPr lang="en-US" sz="950" dirty="0"/>
          </a:p>
        </p:txBody>
      </p:sp>
      <p:sp>
        <p:nvSpPr>
          <p:cNvPr id="49" name="Text 46"/>
          <p:cNvSpPr txBox="1"/>
          <p:nvPr/>
        </p:nvSpPr>
        <p:spPr>
          <a:xfrm>
            <a:off x="9921240" y="2450592"/>
            <a:ext cx="1536192" cy="411480"/>
          </a:xfrm>
          <a:prstGeom prst="rect">
            <a:avLst/>
          </a:prstGeom>
          <a:noFill/>
          <a:ln/>
        </p:spPr>
        <p:txBody>
          <a:bodyPr wrap="square" lIns="0" tIns="0" rIns="0" bIns="0" rtlCol="0" anchor="ctr"/>
          <a:lstStyle/>
          <a:p>
            <a:pPr indent="0" marL="0">
              <a:buNone/>
            </a:pPr>
            <a:r>
              <a:rPr lang="en-US" sz="1700" b="1" dirty="0">
                <a:solidFill>
                  <a:schemeClr val="bg1"/>
                </a:solidFill>
              </a:rPr>
              <a:t>Bilan</a:t>
            </a:r>
            <a:endParaRPr lang="en-US" sz="1700" dirty="0"/>
          </a:p>
        </p:txBody>
      </p:sp>
      <p:sp>
        <p:nvSpPr>
          <p:cNvPr id="50" name="Shape 47"/>
          <p:cNvSpPr/>
          <p:nvPr/>
        </p:nvSpPr>
        <p:spPr>
          <a:xfrm>
            <a:off x="9921240" y="3127248"/>
            <a:ext cx="128016" cy="128016"/>
          </a:xfrm>
          <a:prstGeom prst="ellipse">
            <a:avLst/>
          </a:prstGeom>
          <a:solidFill>
            <a:schemeClr val="accent2"/>
          </a:solidFill>
          <a:ln/>
        </p:spPr>
      </p:sp>
      <p:sp>
        <p:nvSpPr>
          <p:cNvPr id="51" name="Text 48"/>
          <p:cNvSpPr txBox="1"/>
          <p:nvPr/>
        </p:nvSpPr>
        <p:spPr>
          <a:xfrm>
            <a:off x="10177272" y="3063240"/>
            <a:ext cx="1280160" cy="804672"/>
          </a:xfrm>
          <a:prstGeom prst="rect">
            <a:avLst/>
          </a:prstGeom>
          <a:noFill/>
          <a:ln/>
        </p:spPr>
        <p:txBody>
          <a:bodyPr wrap="square" lIns="0" tIns="0" rIns="0" bIns="0" rtlCol="0" anchor="t"/>
          <a:lstStyle/>
          <a:p>
            <a:pPr indent="0" marL="0">
              <a:buNone/>
            </a:pPr>
            <a:r>
              <a:rPr lang="en-US" sz="1100" dirty="0">
                <a:solidFill>
                  <a:schemeClr val="bg1"/>
                </a:solidFill>
              </a:rPr>
              <a:t>Mesure des critères</a:t>
            </a:r>
            <a:endParaRPr lang="en-US" sz="1100" dirty="0"/>
          </a:p>
        </p:txBody>
      </p:sp>
      <p:sp>
        <p:nvSpPr>
          <p:cNvPr id="52" name="Shape 49"/>
          <p:cNvSpPr/>
          <p:nvPr/>
        </p:nvSpPr>
        <p:spPr>
          <a:xfrm>
            <a:off x="9921240" y="3968496"/>
            <a:ext cx="128016" cy="128016"/>
          </a:xfrm>
          <a:prstGeom prst="ellipse">
            <a:avLst/>
          </a:prstGeom>
          <a:solidFill>
            <a:schemeClr val="accent2"/>
          </a:solidFill>
          <a:ln/>
        </p:spPr>
      </p:sp>
      <p:sp>
        <p:nvSpPr>
          <p:cNvPr id="53" name="Text 50"/>
          <p:cNvSpPr txBox="1"/>
          <p:nvPr/>
        </p:nvSpPr>
        <p:spPr>
          <a:xfrm>
            <a:off x="10177272" y="3904488"/>
            <a:ext cx="1280160" cy="804672"/>
          </a:xfrm>
          <a:prstGeom prst="rect">
            <a:avLst/>
          </a:prstGeom>
          <a:noFill/>
          <a:ln/>
        </p:spPr>
        <p:txBody>
          <a:bodyPr wrap="square" lIns="0" tIns="0" rIns="0" bIns="0" rtlCol="0" anchor="t"/>
          <a:lstStyle/>
          <a:p>
            <a:pPr indent="0" marL="0">
              <a:buNone/>
            </a:pPr>
            <a:r>
              <a:rPr lang="en-US" sz="1100" dirty="0">
                <a:solidFill>
                  <a:schemeClr val="bg1"/>
                </a:solidFill>
              </a:rPr>
              <a:t>Retour des agents et des habitants</a:t>
            </a:r>
            <a:endParaRPr lang="en-US" sz="1100" dirty="0"/>
          </a:p>
        </p:txBody>
      </p:sp>
      <p:sp>
        <p:nvSpPr>
          <p:cNvPr id="54" name="Shape 51"/>
          <p:cNvSpPr/>
          <p:nvPr/>
        </p:nvSpPr>
        <p:spPr>
          <a:xfrm>
            <a:off x="9921240" y="4809744"/>
            <a:ext cx="128016" cy="128016"/>
          </a:xfrm>
          <a:prstGeom prst="ellipse">
            <a:avLst/>
          </a:prstGeom>
          <a:solidFill>
            <a:schemeClr val="accent2"/>
          </a:solidFill>
          <a:ln/>
        </p:spPr>
      </p:sp>
      <p:sp>
        <p:nvSpPr>
          <p:cNvPr id="55" name="Text 52"/>
          <p:cNvSpPr txBox="1"/>
          <p:nvPr/>
        </p:nvSpPr>
        <p:spPr>
          <a:xfrm>
            <a:off x="10177272" y="4745736"/>
            <a:ext cx="1280160" cy="804672"/>
          </a:xfrm>
          <a:prstGeom prst="rect">
            <a:avLst/>
          </a:prstGeom>
          <a:noFill/>
          <a:ln/>
        </p:spPr>
        <p:txBody>
          <a:bodyPr wrap="square" lIns="0" tIns="0" rIns="0" bIns="0" rtlCol="0" anchor="t"/>
          <a:lstStyle/>
          <a:p>
            <a:pPr indent="0" marL="0">
              <a:buNone/>
            </a:pPr>
            <a:r>
              <a:rPr lang="en-US" sz="1100" dirty="0">
                <a:solidFill>
                  <a:schemeClr val="bg1"/>
                </a:solidFill>
              </a:rPr>
              <a:t>Décision : étendre, ajuster, arrêter</a:t>
            </a:r>
            <a:endParaRPr lang="en-US" sz="1100" dirty="0"/>
          </a:p>
        </p:txBody>
      </p:sp>
      <p:sp>
        <p:nvSpPr>
          <p:cNvPr id="56" name="Text 53"/>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21 (eau potable), p. 23 et 32 (éclairage public), p. 64 (relais digitaux). Calendrier : proposition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CRITÈRES DE SUCCÈS</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Six critères mesurables, fixés avant de commencer</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3017520"/>
                <a:gridCol w="2926080"/>
                <a:gridCol w="5148072"/>
              </a:tblGrid>
              <a:tr h="347472">
                <a:tc>
                  <a:txBody>
                    <a:bodyPr/>
                    <a:lstStyle/>
                    <a:p>
                      <a:pPr indent="0" marL="0">
                        <a:buNone/>
                      </a:pPr>
                      <a:r>
                        <a:rPr lang="en-US" sz="1200" b="1" dirty="0">
                          <a:solidFill>
                            <a:schemeClr val="bg1"/>
                          </a:solidFill>
                        </a:rPr>
                        <a:t>Critère</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Seuil proposé à J90</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Comment on le mesure</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566928">
                <a:tc>
                  <a:txBody>
                    <a:bodyPr/>
                    <a:lstStyle/>
                    <a:p>
                      <a:pPr indent="0" marL="0">
                        <a:buNone/>
                      </a:pPr>
                      <a:r>
                        <a:rPr lang="en-US" sz="1200" b="1" dirty="0">
                          <a:solidFill>
                            <a:schemeClr val="tx2"/>
                          </a:solidFill>
                        </a:rPr>
                        <a:t>Couverture du registre</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95 % des ouvrages des deux familles</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Ouvrages inscrits ÷ ouvrages connus de la commune</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200" b="1" dirty="0">
                          <a:solidFill>
                            <a:schemeClr val="tx2"/>
                          </a:solidFill>
                        </a:rPr>
                        <a:t>Interventions avec preuve complète</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90 %</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Checklist, pièce, photos et position présentes à la clôture</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2"/>
                          </a:solidFill>
                        </a:rPr>
                        <a:t>Signalements par QR ou SMS</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50 % des signalements</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Canal d'arrivée enregistré sur chaque signalement</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200" b="1" dirty="0">
                          <a:solidFill>
                            <a:schemeClr val="tx2"/>
                          </a:solidFill>
                        </a:rPr>
                        <a:t>Délai de remise en service de l'eau</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En baisse par rapport au départ</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Délai médian des semaines 7 à 12 contre semaines 1 à 4</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2"/>
                          </a:solidFill>
                        </a:rPr>
                        <a:t>Préventif fait à temps</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En hausse par rapport au départ</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Tâches faites dans les 7 jours suivant l'échéance ÷ tâches prévues</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200" b="1" dirty="0">
                          <a:solidFill>
                            <a:schemeClr val="tx2"/>
                          </a:solidFill>
                        </a:rPr>
                        <a:t>Adoption par les agents</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7 sur 10</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Questionnaire anonyme aux agents et opérateurs en semaine 13</a:t>
                      </a:r>
                      <a:endParaRPr lang="en-US" sz="12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Seuils : propositions de l'auteur, à valider avec la commune. Définitions cohérentes avec les indicateurs du document 2.</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MOYENS</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Ce que le pilote demande, et ce que j'apporte</a:t>
            </a:r>
            <a:endParaRPr lang="en-US" sz="2800" dirty="0"/>
          </a:p>
        </p:txBody>
      </p:sp>
      <p:sp>
        <p:nvSpPr>
          <p:cNvPr id="5" name="col0"/>
          <p:cNvSpPr/>
          <p:nvPr/>
        </p:nvSpPr>
        <p:spPr>
          <a:xfrm>
            <a:off x="548640" y="1965960"/>
            <a:ext cx="5449824" cy="3977640"/>
          </a:xfrm>
          <a:prstGeom prst="roundRect">
            <a:avLst>
              <a:gd name="adj" fmla="val 2759"/>
            </a:avLst>
          </a:prstGeom>
          <a:solidFill>
            <a:schemeClr val="bg2"/>
          </a:solidFill>
          <a:ln/>
        </p:spPr>
      </p:sp>
      <p:sp>
        <p:nvSpPr>
          <p:cNvPr id="6" name="Text 3"/>
          <p:cNvSpPr txBox="1"/>
          <p:nvPr/>
        </p:nvSpPr>
        <p:spPr>
          <a:xfrm>
            <a:off x="822960" y="2148840"/>
            <a:ext cx="4901184"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CE QUE DEMANDE LE PILOTE</a:t>
            </a:r>
            <a:endParaRPr lang="en-US" sz="1100" dirty="0"/>
          </a:p>
        </p:txBody>
      </p:sp>
      <p:sp>
        <p:nvSpPr>
          <p:cNvPr id="7" name="Shape 4"/>
          <p:cNvSpPr/>
          <p:nvPr/>
        </p:nvSpPr>
        <p:spPr>
          <a:xfrm>
            <a:off x="822960" y="2633472"/>
            <a:ext cx="128016" cy="128016"/>
          </a:xfrm>
          <a:prstGeom prst="ellipse">
            <a:avLst/>
          </a:prstGeom>
          <a:solidFill>
            <a:schemeClr val="accent2"/>
          </a:solidFill>
          <a:ln/>
        </p:spPr>
      </p:sp>
      <p:sp>
        <p:nvSpPr>
          <p:cNvPr id="8" name="Text 5"/>
          <p:cNvSpPr txBox="1"/>
          <p:nvPr/>
        </p:nvSpPr>
        <p:spPr>
          <a:xfrm>
            <a:off x="1078992" y="2560320"/>
            <a:ext cx="4626864" cy="274320"/>
          </a:xfrm>
          <a:prstGeom prst="rect">
            <a:avLst/>
          </a:prstGeom>
          <a:noFill/>
          <a:ln/>
        </p:spPr>
        <p:txBody>
          <a:bodyPr wrap="square" lIns="0" tIns="0" rIns="0" bIns="0" rtlCol="0" anchor="ctr"/>
          <a:lstStyle/>
          <a:p>
            <a:pPr indent="0" marL="0">
              <a:buNone/>
            </a:pPr>
            <a:r>
              <a:rPr lang="en-US" sz="1300" b="1" dirty="0">
                <a:solidFill>
                  <a:schemeClr val="tx2"/>
                </a:solidFill>
              </a:rPr>
              <a:t>Une commune volontaire</a:t>
            </a:r>
            <a:endParaRPr lang="en-US" sz="1300" dirty="0"/>
          </a:p>
        </p:txBody>
      </p:sp>
      <p:sp>
        <p:nvSpPr>
          <p:cNvPr id="9" name="Text 6"/>
          <p:cNvSpPr txBox="1"/>
          <p:nvPr/>
        </p:nvSpPr>
        <p:spPr>
          <a:xfrm>
            <a:off x="1078992" y="2834640"/>
            <a:ext cx="4626864" cy="274320"/>
          </a:xfrm>
          <a:prstGeom prst="rect">
            <a:avLst/>
          </a:prstGeom>
          <a:noFill/>
          <a:ln/>
        </p:spPr>
        <p:txBody>
          <a:bodyPr wrap="square" lIns="0" tIns="0" rIns="0" bIns="0" rtlCol="0" anchor="ctr"/>
          <a:lstStyle/>
          <a:p>
            <a:pPr indent="0" marL="0">
              <a:buNone/>
            </a:pPr>
            <a:r>
              <a:rPr lang="en-US" sz="1150" dirty="0">
                <a:solidFill>
                  <a:schemeClr val="tx2"/>
                </a:solidFill>
              </a:rPr>
              <a:t>et un référent disponible une demi-journée par semaine</a:t>
            </a:r>
            <a:endParaRPr lang="en-US" sz="1150" dirty="0"/>
          </a:p>
        </p:txBody>
      </p:sp>
      <p:sp>
        <p:nvSpPr>
          <p:cNvPr id="10" name="Shape 7"/>
          <p:cNvSpPr/>
          <p:nvPr/>
        </p:nvSpPr>
        <p:spPr>
          <a:xfrm>
            <a:off x="822960" y="3291840"/>
            <a:ext cx="128016" cy="128016"/>
          </a:xfrm>
          <a:prstGeom prst="ellipse">
            <a:avLst/>
          </a:prstGeom>
          <a:solidFill>
            <a:schemeClr val="accent2"/>
          </a:solidFill>
          <a:ln/>
        </p:spPr>
      </p:sp>
      <p:sp>
        <p:nvSpPr>
          <p:cNvPr id="11" name="Text 8"/>
          <p:cNvSpPr txBox="1"/>
          <p:nvPr/>
        </p:nvSpPr>
        <p:spPr>
          <a:xfrm>
            <a:off x="1078992" y="3218688"/>
            <a:ext cx="4626864" cy="274320"/>
          </a:xfrm>
          <a:prstGeom prst="rect">
            <a:avLst/>
          </a:prstGeom>
          <a:noFill/>
          <a:ln/>
        </p:spPr>
        <p:txBody>
          <a:bodyPr wrap="square" lIns="0" tIns="0" rIns="0" bIns="0" rtlCol="0" anchor="ctr"/>
          <a:lstStyle/>
          <a:p>
            <a:pPr indent="0" marL="0">
              <a:buNone/>
            </a:pPr>
            <a:r>
              <a:rPr lang="en-US" sz="1300" b="1" dirty="0">
                <a:solidFill>
                  <a:schemeClr val="tx2"/>
                </a:solidFill>
              </a:rPr>
              <a:t>L'accès à la liste des ouvrages</a:t>
            </a:r>
            <a:endParaRPr lang="en-US" sz="1300" dirty="0"/>
          </a:p>
        </p:txBody>
      </p:sp>
      <p:sp>
        <p:nvSpPr>
          <p:cNvPr id="12" name="Text 9"/>
          <p:cNvSpPr txBox="1"/>
          <p:nvPr/>
        </p:nvSpPr>
        <p:spPr>
          <a:xfrm>
            <a:off x="1078992" y="3493008"/>
            <a:ext cx="4626864" cy="274320"/>
          </a:xfrm>
          <a:prstGeom prst="rect">
            <a:avLst/>
          </a:prstGeom>
          <a:noFill/>
          <a:ln/>
        </p:spPr>
        <p:txBody>
          <a:bodyPr wrap="square" lIns="0" tIns="0" rIns="0" bIns="0" rtlCol="0" anchor="ctr"/>
          <a:lstStyle/>
          <a:p>
            <a:pPr indent="0" marL="0">
              <a:buNone/>
            </a:pPr>
            <a:r>
              <a:rPr lang="en-US" sz="1150" dirty="0">
                <a:solidFill>
                  <a:schemeClr val="tx2"/>
                </a:solidFill>
              </a:rPr>
              <a:t>eau et éclairage, avec les contrats d'entretien existants</a:t>
            </a:r>
            <a:endParaRPr lang="en-US" sz="1150" dirty="0"/>
          </a:p>
        </p:txBody>
      </p:sp>
      <p:sp>
        <p:nvSpPr>
          <p:cNvPr id="13" name="Shape 10"/>
          <p:cNvSpPr/>
          <p:nvPr/>
        </p:nvSpPr>
        <p:spPr>
          <a:xfrm>
            <a:off x="822960" y="3950208"/>
            <a:ext cx="128016" cy="128016"/>
          </a:xfrm>
          <a:prstGeom prst="ellipse">
            <a:avLst/>
          </a:prstGeom>
          <a:solidFill>
            <a:schemeClr val="accent2"/>
          </a:solidFill>
          <a:ln/>
        </p:spPr>
      </p:sp>
      <p:sp>
        <p:nvSpPr>
          <p:cNvPr id="14" name="Text 11"/>
          <p:cNvSpPr txBox="1"/>
          <p:nvPr/>
        </p:nvSpPr>
        <p:spPr>
          <a:xfrm>
            <a:off x="1078992" y="3877056"/>
            <a:ext cx="4626864" cy="274320"/>
          </a:xfrm>
          <a:prstGeom prst="rect">
            <a:avLst/>
          </a:prstGeom>
          <a:noFill/>
          <a:ln/>
        </p:spPr>
        <p:txBody>
          <a:bodyPr wrap="square" lIns="0" tIns="0" rIns="0" bIns="0" rtlCol="0" anchor="ctr"/>
          <a:lstStyle/>
          <a:p>
            <a:pPr indent="0" marL="0">
              <a:buNone/>
            </a:pPr>
            <a:r>
              <a:rPr lang="en-US" sz="1300" b="1" dirty="0">
                <a:solidFill>
                  <a:schemeClr val="tx2"/>
                </a:solidFill>
              </a:rPr>
              <a:t>Des plaques QR durables</a:t>
            </a:r>
            <a:endParaRPr lang="en-US" sz="1300" dirty="0"/>
          </a:p>
        </p:txBody>
      </p:sp>
      <p:sp>
        <p:nvSpPr>
          <p:cNvPr id="15" name="Text 12"/>
          <p:cNvSpPr txBox="1"/>
          <p:nvPr/>
        </p:nvSpPr>
        <p:spPr>
          <a:xfrm>
            <a:off x="1078992" y="4151376"/>
            <a:ext cx="4626864" cy="274320"/>
          </a:xfrm>
          <a:prstGeom prst="rect">
            <a:avLst/>
          </a:prstGeom>
          <a:noFill/>
          <a:ln/>
        </p:spPr>
        <p:txBody>
          <a:bodyPr wrap="square" lIns="0" tIns="0" rIns="0" bIns="0" rtlCol="0" anchor="ctr"/>
          <a:lstStyle/>
          <a:p>
            <a:pPr indent="0" marL="0">
              <a:buNone/>
            </a:pPr>
            <a:r>
              <a:rPr lang="en-US" sz="1150" dirty="0">
                <a:solidFill>
                  <a:schemeClr val="tx2"/>
                </a:solidFill>
              </a:rPr>
              <a:t>une par ouvrage, plus 10 % de réserve</a:t>
            </a:r>
            <a:endParaRPr lang="en-US" sz="1150" dirty="0"/>
          </a:p>
        </p:txBody>
      </p:sp>
      <p:sp>
        <p:nvSpPr>
          <p:cNvPr id="16" name="Shape 13"/>
          <p:cNvSpPr/>
          <p:nvPr/>
        </p:nvSpPr>
        <p:spPr>
          <a:xfrm>
            <a:off x="822960" y="4608576"/>
            <a:ext cx="128016" cy="128016"/>
          </a:xfrm>
          <a:prstGeom prst="ellipse">
            <a:avLst/>
          </a:prstGeom>
          <a:solidFill>
            <a:schemeClr val="accent2"/>
          </a:solidFill>
          <a:ln/>
        </p:spPr>
      </p:sp>
      <p:sp>
        <p:nvSpPr>
          <p:cNvPr id="17" name="Text 14"/>
          <p:cNvSpPr txBox="1"/>
          <p:nvPr/>
        </p:nvSpPr>
        <p:spPr>
          <a:xfrm>
            <a:off x="1078992" y="4535424"/>
            <a:ext cx="4626864" cy="274320"/>
          </a:xfrm>
          <a:prstGeom prst="rect">
            <a:avLst/>
          </a:prstGeom>
          <a:noFill/>
          <a:ln/>
        </p:spPr>
        <p:txBody>
          <a:bodyPr wrap="square" lIns="0" tIns="0" rIns="0" bIns="0" rtlCol="0" anchor="ctr"/>
          <a:lstStyle/>
          <a:p>
            <a:pPr indent="0" marL="0">
              <a:buNone/>
            </a:pPr>
            <a:r>
              <a:rPr lang="en-US" sz="1300" b="1" dirty="0">
                <a:solidFill>
                  <a:schemeClr val="tx2"/>
                </a:solidFill>
              </a:rPr>
              <a:t>Un téléphone Android par technicien</a:t>
            </a:r>
            <a:endParaRPr lang="en-US" sz="1300" dirty="0"/>
          </a:p>
        </p:txBody>
      </p:sp>
      <p:sp>
        <p:nvSpPr>
          <p:cNvPr id="18" name="Text 15"/>
          <p:cNvSpPr txBox="1"/>
          <p:nvPr/>
        </p:nvSpPr>
        <p:spPr>
          <a:xfrm>
            <a:off x="1078992" y="4809744"/>
            <a:ext cx="4626864" cy="274320"/>
          </a:xfrm>
          <a:prstGeom prst="rect">
            <a:avLst/>
          </a:prstGeom>
          <a:noFill/>
          <a:ln/>
        </p:spPr>
        <p:txBody>
          <a:bodyPr wrap="square" lIns="0" tIns="0" rIns="0" bIns="0" rtlCol="0" anchor="ctr"/>
          <a:lstStyle/>
          <a:p>
            <a:pPr indent="0" marL="0">
              <a:buNone/>
            </a:pPr>
            <a:r>
              <a:rPr lang="en-US" sz="1150" dirty="0">
                <a:solidFill>
                  <a:schemeClr val="tx2"/>
                </a:solidFill>
              </a:rPr>
              <a:t>les téléphones existants si possible</a:t>
            </a:r>
            <a:endParaRPr lang="en-US" sz="1150" dirty="0"/>
          </a:p>
        </p:txBody>
      </p:sp>
      <p:sp>
        <p:nvSpPr>
          <p:cNvPr id="19" name="Shape 16"/>
          <p:cNvSpPr/>
          <p:nvPr/>
        </p:nvSpPr>
        <p:spPr>
          <a:xfrm>
            <a:off x="822960" y="5266944"/>
            <a:ext cx="128016" cy="128016"/>
          </a:xfrm>
          <a:prstGeom prst="ellipse">
            <a:avLst/>
          </a:prstGeom>
          <a:solidFill>
            <a:schemeClr val="accent2"/>
          </a:solidFill>
          <a:ln/>
        </p:spPr>
      </p:sp>
      <p:sp>
        <p:nvSpPr>
          <p:cNvPr id="20" name="Text 17"/>
          <p:cNvSpPr txBox="1"/>
          <p:nvPr/>
        </p:nvSpPr>
        <p:spPr>
          <a:xfrm>
            <a:off x="1078992" y="5193792"/>
            <a:ext cx="4626864" cy="274320"/>
          </a:xfrm>
          <a:prstGeom prst="rect">
            <a:avLst/>
          </a:prstGeom>
          <a:noFill/>
          <a:ln/>
        </p:spPr>
        <p:txBody>
          <a:bodyPr wrap="square" lIns="0" tIns="0" rIns="0" bIns="0" rtlCol="0" anchor="ctr"/>
          <a:lstStyle/>
          <a:p>
            <a:pPr indent="0" marL="0">
              <a:buNone/>
            </a:pPr>
            <a:r>
              <a:rPr lang="en-US" sz="1300" b="1" dirty="0">
                <a:solidFill>
                  <a:schemeClr val="tx2"/>
                </a:solidFill>
              </a:rPr>
              <a:t>Un hébergement des données au Bénin</a:t>
            </a:r>
            <a:endParaRPr lang="en-US" sz="1300" dirty="0"/>
          </a:p>
        </p:txBody>
      </p:sp>
      <p:sp>
        <p:nvSpPr>
          <p:cNvPr id="21" name="Text 18"/>
          <p:cNvSpPr txBox="1"/>
          <p:nvPr/>
        </p:nvSpPr>
        <p:spPr>
          <a:xfrm>
            <a:off x="1078992" y="5468112"/>
            <a:ext cx="4626864" cy="274320"/>
          </a:xfrm>
          <a:prstGeom prst="rect">
            <a:avLst/>
          </a:prstGeom>
          <a:noFill/>
          <a:ln/>
        </p:spPr>
        <p:txBody>
          <a:bodyPr wrap="square" lIns="0" tIns="0" rIns="0" bIns="0" rtlCol="0" anchor="ctr"/>
          <a:lstStyle/>
          <a:p>
            <a:pPr indent="0" marL="0">
              <a:buNone/>
            </a:pPr>
            <a:r>
              <a:rPr lang="en-US" sz="1150" dirty="0">
                <a:solidFill>
                  <a:schemeClr val="tx2"/>
                </a:solidFill>
              </a:rPr>
              <a:t>fourni par un opérateur à désigner</a:t>
            </a:r>
            <a:endParaRPr lang="en-US" sz="1150" dirty="0"/>
          </a:p>
        </p:txBody>
      </p:sp>
      <p:sp>
        <p:nvSpPr>
          <p:cNvPr id="22" name="col1"/>
          <p:cNvSpPr/>
          <p:nvPr/>
        </p:nvSpPr>
        <p:spPr>
          <a:xfrm>
            <a:off x="6190488" y="1965960"/>
            <a:ext cx="5449824" cy="3977640"/>
          </a:xfrm>
          <a:prstGeom prst="roundRect">
            <a:avLst>
              <a:gd name="adj" fmla="val 2759"/>
            </a:avLst>
          </a:prstGeom>
          <a:solidFill>
            <a:schemeClr val="tx2"/>
          </a:solidFill>
          <a:ln/>
        </p:spPr>
      </p:sp>
      <p:sp>
        <p:nvSpPr>
          <p:cNvPr id="23" name="Text 20"/>
          <p:cNvSpPr txBox="1"/>
          <p:nvPr/>
        </p:nvSpPr>
        <p:spPr>
          <a:xfrm>
            <a:off x="6464808" y="2148840"/>
            <a:ext cx="4901184"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CE QUE J'APPORTE</a:t>
            </a:r>
            <a:endParaRPr lang="en-US" sz="1100" dirty="0"/>
          </a:p>
        </p:txBody>
      </p:sp>
      <p:sp>
        <p:nvSpPr>
          <p:cNvPr id="24" name="Shape 21"/>
          <p:cNvSpPr/>
          <p:nvPr/>
        </p:nvSpPr>
        <p:spPr>
          <a:xfrm>
            <a:off x="6464808" y="2633472"/>
            <a:ext cx="128016" cy="128016"/>
          </a:xfrm>
          <a:prstGeom prst="ellipse">
            <a:avLst/>
          </a:prstGeom>
          <a:solidFill>
            <a:schemeClr val="accent2"/>
          </a:solidFill>
          <a:ln/>
        </p:spPr>
      </p:sp>
      <p:sp>
        <p:nvSpPr>
          <p:cNvPr id="25" name="Text 22"/>
          <p:cNvSpPr txBox="1"/>
          <p:nvPr/>
        </p:nvSpPr>
        <p:spPr>
          <a:xfrm>
            <a:off x="6720840" y="2560320"/>
            <a:ext cx="4626864" cy="274320"/>
          </a:xfrm>
          <a:prstGeom prst="rect">
            <a:avLst/>
          </a:prstGeom>
          <a:noFill/>
          <a:ln/>
        </p:spPr>
        <p:txBody>
          <a:bodyPr wrap="square" lIns="0" tIns="0" rIns="0" bIns="0" rtlCol="0" anchor="ctr"/>
          <a:lstStyle/>
          <a:p>
            <a:pPr indent="0" marL="0">
              <a:buNone/>
            </a:pPr>
            <a:r>
              <a:rPr lang="en-US" sz="1300" b="1" dirty="0">
                <a:solidFill>
                  <a:schemeClr val="bg1"/>
                </a:solidFill>
              </a:rPr>
              <a:t>L'outil</a:t>
            </a:r>
            <a:endParaRPr lang="en-US" sz="1300" dirty="0"/>
          </a:p>
        </p:txBody>
      </p:sp>
      <p:sp>
        <p:nvSpPr>
          <p:cNvPr id="26" name="Text 23"/>
          <p:cNvSpPr txBox="1"/>
          <p:nvPr/>
        </p:nvSpPr>
        <p:spPr>
          <a:xfrm>
            <a:off x="6720840" y="2834640"/>
            <a:ext cx="4626864" cy="274320"/>
          </a:xfrm>
          <a:prstGeom prst="rect">
            <a:avLst/>
          </a:prstGeom>
          <a:noFill/>
          <a:ln/>
        </p:spPr>
        <p:txBody>
          <a:bodyPr wrap="square" lIns="0" tIns="0" rIns="0" bIns="0" rtlCol="0" anchor="ctr"/>
          <a:lstStyle/>
          <a:p>
            <a:pPr indent="0" marL="0">
              <a:buNone/>
            </a:pPr>
            <a:r>
              <a:rPr lang="en-US" sz="1150" dirty="0">
                <a:solidFill>
                  <a:schemeClr val="bg1"/>
                </a:solidFill>
              </a:rPr>
              <a:t>construit à partir du prototype, et maintenu pendant le pilote</a:t>
            </a:r>
            <a:endParaRPr lang="en-US" sz="1150" dirty="0"/>
          </a:p>
        </p:txBody>
      </p:sp>
      <p:sp>
        <p:nvSpPr>
          <p:cNvPr id="27" name="Shape 24"/>
          <p:cNvSpPr/>
          <p:nvPr/>
        </p:nvSpPr>
        <p:spPr>
          <a:xfrm>
            <a:off x="6464808" y="3291840"/>
            <a:ext cx="128016" cy="128016"/>
          </a:xfrm>
          <a:prstGeom prst="ellipse">
            <a:avLst/>
          </a:prstGeom>
          <a:solidFill>
            <a:schemeClr val="accent2"/>
          </a:solidFill>
          <a:ln/>
        </p:spPr>
      </p:sp>
      <p:sp>
        <p:nvSpPr>
          <p:cNvPr id="28" name="Text 25"/>
          <p:cNvSpPr txBox="1"/>
          <p:nvPr/>
        </p:nvSpPr>
        <p:spPr>
          <a:xfrm>
            <a:off x="6720840" y="3218688"/>
            <a:ext cx="4626864" cy="274320"/>
          </a:xfrm>
          <a:prstGeom prst="rect">
            <a:avLst/>
          </a:prstGeom>
          <a:noFill/>
          <a:ln/>
        </p:spPr>
        <p:txBody>
          <a:bodyPr wrap="square" lIns="0" tIns="0" rIns="0" bIns="0" rtlCol="0" anchor="ctr"/>
          <a:lstStyle/>
          <a:p>
            <a:pPr indent="0" marL="0">
              <a:buNone/>
            </a:pPr>
            <a:r>
              <a:rPr lang="en-US" sz="1300" b="1" dirty="0">
                <a:solidFill>
                  <a:schemeClr val="bg1"/>
                </a:solidFill>
              </a:rPr>
              <a:t>La méthode de gestion du cycle de vie</a:t>
            </a:r>
            <a:endParaRPr lang="en-US" sz="1300" dirty="0"/>
          </a:p>
        </p:txBody>
      </p:sp>
      <p:sp>
        <p:nvSpPr>
          <p:cNvPr id="29" name="Text 26"/>
          <p:cNvSpPr txBox="1"/>
          <p:nvPr/>
        </p:nvSpPr>
        <p:spPr>
          <a:xfrm>
            <a:off x="6720840" y="3493008"/>
            <a:ext cx="4626864" cy="274320"/>
          </a:xfrm>
          <a:prstGeom prst="rect">
            <a:avLst/>
          </a:prstGeom>
          <a:noFill/>
          <a:ln/>
        </p:spPr>
        <p:txBody>
          <a:bodyPr wrap="square" lIns="0" tIns="0" rIns="0" bIns="0" rtlCol="0" anchor="ctr"/>
          <a:lstStyle/>
          <a:p>
            <a:pPr indent="0" marL="0">
              <a:buNone/>
            </a:pPr>
            <a:r>
              <a:rPr lang="en-US" sz="1150" dirty="0">
                <a:solidFill>
                  <a:schemeClr val="bg1"/>
                </a:solidFill>
              </a:rPr>
              <a:t>issue de l'industrie (PLM), adaptée aux ouvrages publics</a:t>
            </a:r>
            <a:endParaRPr lang="en-US" sz="1150" dirty="0"/>
          </a:p>
        </p:txBody>
      </p:sp>
      <p:sp>
        <p:nvSpPr>
          <p:cNvPr id="30" name="Shape 27"/>
          <p:cNvSpPr/>
          <p:nvPr/>
        </p:nvSpPr>
        <p:spPr>
          <a:xfrm>
            <a:off x="6464808" y="3950208"/>
            <a:ext cx="128016" cy="128016"/>
          </a:xfrm>
          <a:prstGeom prst="ellipse">
            <a:avLst/>
          </a:prstGeom>
          <a:solidFill>
            <a:schemeClr val="accent2"/>
          </a:solidFill>
          <a:ln/>
        </p:spPr>
      </p:sp>
      <p:sp>
        <p:nvSpPr>
          <p:cNvPr id="31" name="Text 28"/>
          <p:cNvSpPr txBox="1"/>
          <p:nvPr/>
        </p:nvSpPr>
        <p:spPr>
          <a:xfrm>
            <a:off x="6720840" y="3877056"/>
            <a:ext cx="4626864" cy="274320"/>
          </a:xfrm>
          <a:prstGeom prst="rect">
            <a:avLst/>
          </a:prstGeom>
          <a:noFill/>
          <a:ln/>
        </p:spPr>
        <p:txBody>
          <a:bodyPr wrap="square" lIns="0" tIns="0" rIns="0" bIns="0" rtlCol="0" anchor="ctr"/>
          <a:lstStyle/>
          <a:p>
            <a:pPr indent="0" marL="0">
              <a:buNone/>
            </a:pPr>
            <a:r>
              <a:rPr lang="en-US" sz="1300" b="1" dirty="0">
                <a:solidFill>
                  <a:schemeClr val="bg1"/>
                </a:solidFill>
              </a:rPr>
              <a:t>L'inventaire et la saisie de départ</a:t>
            </a:r>
            <a:endParaRPr lang="en-US" sz="1300" dirty="0"/>
          </a:p>
        </p:txBody>
      </p:sp>
      <p:sp>
        <p:nvSpPr>
          <p:cNvPr id="32" name="Text 29"/>
          <p:cNvSpPr txBox="1"/>
          <p:nvPr/>
        </p:nvSpPr>
        <p:spPr>
          <a:xfrm>
            <a:off x="6720840" y="4151376"/>
            <a:ext cx="4626864" cy="274320"/>
          </a:xfrm>
          <a:prstGeom prst="rect">
            <a:avLst/>
          </a:prstGeom>
          <a:noFill/>
          <a:ln/>
        </p:spPr>
        <p:txBody>
          <a:bodyPr wrap="square" lIns="0" tIns="0" rIns="0" bIns="0" rtlCol="0" anchor="ctr"/>
          <a:lstStyle/>
          <a:p>
            <a:pPr indent="0" marL="0">
              <a:buNone/>
            </a:pPr>
            <a:r>
              <a:rPr lang="en-US" sz="1150" dirty="0">
                <a:solidFill>
                  <a:schemeClr val="bg1"/>
                </a:solidFill>
              </a:rPr>
              <a:t>avec le référent et les équipes</a:t>
            </a:r>
            <a:endParaRPr lang="en-US" sz="1150" dirty="0"/>
          </a:p>
        </p:txBody>
      </p:sp>
      <p:sp>
        <p:nvSpPr>
          <p:cNvPr id="33" name="Shape 30"/>
          <p:cNvSpPr/>
          <p:nvPr/>
        </p:nvSpPr>
        <p:spPr>
          <a:xfrm>
            <a:off x="6464808" y="4608576"/>
            <a:ext cx="128016" cy="128016"/>
          </a:xfrm>
          <a:prstGeom prst="ellipse">
            <a:avLst/>
          </a:prstGeom>
          <a:solidFill>
            <a:schemeClr val="accent2"/>
          </a:solidFill>
          <a:ln/>
        </p:spPr>
      </p:sp>
      <p:sp>
        <p:nvSpPr>
          <p:cNvPr id="34" name="Text 31"/>
          <p:cNvSpPr txBox="1"/>
          <p:nvPr/>
        </p:nvSpPr>
        <p:spPr>
          <a:xfrm>
            <a:off x="6720840" y="4535424"/>
            <a:ext cx="4626864" cy="274320"/>
          </a:xfrm>
          <a:prstGeom prst="rect">
            <a:avLst/>
          </a:prstGeom>
          <a:noFill/>
          <a:ln/>
        </p:spPr>
        <p:txBody>
          <a:bodyPr wrap="square" lIns="0" tIns="0" rIns="0" bIns="0" rtlCol="0" anchor="ctr"/>
          <a:lstStyle/>
          <a:p>
            <a:pPr indent="0" marL="0">
              <a:buNone/>
            </a:pPr>
            <a:r>
              <a:rPr lang="en-US" sz="1300" b="1" dirty="0">
                <a:solidFill>
                  <a:schemeClr val="bg1"/>
                </a:solidFill>
              </a:rPr>
              <a:t>La formation des agents</a:t>
            </a:r>
            <a:endParaRPr lang="en-US" sz="1300" dirty="0"/>
          </a:p>
        </p:txBody>
      </p:sp>
      <p:sp>
        <p:nvSpPr>
          <p:cNvPr id="35" name="Text 32"/>
          <p:cNvSpPr txBox="1"/>
          <p:nvPr/>
        </p:nvSpPr>
        <p:spPr>
          <a:xfrm>
            <a:off x="6720840" y="4809744"/>
            <a:ext cx="4626864" cy="274320"/>
          </a:xfrm>
          <a:prstGeom prst="rect">
            <a:avLst/>
          </a:prstGeom>
          <a:noFill/>
          <a:ln/>
        </p:spPr>
        <p:txBody>
          <a:bodyPr wrap="square" lIns="0" tIns="0" rIns="0" bIns="0" rtlCol="0" anchor="ctr"/>
          <a:lstStyle/>
          <a:p>
            <a:pPr indent="0" marL="0">
              <a:buNone/>
            </a:pPr>
            <a:r>
              <a:rPr lang="en-US" sz="1150" dirty="0">
                <a:solidFill>
                  <a:schemeClr val="bg1"/>
                </a:solidFill>
              </a:rPr>
              <a:t>et le support pendant les 90 jours</a:t>
            </a:r>
            <a:endParaRPr lang="en-US" sz="1150" dirty="0"/>
          </a:p>
        </p:txBody>
      </p:sp>
      <p:sp>
        <p:nvSpPr>
          <p:cNvPr id="36" name="Shape 33"/>
          <p:cNvSpPr/>
          <p:nvPr/>
        </p:nvSpPr>
        <p:spPr>
          <a:xfrm>
            <a:off x="6464808" y="5266944"/>
            <a:ext cx="128016" cy="128016"/>
          </a:xfrm>
          <a:prstGeom prst="ellipse">
            <a:avLst/>
          </a:prstGeom>
          <a:solidFill>
            <a:schemeClr val="accent2"/>
          </a:solidFill>
          <a:ln/>
        </p:spPr>
      </p:sp>
      <p:sp>
        <p:nvSpPr>
          <p:cNvPr id="37" name="Text 34"/>
          <p:cNvSpPr txBox="1"/>
          <p:nvPr/>
        </p:nvSpPr>
        <p:spPr>
          <a:xfrm>
            <a:off x="6720840" y="5193792"/>
            <a:ext cx="4626864" cy="274320"/>
          </a:xfrm>
          <a:prstGeom prst="rect">
            <a:avLst/>
          </a:prstGeom>
          <a:noFill/>
          <a:ln/>
        </p:spPr>
        <p:txBody>
          <a:bodyPr wrap="square" lIns="0" tIns="0" rIns="0" bIns="0" rtlCol="0" anchor="ctr"/>
          <a:lstStyle/>
          <a:p>
            <a:pPr indent="0" marL="0">
              <a:buNone/>
            </a:pPr>
            <a:r>
              <a:rPr lang="en-US" sz="1300" b="1" dirty="0">
                <a:solidFill>
                  <a:schemeClr val="bg1"/>
                </a:solidFill>
              </a:rPr>
              <a:t>Le bilan à J90</a:t>
            </a:r>
            <a:endParaRPr lang="en-US" sz="1300" dirty="0"/>
          </a:p>
        </p:txBody>
      </p:sp>
      <p:sp>
        <p:nvSpPr>
          <p:cNvPr id="38" name="Text 35"/>
          <p:cNvSpPr txBox="1"/>
          <p:nvPr/>
        </p:nvSpPr>
        <p:spPr>
          <a:xfrm>
            <a:off x="6720840" y="5468112"/>
            <a:ext cx="4626864" cy="274320"/>
          </a:xfrm>
          <a:prstGeom prst="rect">
            <a:avLst/>
          </a:prstGeom>
          <a:noFill/>
          <a:ln/>
        </p:spPr>
        <p:txBody>
          <a:bodyPr wrap="square" lIns="0" tIns="0" rIns="0" bIns="0" rtlCol="0" anchor="ctr"/>
          <a:lstStyle/>
          <a:p>
            <a:pPr indent="0" marL="0">
              <a:buNone/>
            </a:pPr>
            <a:r>
              <a:rPr lang="en-US" sz="1150" dirty="0">
                <a:solidFill>
                  <a:schemeClr val="bg1"/>
                </a:solidFill>
              </a:rPr>
              <a:t>mesures, retours, recommandation argumentée</a:t>
            </a:r>
            <a:endParaRPr lang="en-US" sz="1150" dirty="0"/>
          </a:p>
        </p:txBody>
      </p:sp>
      <p:sp>
        <p:nvSpPr>
          <p:cNvPr id="39" name="Text 36"/>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64 (localisation de la donnée). Répartition des moyens : proposition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DÉCISION ATTENDUE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Trois accords suffisent pour lancer le pilote</a:t>
            </a:r>
            <a:endParaRPr lang="en-US" sz="2800" dirty="0"/>
          </a:p>
        </p:txBody>
      </p:sp>
      <p:sp>
        <p:nvSpPr>
          <p:cNvPr id="5" name="ask0"/>
          <p:cNvSpPr/>
          <p:nvPr/>
        </p:nvSpPr>
        <p:spPr>
          <a:xfrm>
            <a:off x="548640" y="2057400"/>
            <a:ext cx="3566160" cy="2514600"/>
          </a:xfrm>
          <a:prstGeom prst="roundRect">
            <a:avLst>
              <a:gd name="adj" fmla="val 4364"/>
            </a:avLst>
          </a:prstGeom>
          <a:solidFill>
            <a:schemeClr val="bg2"/>
          </a:solidFill>
          <a:ln/>
        </p:spPr>
      </p:sp>
      <p:sp>
        <p:nvSpPr>
          <p:cNvPr id="6" name="Shape 3"/>
          <p:cNvSpPr/>
          <p:nvPr/>
        </p:nvSpPr>
        <p:spPr>
          <a:xfrm>
            <a:off x="822960" y="2286000"/>
            <a:ext cx="566928" cy="566928"/>
          </a:xfrm>
          <a:prstGeom prst="ellipse">
            <a:avLst/>
          </a:prstGeom>
          <a:solidFill>
            <a:schemeClr val="accent2"/>
          </a:solidFill>
          <a:ln w="19050">
            <a:solidFill>
              <a:schemeClr val="bg1"/>
            </a:solidFill>
            <a:prstDash val="solid"/>
          </a:ln>
        </p:spPr>
      </p:sp>
      <p:sp>
        <p:nvSpPr>
          <p:cNvPr id="7" name="Text 4"/>
          <p:cNvSpPr txBox="1"/>
          <p:nvPr/>
        </p:nvSpPr>
        <p:spPr>
          <a:xfrm>
            <a:off x="822960" y="2286000"/>
            <a:ext cx="566928" cy="566928"/>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8" name="Text 5"/>
          <p:cNvSpPr txBox="1"/>
          <p:nvPr/>
        </p:nvSpPr>
        <p:spPr>
          <a:xfrm>
            <a:off x="822960" y="3017520"/>
            <a:ext cx="3017520" cy="457200"/>
          </a:xfrm>
          <a:prstGeom prst="rect">
            <a:avLst/>
          </a:prstGeom>
          <a:noFill/>
          <a:ln/>
        </p:spPr>
        <p:txBody>
          <a:bodyPr wrap="square" lIns="0" tIns="0" rIns="0" bIns="0" rtlCol="0" anchor="ctr"/>
          <a:lstStyle/>
          <a:p>
            <a:pPr indent="0" marL="0">
              <a:buNone/>
            </a:pPr>
            <a:r>
              <a:rPr lang="en-US" sz="1800" b="1" dirty="0">
                <a:solidFill>
                  <a:schemeClr val="tx2"/>
                </a:solidFill>
              </a:rPr>
              <a:t>Une commune pilote</a:t>
            </a:r>
            <a:endParaRPr lang="en-US" sz="1800" dirty="0"/>
          </a:p>
        </p:txBody>
      </p:sp>
      <p:sp>
        <p:nvSpPr>
          <p:cNvPr id="9" name="Text 6"/>
          <p:cNvSpPr txBox="1"/>
          <p:nvPr/>
        </p:nvSpPr>
        <p:spPr>
          <a:xfrm>
            <a:off x="822960" y="3520440"/>
            <a:ext cx="3017520" cy="868680"/>
          </a:xfrm>
          <a:prstGeom prst="rect">
            <a:avLst/>
          </a:prstGeom>
          <a:noFill/>
          <a:ln/>
        </p:spPr>
        <p:txBody>
          <a:bodyPr wrap="square" lIns="0" tIns="0" rIns="0" bIns="0" rtlCol="0" anchor="t"/>
          <a:lstStyle/>
          <a:p>
            <a:pPr indent="0" marL="0">
              <a:buNone/>
            </a:pPr>
            <a:r>
              <a:rPr lang="en-US" sz="1250" dirty="0">
                <a:solidFill>
                  <a:schemeClr val="tx1"/>
                </a:solidFill>
              </a:rPr>
              <a:t>Volontaire, avec un référent nommé par le maire.</a:t>
            </a:r>
            <a:endParaRPr lang="en-US" sz="1250" dirty="0"/>
          </a:p>
        </p:txBody>
      </p:sp>
      <p:sp>
        <p:nvSpPr>
          <p:cNvPr id="10" name="ask1"/>
          <p:cNvSpPr/>
          <p:nvPr/>
        </p:nvSpPr>
        <p:spPr>
          <a:xfrm>
            <a:off x="4297680" y="2057400"/>
            <a:ext cx="3566160" cy="2514600"/>
          </a:xfrm>
          <a:prstGeom prst="roundRect">
            <a:avLst>
              <a:gd name="adj" fmla="val 4364"/>
            </a:avLst>
          </a:prstGeom>
          <a:solidFill>
            <a:schemeClr val="tx2"/>
          </a:solidFill>
          <a:ln/>
        </p:spPr>
      </p:sp>
      <p:sp>
        <p:nvSpPr>
          <p:cNvPr id="11" name="Shape 8"/>
          <p:cNvSpPr/>
          <p:nvPr/>
        </p:nvSpPr>
        <p:spPr>
          <a:xfrm>
            <a:off x="4572000" y="2286000"/>
            <a:ext cx="566928" cy="566928"/>
          </a:xfrm>
          <a:prstGeom prst="ellipse">
            <a:avLst/>
          </a:prstGeom>
          <a:solidFill>
            <a:schemeClr val="accent2"/>
          </a:solidFill>
          <a:ln w="19050">
            <a:solidFill>
              <a:schemeClr val="bg1"/>
            </a:solidFill>
            <a:prstDash val="solid"/>
          </a:ln>
        </p:spPr>
      </p:sp>
      <p:sp>
        <p:nvSpPr>
          <p:cNvPr id="12" name="Text 9"/>
          <p:cNvSpPr txBox="1"/>
          <p:nvPr/>
        </p:nvSpPr>
        <p:spPr>
          <a:xfrm>
            <a:off x="4572000" y="2286000"/>
            <a:ext cx="566928" cy="566928"/>
          </a:xfrm>
          <a:prstGeom prst="rect">
            <a:avLst/>
          </a:prstGeom>
          <a:no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13" name="Text 10"/>
          <p:cNvSpPr txBox="1"/>
          <p:nvPr/>
        </p:nvSpPr>
        <p:spPr>
          <a:xfrm>
            <a:off x="4572000" y="3017520"/>
            <a:ext cx="3017520" cy="457200"/>
          </a:xfrm>
          <a:prstGeom prst="rect">
            <a:avLst/>
          </a:prstGeom>
          <a:noFill/>
          <a:ln/>
        </p:spPr>
        <p:txBody>
          <a:bodyPr wrap="square" lIns="0" tIns="0" rIns="0" bIns="0" rtlCol="0" anchor="ctr"/>
          <a:lstStyle/>
          <a:p>
            <a:pPr indent="0" marL="0">
              <a:buNone/>
            </a:pPr>
            <a:r>
              <a:rPr lang="en-US" sz="1800" b="1" dirty="0">
                <a:solidFill>
                  <a:schemeClr val="bg1"/>
                </a:solidFill>
              </a:rPr>
              <a:t>L'accès aux données</a:t>
            </a:r>
            <a:endParaRPr lang="en-US" sz="1800" dirty="0"/>
          </a:p>
        </p:txBody>
      </p:sp>
      <p:sp>
        <p:nvSpPr>
          <p:cNvPr id="14" name="Text 11"/>
          <p:cNvSpPr txBox="1"/>
          <p:nvPr/>
        </p:nvSpPr>
        <p:spPr>
          <a:xfrm>
            <a:off x="4572000" y="3520440"/>
            <a:ext cx="3017520" cy="868680"/>
          </a:xfrm>
          <a:prstGeom prst="rect">
            <a:avLst/>
          </a:prstGeom>
          <a:noFill/>
          <a:ln/>
        </p:spPr>
        <p:txBody>
          <a:bodyPr wrap="square" lIns="0" tIns="0" rIns="0" bIns="0" rtlCol="0" anchor="t"/>
          <a:lstStyle/>
          <a:p>
            <a:pPr indent="0" marL="0">
              <a:buNone/>
            </a:pPr>
            <a:r>
              <a:rPr lang="en-US" sz="1250" dirty="0">
                <a:solidFill>
                  <a:schemeClr val="bg1"/>
                </a:solidFill>
              </a:rPr>
              <a:t>La liste de ses ouvrages d'eau et d'éclairage, et leurs contrats d'entretien.</a:t>
            </a:r>
            <a:endParaRPr lang="en-US" sz="1250" dirty="0"/>
          </a:p>
        </p:txBody>
      </p:sp>
      <p:sp>
        <p:nvSpPr>
          <p:cNvPr id="15" name="ask2"/>
          <p:cNvSpPr/>
          <p:nvPr/>
        </p:nvSpPr>
        <p:spPr>
          <a:xfrm>
            <a:off x="8046720" y="2057400"/>
            <a:ext cx="3566160" cy="2514600"/>
          </a:xfrm>
          <a:prstGeom prst="roundRect">
            <a:avLst>
              <a:gd name="adj" fmla="val 4364"/>
            </a:avLst>
          </a:prstGeom>
          <a:solidFill>
            <a:schemeClr val="bg2"/>
          </a:solidFill>
          <a:ln/>
        </p:spPr>
      </p:sp>
      <p:sp>
        <p:nvSpPr>
          <p:cNvPr id="16" name="Shape 13"/>
          <p:cNvSpPr/>
          <p:nvPr/>
        </p:nvSpPr>
        <p:spPr>
          <a:xfrm>
            <a:off x="8321040" y="2286000"/>
            <a:ext cx="566928" cy="566928"/>
          </a:xfrm>
          <a:prstGeom prst="ellipse">
            <a:avLst/>
          </a:prstGeom>
          <a:solidFill>
            <a:schemeClr val="accent2"/>
          </a:solidFill>
          <a:ln w="19050">
            <a:solidFill>
              <a:schemeClr val="bg1"/>
            </a:solidFill>
            <a:prstDash val="solid"/>
          </a:ln>
        </p:spPr>
      </p:sp>
      <p:sp>
        <p:nvSpPr>
          <p:cNvPr id="17" name="Text 14"/>
          <p:cNvSpPr txBox="1"/>
          <p:nvPr/>
        </p:nvSpPr>
        <p:spPr>
          <a:xfrm>
            <a:off x="8321040" y="2286000"/>
            <a:ext cx="566928" cy="566928"/>
          </a:xfrm>
          <a:prstGeom prst="rect">
            <a:avLst/>
          </a:prstGeom>
          <a:no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18" name="Text 15"/>
          <p:cNvSpPr txBox="1"/>
          <p:nvPr/>
        </p:nvSpPr>
        <p:spPr>
          <a:xfrm>
            <a:off x="8321040" y="3017520"/>
            <a:ext cx="3017520" cy="457200"/>
          </a:xfrm>
          <a:prstGeom prst="rect">
            <a:avLst/>
          </a:prstGeom>
          <a:noFill/>
          <a:ln/>
        </p:spPr>
        <p:txBody>
          <a:bodyPr wrap="square" lIns="0" tIns="0" rIns="0" bIns="0" rtlCol="0" anchor="ctr"/>
          <a:lstStyle/>
          <a:p>
            <a:pPr indent="0" marL="0">
              <a:buNone/>
            </a:pPr>
            <a:r>
              <a:rPr lang="en-US" sz="1800" b="1" dirty="0">
                <a:solidFill>
                  <a:schemeClr val="tx2"/>
                </a:solidFill>
              </a:rPr>
              <a:t>Un rendez-vous à J90</a:t>
            </a:r>
            <a:endParaRPr lang="en-US" sz="1800" dirty="0"/>
          </a:p>
        </p:txBody>
      </p:sp>
      <p:sp>
        <p:nvSpPr>
          <p:cNvPr id="19" name="Text 16"/>
          <p:cNvSpPr txBox="1"/>
          <p:nvPr/>
        </p:nvSpPr>
        <p:spPr>
          <a:xfrm>
            <a:off x="8321040" y="3520440"/>
            <a:ext cx="3017520" cy="868680"/>
          </a:xfrm>
          <a:prstGeom prst="rect">
            <a:avLst/>
          </a:prstGeom>
          <a:noFill/>
          <a:ln/>
        </p:spPr>
        <p:txBody>
          <a:bodyPr wrap="square" lIns="0" tIns="0" rIns="0" bIns="0" rtlCol="0" anchor="t"/>
          <a:lstStyle/>
          <a:p>
            <a:pPr indent="0" marL="0">
              <a:buNone/>
            </a:pPr>
            <a:r>
              <a:rPr lang="en-US" sz="1250" dirty="0">
                <a:solidFill>
                  <a:schemeClr val="tx1"/>
                </a:solidFill>
              </a:rPr>
              <a:t>Un bilan chiffré présenté aux décideurs, pour étendre, ajuster ou arrêter.</a:t>
            </a:r>
            <a:endParaRPr lang="en-US" sz="1250" dirty="0"/>
          </a:p>
        </p:txBody>
      </p:sp>
      <p:sp>
        <p:nvSpPr>
          <p:cNvPr id="20" name="Shape 17"/>
          <p:cNvSpPr/>
          <p:nvPr/>
        </p:nvSpPr>
        <p:spPr>
          <a:xfrm>
            <a:off x="548640" y="4846320"/>
            <a:ext cx="11091672" cy="960120"/>
          </a:xfrm>
          <a:prstGeom prst="roundRect">
            <a:avLst>
              <a:gd name="adj" fmla="val 11429"/>
            </a:avLst>
          </a:prstGeom>
          <a:solidFill>
            <a:schemeClr val="accent2"/>
          </a:solidFill>
          <a:ln/>
        </p:spPr>
      </p:sp>
      <p:sp>
        <p:nvSpPr>
          <p:cNvPr id="21" name="Text 18"/>
          <p:cNvSpPr txBox="1"/>
          <p:nvPr/>
        </p:nvSpPr>
        <p:spPr>
          <a:xfrm>
            <a:off x="822960" y="4846320"/>
            <a:ext cx="10607040" cy="960120"/>
          </a:xfrm>
          <a:prstGeom prst="rect">
            <a:avLst/>
          </a:prstGeom>
          <a:noFill/>
          <a:ln/>
        </p:spPr>
        <p:txBody>
          <a:bodyPr wrap="square" lIns="0" tIns="0" rIns="0" bIns="0" rtlCol="0" anchor="ctr"/>
          <a:lstStyle/>
          <a:p>
            <a:pPr indent="0" marL="0">
              <a:buNone/>
            </a:pPr>
            <a:r>
              <a:rPr lang="en-US" sz="1400" b="1" dirty="0">
                <a:solidFill>
                  <a:schemeClr val="tx2"/>
                </a:solidFill>
              </a:rPr>
              <a:t>Après le pilote : viser le label national (p. 65), puis étendre famille par famille (sport, artisanat, écoles) et pôle par pôle.</a:t>
            </a:r>
            <a:endParaRPr lang="en-US" sz="1400" dirty="0"/>
          </a:p>
        </p:txBody>
      </p:sp>
      <p:sp>
        <p:nvSpPr>
          <p:cNvPr id="22" name="Text 19"/>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65 (label national, fonds d'amorçage). Démarche : proposition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1371600" y="2743200"/>
            <a:ext cx="9445752" cy="1554480"/>
          </a:xfrm>
          <a:prstGeom prst="rect">
            <a:avLst/>
          </a:prstGeom>
          <a:noFill/>
          <a:ln/>
        </p:spPr>
        <p:txBody>
          <a:bodyPr wrap="square" lIns="0" tIns="0" rIns="0" bIns="0" rtlCol="0" anchor="t"/>
          <a:lstStyle/>
          <a:p>
            <a:pPr algn="ctr" indent="0" marL="0">
              <a:buNone/>
            </a:pPr>
            <a:r>
              <a:rPr lang="en-US" sz="3600" b="1" dirty="0">
                <a:solidFill>
                  <a:schemeClr val="accent2"/>
                </a:solidFill>
              </a:rPr>
              <a:t>DU SCAN</a:t>
            </a:r>
            <a:endParaRPr lang="en-US" sz="3600" dirty="0"/>
          </a:p>
          <a:p>
            <a:pPr algn="ctr" indent="0" marL="0">
              <a:buNone/>
            </a:pPr>
            <a:r>
              <a:rPr lang="en-US" sz="3600" b="1" dirty="0">
                <a:solidFill>
                  <a:schemeClr val="bg1"/>
                </a:solidFill>
              </a:rPr>
              <a:t>À LA RÉPARATION</a:t>
            </a:r>
            <a:endParaRPr lang="en-US" sz="3600" dirty="0"/>
          </a:p>
        </p:txBody>
      </p:sp>
      <p:sp>
        <p:nvSpPr>
          <p:cNvPr id="3" name="Text 1"/>
          <p:cNvSpPr txBox="1"/>
          <p:nvPr/>
        </p:nvSpPr>
        <p:spPr>
          <a:xfrm>
            <a:off x="1371600" y="4572000"/>
            <a:ext cx="9445752" cy="457200"/>
          </a:xfrm>
          <a:prstGeom prst="rect">
            <a:avLst/>
          </a:prstGeom>
          <a:noFill/>
          <a:ln/>
        </p:spPr>
        <p:txBody>
          <a:bodyPr wrap="square" lIns="0" tIns="0" rIns="0" bIns="0" rtlCol="0" anchor="ctr"/>
          <a:lstStyle/>
          <a:p>
            <a:pPr algn="ctr" indent="0" marL="0">
              <a:buNone/>
            </a:pPr>
            <a:r>
              <a:rPr lang="en-US" sz="1600" dirty="0">
                <a:solidFill>
                  <a:schemeClr val="bg2"/>
                </a:solidFill>
              </a:rPr>
              <a:t>Une démonstration guidée de 12 étapes, à faire en direct en 5 minutes</a:t>
            </a:r>
            <a:endParaRPr lang="en-US" sz="1600" dirty="0"/>
          </a:p>
        </p:txBody>
      </p:sp>
      <p:sp>
        <p:nvSpPr>
          <p:cNvPr id="4" name="Text 2"/>
          <p:cNvSpPr txBox="1"/>
          <p:nvPr/>
        </p:nvSpPr>
        <p:spPr>
          <a:xfrm>
            <a:off x="1371600" y="5257800"/>
            <a:ext cx="9445752" cy="320040"/>
          </a:xfrm>
          <a:prstGeom prst="rect">
            <a:avLst/>
          </a:prstGeom>
          <a:noFill/>
          <a:ln/>
        </p:spPr>
        <p:txBody>
          <a:bodyPr wrap="square" lIns="0" tIns="0" rIns="0" bIns="0" rtlCol="0" anchor="ctr"/>
          <a:lstStyle/>
          <a:p>
            <a:pPr algn="ctr" indent="0" marL="0">
              <a:buNone/>
            </a:pPr>
            <a:r>
              <a:rPr lang="en-US" sz="1100" b="1" spc="200" kern="0" dirty="0">
                <a:solidFill>
                  <a:schemeClr val="bg1"/>
                </a:solidFill>
              </a:rPr>
              <a:t>ESPOIR ADOUWEKONOU  ·  INGÉNIEUR INDUSTRIE 4.0 ET PLM</a:t>
            </a:r>
            <a:endParaRPr lang="en-US" sz="1100" dirty="0"/>
          </a:p>
        </p:txBody>
      </p:sp>
    </p:spTree>
  </p:cSld>
  <p:clrMapOvr>
    <a:masterClrMapping/>
  </p:clrMapOvr>
</p:sld>
</file>

<file path=ppt/theme/theme1.xml><?xml version="1.0" encoding="utf-8"?>
<a:theme xmlns:a="http://schemas.openxmlformats.org/drawingml/2006/main" name="Contribution programme 2026-2033">
  <a:themeElements>
    <a:clrScheme name="Contribution programme 2026-2033">
      <a:dk1>
        <a:srgbClr val="1E2433"/>
      </a:dk1>
      <a:lt1>
        <a:srgbClr val="FFFFFF"/>
      </a:lt1>
      <a:dk2>
        <a:srgbClr val="253970"/>
      </a:dk2>
      <a:lt2>
        <a:srgbClr val="E3E6F5"/>
      </a:lt2>
      <a:accent1>
        <a:srgbClr val="496DBE"/>
      </a:accent1>
      <a:accent2>
        <a:srgbClr val="F2B134"/>
      </a:accent2>
      <a:accent3>
        <a:srgbClr val="C7DDED"/>
      </a:accent3>
      <a:accent4>
        <a:srgbClr val="ECE2CE"/>
      </a:accent4>
      <a:accent5>
        <a:srgbClr val="5D6683"/>
      </a:accent5>
      <a:accent6>
        <a:srgbClr val="8E9CCB"/>
      </a:accent6>
      <a:hlink>
        <a:srgbClr val="496DBE"/>
      </a:hlink>
      <a:folHlink>
        <a:srgbClr val="253970"/>
      </a:folHlink>
    </a:clrScheme>
    <a:fontScheme name="Contribution programme 2026-2033">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Registre du cycle de vie - le prototype</dc:title>
  <dc:subject>PptxGenJS Presentation</dc:subject>
  <dc:creator>Espoir Adouwekonou</dc:creator>
  <cp:lastModifiedBy>Espoir Adouwekonou</cp:lastModifiedBy>
  <cp:revision>1</cp:revision>
  <dcterms:created xsi:type="dcterms:W3CDTF">2026-10-05T14:48:10Z</dcterms:created>
  <dcterms:modified xsi:type="dcterms:W3CDTF">2026-10-05T14:48:10Z</dcterms:modified>
</cp:coreProperties>
</file>