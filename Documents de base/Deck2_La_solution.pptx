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d1584eda-fdb2-b688-ba87-800e110f9fa5}">
          <p14:sldIdLst>
            <p14:sldId id="256"/>
            <p14:sldId id="257"/>
          </p14:sldIdLst>
        </p14:section>
        <p14:section name="Vue d'ensemble" id="{9466aa32-f82b-8716-df14-b9cd6f7ef462}">
          <p14:sldIdLst>
            <p14:sldId id="258"/>
            <p14:sldId id="259"/>
          </p14:sldIdLst>
        </p14:section>
        <p14:section name="Les ouvrages et leurs pièces" id="{e8c655ac-74d9-6931-3bd2-7fc1c7f71984}">
          <p14:sldIdLst>
            <p14:sldId id="260"/>
            <p14:sldId id="261"/>
            <p14:sldId id="262"/>
            <p14:sldId id="263"/>
            <p14:sldId id="264"/>
          </p14:sldIdLst>
        </p14:section>
        <p14:section name="Cycle de vie et maintenance" id="{105ed906-c715-209d-7a91-b99bc4a22af5}">
          <p14:sldIdLst>
            <p14:sldId id="265"/>
            <p14:sldId id="266"/>
            <p14:sldId id="267"/>
          </p14:sldIdLst>
        </p14:section>
        <p14:section name="Pilotage et données" id="{5d767b42-55b7-eaaa-5946-1315b4594ab6}">
          <p14:sldIdLst>
            <p14:sldId id="268"/>
            <p14:sldId id="269"/>
            <p14:sldId id="270"/>
            <p14:sldId id="271"/>
            <p14:sldId id="272"/>
            <p14:sldId id="273"/>
          </p14:sldIdLst>
        </p14:section>
        <p14:section name="Déploiement" id="{e71672e2-4422-b80c-3641-654b39cdafb1}">
          <p14:sldIdLst>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Disponibilité des équipements (%)</c:v>
                </c:pt>
              </c:strCache>
            </c:strRef>
          </c:tx>
          <c:spPr>
            <a:solidFill>
              <a:srgbClr val="496DBE"/>
            </a:solidFill>
            <a:effectLst/>
          </c:spPr>
          <c:invertIfNegative val="0"/>
          <c:dLbls>
            <c:numFmt formatCode="#,##0" sourceLinked="0"/>
            <c:txPr>
              <a:bodyPr/>
              <a:lstStyle/>
              <a:p>
                <a:pPr>
                  <a:defRPr b="0" i="0" strike="noStrike" sz="1100" u="none">
                    <a:solidFill>
                      <a:srgbClr val="253970"/>
                    </a:solidFill>
                    <a:latin typeface="+mn-lt"/>
                  </a:defRPr>
                </a:pPr>
              </a:p>
            </c:txPr>
            <c:showLegendKey val="0"/>
            <c:showVal val="1"/>
            <c:showCatName val="0"/>
            <c:showSerName val="0"/>
            <c:showPercent val="0"/>
            <c:showBubbleSize val="0"/>
            <c:showLeaderLines val="0"/>
          </c:dLbls>
          <c:cat>
            <c:multiLvlStrRef>
              <c:f>Sheet1!$A$2:$A$6</c:f>
              <c:multiLvlStrCache>
                <c:ptCount val="5"/>
                <c:lvl>
                  <c:pt idx="0">
                    <c:v>Commune A</c:v>
                  </c:pt>
                  <c:pt idx="1">
                    <c:v>Commune B</c:v>
                  </c:pt>
                  <c:pt idx="2">
                    <c:v>Commune C</c:v>
                  </c:pt>
                  <c:pt idx="3">
                    <c:v>Commune D</c:v>
                  </c:pt>
                  <c:pt idx="4">
                    <c:v>Commune E</c:v>
                  </c:pt>
                </c:lvl>
              </c:multiLvlStrCache>
            </c:multiLvlStrRef>
          </c:cat>
          <c:val>
            <c:numRef>
              <c:f>Sheet1!$B$2:$B$6</c:f>
              <c:numCache>
                <c:formatCode>General</c:formatCode>
                <c:ptCount val="5"/>
                <c:pt idx="0">
                  <c:v>94</c:v>
                </c:pt>
                <c:pt idx="1">
                  <c:v>88</c:v>
                </c:pt>
                <c:pt idx="2">
                  <c:v>91</c:v>
                </c:pt>
                <c:pt idx="3">
                  <c:v>76</c:v>
                </c:pt>
                <c:pt idx="4">
                  <c:v>83</c:v>
                </c:pt>
              </c:numCache>
            </c:numRef>
          </c:val>
        </c:ser>
        <c:dLbls>
          <c:numFmt formatCode="#,##0" sourceLinked="0"/>
          <c:txPr>
            <a:bodyPr/>
            <a:lstStyle/>
            <a:p>
              <a:pPr>
                <a:defRPr b="0" i="0" strike="noStrike" sz="1100" u="none">
                  <a:solidFill>
                    <a:srgbClr val="25397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D6683"/>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C7DD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D668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2 sur 3. Il suit l'analyse du besoin (document 1) et précède la démonstration du prototype (document 3). Les modèles 3D sont des ouvrages types à l'échelle, pas des relevés de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Reprendre la phrase centrale. Distinguer : ce que dit le programme (avec page) et ce que nous concevons.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couches. Terrain : plaque QR, capteurs en option. Applications : agent hors-ligne, signalement citoyen. Plateforme : registre, maintenance, stocks, audit. Pilotage : tableaux par commune, pôle, national. Hébergement au Bénin, cohérent avec la loi sur la localisation de la donnée annoncée p. 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famille est annoncée dans le programme : eau (p. 21), sport (p. 25), artisanat (p. 41), éclairage et quartiers (p. 23 et 32), éducation (p. 16 et 21). Le modèle de données est le même : ouvrage, composants, événements, interventions. Seules les listes de composants et les plans d'entretien changent.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Vue éclatée d'un château d'eau métallique de 12 m de tour et cuve de 4,8 m de diamètre. Chaque pièce a sa fiche : date, fournisseur, garantie, inspections, interventions. Les fréquences d'inspection sont à fixer avec le service technique concerné. Pièces non à l'échelle sur la vue éclatée.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prévoit des forages sécurisés avec pompes modernes et capteurs intelligents (p. 21). La chaîne : panneaux solaires, contrôleur, pompe, colonne, tête de forage, et sortie vers le château d'eau. Le registre garde pour chaque pièce l'âge et les interventions, et relie les alarmes du capteur au bon composant.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cite 100 000 lampadaires déjà installés (p. 32) et la rénovation de 1 000 quartiers avec éclairage public (p. 23). Un lampadaire solaire a six pièces suivies. Pour chacune, un signal de panne que l'habitant ou le capteur peut remonter.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plaque est en aluminium ou inox, gravée, avec un numéro lisible en secours. Le QR du modèle est illustratif. Le scan ouvre deux vues : habitant (signaler) et agent (fiche, historique, ouvrir une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annonce des forages avec capteurs intelligents et des technologies de suivi (p. 21), et 90 % du territoire couvert en 4G (p. 64). Principe : capteur seulement si le coût d'une panne le justifie ; ailleurs, plaque QR et contrôle visuel suffisent. Liaison GSM ou radio longue portée selon la couverture.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plan au remplacement, le dossier de l'ouvrage reste le même. À la réception, on y verse plans et PV. En exploitation, on y verse les relevés. En maintenance, les interventions. En fin de vie, la décision de renouveler ou déclasser s'appuie sur l'historique : coût cumulé, pannes, âge.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prévoit une maintenance préventive pour l'artisanat (p. 41) et un système de suivi technique pour le sport (p. 25). Le registre généralise : un plan d'entretien par type d'ouvrage, des tâches générées automatiquement, des preuves d'exécution. Les fréquences sont à fixer avec les services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Parcours d'un ticket. 1 Scan de la plaque. 2 Ticket créé avec position et photo. 3 Triage par la commune. 4 Affectation à un technicien ou à l'opérateur. 5 Intervention avec checklist et pièces. 6 Clôture et retour à l'habitant. Le programme prévoit retours usagers et participation citoyenne (p. 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rôle a une vue adaptée. L'opérateur privé correspond à la gestion déléguée des bases d'appui à l'artisanat (p. 41). Les agences régionales de développement et l'entité nationale correspondent à la gouvernance des pôles (p. 9). Les communes sont suivies par contrats de performance (p. 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droite, un graphique avec des données FICTIVES pour illustrer la forme du tableau de bord. Aucune donnée réelle. Le programme annonce un suivi semestriel de la performance des communes (p. 56) et une entité de pilotage nationale (p. 9) : le registre alimente ces suivis.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Définitions simples et vérifiables. La disponibilité est la part du temps où l'ouvrage rend le service attendu. Le délai de remise en service est mesuré du signalement à la clôture. Ces indicateurs complètent ceux déjà fixés par le programme (pertes d'eau p. 21, fréquentation p. 25, performance des communes p. 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annonce une loi sur la localisation de la donnée, des data centers sécurisés et une plateforme nationale de collecte de données locales (p. 64), et le code du numérique encadre cybersécurité et protection des données (p. 64). La solution est conçue pour s'y inscrire. Aucune donnée personnelle superflue : un signalement peut être anonyme.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annonce 90 % du territoire couvert en 4G et des relais digitaux communautaires dans chaque localité (p. 64). Il reste des zones sans réseau et des personnes sans smartphone : l'application fonctionne hors connexion et le signalement passe aussi par SMS ou appel.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Raccordements envisagés, à confirmer avec les services concernés : cadastre numérique (p. 23), plateforme nationale de collecte de données locales (p. 64), principe « dites-le-nous une fois » (p. 55), suivi de performance des communes (p. 56). Aucun accord n'existe à ce stade.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programme annonce 7 écoles de métiers de référence dont eau et assainissement, énergie et développement durable (p. 17), l'École des Métiers de l'Énergie (p. 33), près de 500 agents spécialisés dans les communes et le CeFAL (p. 56) et des relais digitaux communautaires (p. 64). Le registre s'appuie sur ces structures, il n'en crée pas de nouvelles.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Sujets ajoutés par rapport à l'idée de départ, parce qu'ils conditionnent la durabilité d'un parc d'ouvrages : pièces de rechange, garanties, coût du cycle de vie, sécurité des intervenants, fin de vie, preuve, continuité de service, accessibilité. Le programme prévoit déjà une filière de pièces de rechange industrielles (p.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pilote est volontairement petit : une commune, une famille d'ouvrages, 90 jours. Objectif : prouver l'usage sur des ouvrages réels. Ensuite seulement, extension à d'autres familles puis à d'autres communes d'un pôle. Le label national des solutions technologiques (p. 65) est une voie d'accélération visée, pas acquise.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Risques principaux. Adoption : le plus important ; l'outil doit aider l'agent, pas le contrôler. Données de départ : inventaire progressif. Vandalisme : plaque durable et numéro gravé. Connexion : mode hors connexion. Dépendance : formats ouverts et export. Financement : adosser le registre au budget d'entretien.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1.png"/><Relationship Id="rId3" Type="http://schemas.openxmlformats.org/officeDocument/2006/relationships/image" Target="../media/image-1003-1.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Shape 1"/>
          <p:cNvSpPr/>
          <p:nvPr/>
        </p:nvSpPr>
        <p:spPr>
          <a:xfrm>
            <a:off x="0" y="5212080"/>
            <a:ext cx="12191695" cy="1645920"/>
          </a:xfrm>
          <a:prstGeom prst="rect">
            <a:avLst/>
          </a:prstGeom>
          <a:solidFill>
            <a:schemeClr val="bg1"/>
          </a:solidFill>
          <a:ln/>
        </p:spPr>
      </p:sp>
      <p:pic>
        <p:nvPicPr>
          <p:cNvPr id="4" name="Image 0" descr="Rendu 3D d'une commune avec ses ouvrages publics">    </p:cNvPr>
          <p:cNvPicPr>
            <a:picLocks noChangeAspect="1"/>
          </p:cNvPicPr>
          <p:nvPr/>
        </p:nvPicPr>
        <p:blipFill>
          <a:blip r:embed="rId1"/>
          <a:stretch>
            <a:fillRect/>
          </a:stretch>
        </p:blipFill>
        <p:spPr>
          <a:xfrm>
            <a:off x="5669280" y="0"/>
            <a:ext cx="6522415" cy="5212080"/>
          </a:xfrm>
          <a:prstGeom prst="rect">
            <a:avLst/>
          </a:prstGeom>
        </p:spPr>
      </p:pic>
      <p:pic>
        <p:nvPicPr>
          <p:cNvPr id="5" name="Image 1" descr="/home/claude/work/assets/sun_gold.png">    </p:cNvPr>
          <p:cNvPicPr>
            <a:picLocks noChangeAspect="1"/>
          </p:cNvPicPr>
          <p:nvPr/>
        </p:nvPicPr>
        <p:blipFill>
          <a:blip r:embed="rId2"/>
          <a:stretch>
            <a:fillRect/>
          </a:stretch>
        </p:blipFill>
        <p:spPr>
          <a:xfrm>
            <a:off x="685800" y="502920"/>
            <a:ext cx="1005840" cy="1005840"/>
          </a:xfrm>
          <a:prstGeom prst="rect">
            <a:avLst/>
          </a:prstGeom>
        </p:spPr>
      </p:pic>
      <p:sp>
        <p:nvSpPr>
          <p:cNvPr id="6" name="Text 2"/>
          <p:cNvSpPr/>
          <p:nvPr>
            <p:ph idx="104" type="title" hasCustomPrompt="1"/>
          </p:nvPr>
        </p:nvSpPr>
        <p:spPr>
          <a:xfrm>
            <a:off x="685800" y="1783080"/>
            <a:ext cx="5120640" cy="1188720"/>
          </a:xfrm>
          <a:prstGeom prst="rect">
            <a:avLst/>
          </a:prstGeom>
          <a:noFill/>
          <a:ln/>
        </p:spPr>
        <p:txBody>
          <a:bodyPr wrap="square" rtlCol="0"/>
          <a:lstStyle>
            <a:lvl1pPr algn="l" indent="0" marL="0">
              <a:buNone/>
              <a:defRPr lang="en-US" sz="3200" b="1" dirty="0">
                <a:solidFill>
                  <a:schemeClr val="accent2"/>
                </a:solidFill>
              </a:defRPr>
            </a:lvl1pPr>
          </a:lstStyle>
          <a:p>
            <a:pPr algn="l" indent="0" marL="0">
              <a:buNone/>
            </a:pPr>
            <a:r>
              <a:rPr lang="en-US" sz="3200" b="1" dirty="0">
                <a:solidFill>
                  <a:schemeClr val="accent2"/>
                </a:solidFill>
              </a:rPr>
              <a:t>Titre</a:t>
            </a: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HESIS">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accent1"/>
          </a:solidFill>
          <a:ln/>
        </p:spPr>
      </p:sp>
      <p:pic>
        <p:nvPicPr>
          <p:cNvPr id="3" name="Image 0" descr="/home/claude/work/assets/sun_grey.png">    </p:cNvPr>
          <p:cNvPicPr>
            <a:picLocks noChangeAspect="1"/>
          </p:cNvPicPr>
          <p:nvPr/>
        </p:nvPicPr>
        <p:blipFill>
          <a:blip r:embed="rId1">
            <a:alphaModFix amt="65000"/>
          </a:blip>
          <a:stretch>
            <a:fillRect/>
          </a:stretch>
        </p:blipFill>
        <p:spPr>
          <a:xfrm>
            <a:off x="9784080" y="-822960"/>
            <a:ext cx="3108960" cy="3108960"/>
          </a:xfrm>
          <a:prstGeom prst="rect">
            <a:avLst/>
          </a:prstGeom>
        </p:spPr>
      </p:pic>
      <p:pic>
        <p:nvPicPr>
          <p:cNvPr id="4" name="Image 1" descr="/home/claude/work/assets/sun_grey.png">    </p:cNvPr>
          <p:cNvPicPr>
            <a:picLocks noChangeAspect="1"/>
          </p:cNvPicPr>
          <p:nvPr/>
        </p:nvPicPr>
        <p:blipFill>
          <a:blip r:embed="rId2">
            <a:alphaModFix amt="65000"/>
          </a:blip>
          <a:stretch>
            <a:fillRect/>
          </a:stretch>
        </p:blipFill>
        <p:spPr>
          <a:xfrm>
            <a:off x="9784080" y="1554480"/>
            <a:ext cx="3108960" cy="3108960"/>
          </a:xfrm>
          <a:prstGeom prst="rect">
            <a:avLst/>
          </a:prstGeom>
        </p:spPr>
      </p:pic>
      <p:pic>
        <p:nvPicPr>
          <p:cNvPr id="5" name="Image 2" descr="/home/claude/work/assets/sun_grey.png">    </p:cNvPr>
          <p:cNvPicPr>
            <a:picLocks noChangeAspect="1"/>
          </p:cNvPicPr>
          <p:nvPr/>
        </p:nvPicPr>
        <p:blipFill>
          <a:blip r:embed="rId3">
            <a:alphaModFix amt="65000"/>
          </a:blip>
          <a:stretch>
            <a:fillRect/>
          </a:stretch>
        </p:blipFill>
        <p:spPr>
          <a:xfrm>
            <a:off x="9784080" y="3931920"/>
            <a:ext cx="3108960" cy="3108960"/>
          </a:xfrm>
          <a:prstGeom prst="rect">
            <a:avLst/>
          </a:prstGeom>
        </p:spPr>
      </p:pic>
      <p:sp>
        <p:nvSpPr>
          <p:cNvPr id="6" name="Text 1"/>
          <p:cNvSpPr txBox="1"/>
          <p:nvPr/>
        </p:nvSpPr>
        <p:spPr>
          <a:xfrm>
            <a:off x="640080" y="2011680"/>
            <a:ext cx="914400" cy="1188720"/>
          </a:xfrm>
          <a:prstGeom prst="rect">
            <a:avLst/>
          </a:prstGeom>
          <a:noFill/>
          <a:ln/>
        </p:spPr>
        <p:txBody>
          <a:bodyPr wrap="square" lIns="0" tIns="0" rIns="0" bIns="0" rtlCol="0" anchor="ctr"/>
          <a:lstStyle/>
          <a:p>
            <a:pPr indent="0" marL="0">
              <a:buNone/>
            </a:pPr>
            <a:r>
              <a:rPr lang="en-US" sz="9600" b="1" dirty="0">
                <a:solidFill>
                  <a:schemeClr val="accent2"/>
                </a:solidFill>
                <a:latin typeface="Rockwell" pitchFamily="34" charset="0"/>
                <a:ea typeface="Rockwell" pitchFamily="34" charset="-122"/>
                <a:cs typeface="Rockwell" pitchFamily="34" charset="-120"/>
              </a:rPr>
              <a:t>“</a:t>
            </a:r>
            <a:endParaRPr lang="en-US" sz="9600" dirty="0"/>
          </a:p>
        </p:txBody>
      </p:sp>
      <p:sp>
        <p:nvSpPr>
          <p:cNvPr id="7" name="Text 2"/>
          <p:cNvSpPr/>
          <p:nvPr>
            <p:ph idx="105" type="title" hasCustomPrompt="1"/>
          </p:nvPr>
        </p:nvSpPr>
        <p:spPr>
          <a:xfrm>
            <a:off x="1554480" y="2286000"/>
            <a:ext cx="7680960" cy="2468880"/>
          </a:xfrm>
          <a:prstGeom prst="rect">
            <a:avLst/>
          </a:prstGeom>
          <a:noFill/>
          <a:ln/>
        </p:spPr>
        <p:txBody>
          <a:bodyPr wrap="square" rtlCol="0"/>
          <a:lstStyle>
            <a:lvl1pPr algn="l" indent="0" marL="0">
              <a:buNone/>
              <a:defRPr lang="en-US" sz="3200" dirty="0">
                <a:solidFill>
                  <a:schemeClr val="bg1"/>
                </a:solidFill>
                <a:latin typeface="Rockwell" pitchFamily="34" charset="0"/>
                <a:ea typeface="Rockwell" pitchFamily="34" charset="-122"/>
                <a:cs typeface="Rockwell" pitchFamily="34" charset="-120"/>
              </a:defRPr>
            </a:lvl1pPr>
          </a:lstStyle>
          <a:p>
            <a:pPr algn="l" indent="0" marL="0">
              <a:buNone/>
            </a:pPr>
            <a:r>
              <a:rPr lang="en-US" sz="3200" dirty="0">
                <a:solidFill>
                  <a:schemeClr val="bg1"/>
                </a:solidFill>
                <a:latin typeface="Rockwell" pitchFamily="34" charset="0"/>
                <a:ea typeface="Rockwell" pitchFamily="34" charset="-122"/>
                <a:cs typeface="Rockwell" pitchFamily="34" charset="-120"/>
              </a:rPr>
              <a:t>Citation</a:t>
            </a: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chemeClr val="accent1"/>
          </a:solidFill>
          <a:ln/>
        </p:spPr>
      </p:sp>
      <p:sp>
        <p:nvSpPr>
          <p:cNvPr id="3" name="Text 1"/>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Contribution au programme 2026-2033  ·  Espoir Adouwekonou</a:t>
            </a:r>
            <a:endParaRPr lang="en-US" sz="1000" dirty="0"/>
          </a:p>
        </p:txBody>
      </p:sp>
      <p:pic>
        <p:nvPicPr>
          <p:cNvPr id="4" name="Image 0" descr="/home/claude/work/assets/sun_gold.png">    </p:cNvPr>
          <p:cNvPicPr>
            <a:picLocks noChangeAspect="1"/>
          </p:cNvPicPr>
          <p:nvPr/>
        </p:nvPicPr>
        <p:blipFill>
          <a:blip r:embed="rId1"/>
          <a:stretch>
            <a:fillRect/>
          </a:stretch>
        </p:blipFill>
        <p:spPr>
          <a:xfrm>
            <a:off x="11292840" y="6291072"/>
            <a:ext cx="502920" cy="502920"/>
          </a:xfrm>
          <a:prstGeom prst="rect">
            <a:avLst/>
          </a:prstGeom>
        </p:spPr>
      </p:pic>
      <p:sp>
        <p:nvSpPr>
          <p:cNvPr id="5" name="Text 2"/>
          <p:cNvSpPr/>
          <p:nvPr>
            <p:ph idx="103" type="title" hasCustomPrompt="1"/>
          </p:nvPr>
        </p:nvSpPr>
        <p:spPr>
          <a:xfrm>
            <a:off x="548640" y="960120"/>
            <a:ext cx="11091672" cy="9144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r>
              <a:rPr lang="en-US" sz="2800" b="1" dirty="0">
                <a:solidFill>
                  <a:schemeClr val="tx2"/>
                </a:solidFill>
              </a:rPr>
              <a:t>Titre</a:t>
            </a:r>
            <a:endParaRPr lang="en-US" sz="2800" dirty="0"/>
          </a:p>
        </p:txBody>
      </p:sp>
      <p:sp>
        <p:nvSpPr>
          <p:cNvPr id="25"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pic>
        <p:nvPicPr>
          <p:cNvPr id="3" name="Image 0" descr="/home/claude/work/assets/sun_gold.png">    </p:cNvPr>
          <p:cNvPicPr>
            <a:picLocks noChangeAspect="1"/>
          </p:cNvPicPr>
          <p:nvPr/>
        </p:nvPicPr>
        <p:blipFill>
          <a:blip r:embed="rId1"/>
          <a:stretch>
            <a:fillRect/>
          </a:stretch>
        </p:blipFill>
        <p:spPr>
          <a:xfrm>
            <a:off x="5394960" y="822960"/>
            <a:ext cx="1417320" cy="1417320"/>
          </a:xfrm>
          <a:prstGeom prst="rect">
            <a:avLst/>
          </a:prstGeom>
        </p:spPr>
      </p:pic>
      <p:sp>
        <p:nvSpPr>
          <p:cNvPr id="4" name="Text 1"/>
          <p:cNvSpPr/>
          <p:nvPr>
            <p:ph idx="102" type="title" hasCustomPrompt="1"/>
          </p:nvPr>
        </p:nvSpPr>
        <p:spPr>
          <a:xfrm>
            <a:off x="1371600" y="2743200"/>
            <a:ext cx="9445752" cy="1554480"/>
          </a:xfrm>
          <a:prstGeom prst="rect">
            <a:avLst/>
          </a:prstGeom>
          <a:noFill/>
          <a:ln/>
        </p:spPr>
        <p:txBody>
          <a:bodyPr wrap="square" rtlCol="0"/>
          <a:lstStyle>
            <a:lvl1pPr algn="ctr" indent="0" marL="0">
              <a:buNone/>
              <a:defRPr lang="en-US" sz="3600" b="1" dirty="0">
                <a:solidFill>
                  <a:schemeClr val="accent2"/>
                </a:solidFill>
              </a:defRPr>
            </a:lvl1pPr>
          </a:lstStyle>
          <a:p>
            <a:pPr algn="ctr" indent="0" marL="0">
              <a:buNone/>
            </a:pPr>
            <a:r>
              <a:rPr lang="en-US" sz="3600" b="1" dirty="0">
                <a:solidFill>
                  <a:schemeClr val="accent2"/>
                </a:solidFill>
              </a:rPr>
              <a:t>Titre</a:t>
            </a: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4.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4" type="title" hasCustomPrompt="1"/>
          </p:nvPr>
        </p:nvSpPr>
        <p:spPr>
          <a:xfrm>
            <a:off x="685800" y="1783080"/>
            <a:ext cx="5120640" cy="1188720"/>
          </a:xfrm>
          <a:prstGeom prst="rect">
            <a:avLst/>
          </a:prstGeom>
          <a:noFill/>
          <a:ln/>
        </p:spPr>
        <p:txBody>
          <a:bodyPr wrap="square" lIns="0" tIns="0" rIns="0" bIns="0" rtlCol="0" anchor="t"/>
          <a:lstStyle/>
          <a:p>
            <a:pPr algn="l" indent="0" marL="0">
              <a:buNone/>
            </a:pPr>
            <a:r>
              <a:rPr lang="en-US" sz="3200" b="1" dirty="0">
                <a:solidFill>
                  <a:schemeClr val="accent2"/>
                </a:solidFill>
              </a:rPr>
              <a:t>CHAQUE OUVRAGE</a:t>
            </a:r>
            <a:endParaRPr lang="en-US" sz="3200" dirty="0"/>
          </a:p>
          <a:p>
            <a:pPr algn="l" indent="0" marL="0">
              <a:buNone/>
            </a:pPr>
            <a:r>
              <a:rPr lang="en-US" sz="3200" b="1" dirty="0">
                <a:solidFill>
                  <a:schemeClr val="bg1"/>
                </a:solidFill>
              </a:rPr>
              <a:t>A UNE HISTOIRE</a:t>
            </a:r>
            <a:endParaRPr lang="en-US" sz="3200" dirty="0"/>
          </a:p>
        </p:txBody>
      </p:sp>
      <p:sp>
        <p:nvSpPr>
          <p:cNvPr id="3" name="Text 1"/>
          <p:cNvSpPr txBox="1"/>
          <p:nvPr/>
        </p:nvSpPr>
        <p:spPr>
          <a:xfrm>
            <a:off x="685800" y="3154680"/>
            <a:ext cx="4572000" cy="320040"/>
          </a:xfrm>
          <a:prstGeom prst="rect">
            <a:avLst/>
          </a:prstGeom>
          <a:noFill/>
          <a:ln/>
        </p:spPr>
        <p:txBody>
          <a:bodyPr wrap="square" lIns="0" tIns="0" rIns="0" bIns="0" rtlCol="0" anchor="ctr"/>
          <a:lstStyle/>
          <a:p>
            <a:pPr indent="0" marL="0">
              <a:buNone/>
            </a:pPr>
            <a:r>
              <a:rPr lang="en-US" sz="1100" b="1" spc="200" kern="0" dirty="0">
                <a:solidFill>
                  <a:schemeClr val="accent2"/>
                </a:solidFill>
              </a:rPr>
              <a:t>DOCUMENT 2 SUR 3  ·  LA SOLUTION EN DÉTAIL</a:t>
            </a:r>
            <a:endParaRPr lang="en-US" sz="1100" dirty="0"/>
          </a:p>
        </p:txBody>
      </p:sp>
      <p:sp>
        <p:nvSpPr>
          <p:cNvPr id="4" name="Text 2"/>
          <p:cNvSpPr txBox="1"/>
          <p:nvPr/>
        </p:nvSpPr>
        <p:spPr>
          <a:xfrm>
            <a:off x="685800" y="3566160"/>
            <a:ext cx="4572000" cy="1188720"/>
          </a:xfrm>
          <a:prstGeom prst="rect">
            <a:avLst/>
          </a:prstGeom>
          <a:noFill/>
          <a:ln/>
        </p:spPr>
        <p:txBody>
          <a:bodyPr wrap="square" lIns="0" tIns="0" rIns="0" bIns="0" rtlCol="0" anchor="t"/>
          <a:lstStyle/>
          <a:p>
            <a:pPr indent="0" marL="0">
              <a:buNone/>
            </a:pPr>
            <a:r>
              <a:rPr lang="en-US" sz="1800" dirty="0">
                <a:solidFill>
                  <a:schemeClr val="bg1"/>
                </a:solidFill>
              </a:rPr>
              <a:t>Architecture, ouvrages modélisés en 3D, cycle de vie, maintenance et pilotage</a:t>
            </a:r>
            <a:endParaRPr lang="en-US" sz="1800" dirty="0"/>
          </a:p>
        </p:txBody>
      </p:sp>
      <p:sp>
        <p:nvSpPr>
          <p:cNvPr id="5" name="Text 3"/>
          <p:cNvSpPr txBox="1"/>
          <p:nvPr/>
        </p:nvSpPr>
        <p:spPr>
          <a:xfrm>
            <a:off x="685800" y="5440680"/>
            <a:ext cx="10789920" cy="548640"/>
          </a:xfrm>
          <a:prstGeom prst="rect">
            <a:avLst/>
          </a:prstGeom>
          <a:noFill/>
          <a:ln/>
        </p:spPr>
        <p:txBody>
          <a:bodyPr wrap="square" lIns="0" tIns="0" rIns="0" bIns="0" rtlCol="0" anchor="ctr"/>
          <a:lstStyle/>
          <a:p>
            <a:pPr indent="0" marL="0">
              <a:buNone/>
            </a:pPr>
            <a:r>
              <a:rPr lang="en-US" sz="2400" b="1" dirty="0">
                <a:solidFill>
                  <a:schemeClr val="accent1"/>
                </a:solidFill>
              </a:rPr>
              <a:t>Registre du cycle de vie des équipements publics</a:t>
            </a:r>
            <a:endParaRPr lang="en-US" sz="2400" dirty="0"/>
          </a:p>
        </p:txBody>
      </p:sp>
      <p:sp>
        <p:nvSpPr>
          <p:cNvPr id="6" name="Text 4"/>
          <p:cNvSpPr txBox="1"/>
          <p:nvPr/>
        </p:nvSpPr>
        <p:spPr>
          <a:xfrm>
            <a:off x="685800" y="6172200"/>
            <a:ext cx="10789920" cy="274320"/>
          </a:xfrm>
          <a:prstGeom prst="rect">
            <a:avLst/>
          </a:prstGeom>
          <a:noFill/>
          <a:ln/>
        </p:spPr>
        <p:txBody>
          <a:bodyPr wrap="square" lIns="0" tIns="0" rIns="0" bIns="0" rtlCol="0" anchor="ctr"/>
          <a:lstStyle/>
          <a:p>
            <a:pPr indent="0" marL="0">
              <a:buNone/>
            </a:pPr>
            <a:r>
              <a:rPr lang="en-US" sz="1100" b="1" spc="200" kern="0" dirty="0">
                <a:solidFill>
                  <a:schemeClr val="accent5"/>
                </a:solidFill>
              </a:rPr>
              <a:t>ESPOIR ADOUWEKONOU  ·  INGÉNIEUR INDUSTRIE 4.0 ET PLM  ·  OCTOBRE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1554480" y="1691640"/>
            <a:ext cx="5486400" cy="320040"/>
          </a:xfrm>
          <a:prstGeom prst="rect">
            <a:avLst/>
          </a:prstGeom>
          <a:noFill/>
          <a:ln/>
        </p:spPr>
        <p:txBody>
          <a:bodyPr wrap="square" lIns="0" tIns="0" rIns="0" bIns="0" rtlCol="0" anchor="ctr"/>
          <a:lstStyle/>
          <a:p>
            <a:pPr indent="0" marL="0">
              <a:buNone/>
            </a:pPr>
            <a:r>
              <a:rPr lang="en-US" sz="1200" b="1" spc="300" kern="0" dirty="0">
                <a:solidFill>
                  <a:schemeClr val="accent2"/>
                </a:solidFill>
              </a:rPr>
              <a:t>L'IDÉE EN UNE PHRASE</a:t>
            </a:r>
            <a:endParaRPr lang="en-US" sz="1200" dirty="0"/>
          </a:p>
        </p:txBody>
      </p:sp>
      <p:sp>
        <p:nvSpPr>
          <p:cNvPr id="3" name="Text 2"/>
          <p:cNvSpPr/>
          <p:nvPr>
            <p:ph idx="105" type="title" hasCustomPrompt="1"/>
          </p:nvPr>
        </p:nvSpPr>
        <p:spPr>
          <a:xfrm>
            <a:off x="1554480" y="2286000"/>
            <a:ext cx="7680960" cy="2468880"/>
          </a:xfrm>
          <a:prstGeom prst="rect">
            <a:avLst/>
          </a:prstGeom>
          <a:noFill/>
          <a:ln/>
        </p:spPr>
        <p:txBody>
          <a:bodyPr wrap="square" lIns="0" tIns="0" rIns="0" bIns="0" rtlCol="0" anchor="t"/>
          <a:lstStyle/>
          <a:p>
            <a:pPr algn="l" indent="0" marL="0">
              <a:buNone/>
            </a:pPr>
            <a:r>
              <a:rPr lang="en-US" sz="3200" dirty="0">
                <a:solidFill>
                  <a:schemeClr val="bg1"/>
                </a:solidFill>
                <a:latin typeface="Rockwell" pitchFamily="34" charset="0"/>
                <a:ea typeface="Rockwell" pitchFamily="34" charset="-122"/>
                <a:cs typeface="Rockwell" pitchFamily="34" charset="-120"/>
              </a:rPr>
              <a:t>Chaque ouvrage public a une identité, un état et un historique. Le registre les garde, du plan jusqu'au remplacement.</a:t>
            </a:r>
            <a:endParaRPr lang="en-US" sz="3200" dirty="0"/>
          </a:p>
        </p:txBody>
      </p:sp>
      <p:sp>
        <p:nvSpPr>
          <p:cNvPr id="4" name="Text 2"/>
          <p:cNvSpPr txBox="1"/>
          <p:nvPr/>
        </p:nvSpPr>
        <p:spPr>
          <a:xfrm>
            <a:off x="1554480" y="5074920"/>
            <a:ext cx="7680960" cy="822960"/>
          </a:xfrm>
          <a:prstGeom prst="rect">
            <a:avLst/>
          </a:prstGeom>
          <a:noFill/>
          <a:ln/>
        </p:spPr>
        <p:txBody>
          <a:bodyPr wrap="square" lIns="0" tIns="0" rIns="0" bIns="0" rtlCol="0" anchor="t"/>
          <a:lstStyle/>
          <a:p>
            <a:pPr indent="0" marL="0">
              <a:buNone/>
            </a:pPr>
            <a:r>
              <a:rPr lang="en-US" sz="1200" dirty="0">
                <a:solidFill>
                  <a:schemeClr val="bg1"/>
                </a:solidFill>
              </a:rPr>
              <a:t>Ce document décrit la solution complète. Les chiffres cités du programme portent leur page ; le reste est conception de l'auteur.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VUE D'ENSEMBLE</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La solution en une page : quatre couches, du terrain au pilotage</a:t>
            </a:r>
            <a:endParaRPr lang="en-US" sz="2800" dirty="0"/>
          </a:p>
        </p:txBody>
      </p:sp>
      <p:sp>
        <p:nvSpPr>
          <p:cNvPr id="5" name="Couche 1"/>
          <p:cNvSpPr/>
          <p:nvPr/>
        </p:nvSpPr>
        <p:spPr>
          <a:xfrm>
            <a:off x="548640" y="2011680"/>
            <a:ext cx="2542032" cy="3337560"/>
          </a:xfrm>
          <a:prstGeom prst="roundRect">
            <a:avLst>
              <a:gd name="adj" fmla="val 4317"/>
            </a:avLst>
          </a:prstGeom>
          <a:solidFill>
            <a:schemeClr val="bg2"/>
          </a:solidFill>
          <a:ln/>
        </p:spPr>
      </p:sp>
      <p:sp>
        <p:nvSpPr>
          <p:cNvPr id="6" name="Shape 3"/>
          <p:cNvSpPr/>
          <p:nvPr/>
        </p:nvSpPr>
        <p:spPr>
          <a:xfrm>
            <a:off x="777240" y="2240280"/>
            <a:ext cx="640080" cy="64008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950062" y="2413102"/>
            <a:ext cx="294437" cy="294437"/>
          </a:xfrm>
          <a:prstGeom prst="rect">
            <a:avLst/>
          </a:prstGeom>
        </p:spPr>
      </p:pic>
      <p:sp>
        <p:nvSpPr>
          <p:cNvPr id="8" name="Text 4"/>
          <p:cNvSpPr txBox="1"/>
          <p:nvPr/>
        </p:nvSpPr>
        <p:spPr>
          <a:xfrm>
            <a:off x="777240" y="3017520"/>
            <a:ext cx="219456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1 · TERRAIN</a:t>
            </a:r>
            <a:endParaRPr lang="en-US" sz="1100" dirty="0"/>
          </a:p>
        </p:txBody>
      </p:sp>
      <p:sp>
        <p:nvSpPr>
          <p:cNvPr id="9" name="Shape 5"/>
          <p:cNvSpPr/>
          <p:nvPr/>
        </p:nvSpPr>
        <p:spPr>
          <a:xfrm>
            <a:off x="777240" y="3493008"/>
            <a:ext cx="128016" cy="128016"/>
          </a:xfrm>
          <a:prstGeom prst="ellipse">
            <a:avLst/>
          </a:prstGeom>
          <a:solidFill>
            <a:schemeClr val="accent2"/>
          </a:solidFill>
          <a:ln/>
        </p:spPr>
      </p:sp>
      <p:sp>
        <p:nvSpPr>
          <p:cNvPr id="10" name="Text 6"/>
          <p:cNvSpPr txBox="1"/>
          <p:nvPr/>
        </p:nvSpPr>
        <p:spPr>
          <a:xfrm>
            <a:off x="1033272" y="3429000"/>
            <a:ext cx="1892808" cy="585216"/>
          </a:xfrm>
          <a:prstGeom prst="rect">
            <a:avLst/>
          </a:prstGeom>
          <a:noFill/>
          <a:ln/>
        </p:spPr>
        <p:txBody>
          <a:bodyPr wrap="square" lIns="0" tIns="0" rIns="0" bIns="0" rtlCol="0" anchor="t"/>
          <a:lstStyle/>
          <a:p>
            <a:pPr indent="0" marL="0">
              <a:buNone/>
            </a:pPr>
            <a:r>
              <a:rPr lang="en-US" sz="1200" dirty="0">
                <a:solidFill>
                  <a:schemeClr val="tx1"/>
                </a:solidFill>
              </a:rPr>
              <a:t>Plaque QR gravée sur chaque ouvrage</a:t>
            </a:r>
            <a:endParaRPr lang="en-US" sz="1200" dirty="0"/>
          </a:p>
        </p:txBody>
      </p:sp>
      <p:sp>
        <p:nvSpPr>
          <p:cNvPr id="11" name="Shape 7"/>
          <p:cNvSpPr/>
          <p:nvPr/>
        </p:nvSpPr>
        <p:spPr>
          <a:xfrm>
            <a:off x="777240" y="4114800"/>
            <a:ext cx="128016" cy="128016"/>
          </a:xfrm>
          <a:prstGeom prst="ellipse">
            <a:avLst/>
          </a:prstGeom>
          <a:solidFill>
            <a:schemeClr val="accent2"/>
          </a:solidFill>
          <a:ln/>
        </p:spPr>
      </p:sp>
      <p:sp>
        <p:nvSpPr>
          <p:cNvPr id="12" name="Text 8"/>
          <p:cNvSpPr txBox="1"/>
          <p:nvPr/>
        </p:nvSpPr>
        <p:spPr>
          <a:xfrm>
            <a:off x="1033272" y="4050792"/>
            <a:ext cx="1892808" cy="585216"/>
          </a:xfrm>
          <a:prstGeom prst="rect">
            <a:avLst/>
          </a:prstGeom>
          <a:noFill/>
          <a:ln/>
        </p:spPr>
        <p:txBody>
          <a:bodyPr wrap="square" lIns="0" tIns="0" rIns="0" bIns="0" rtlCol="0" anchor="t"/>
          <a:lstStyle/>
          <a:p>
            <a:pPr indent="0" marL="0">
              <a:buNone/>
            </a:pPr>
            <a:r>
              <a:rPr lang="en-US" sz="1200" dirty="0">
                <a:solidFill>
                  <a:schemeClr val="tx1"/>
                </a:solidFill>
              </a:rPr>
              <a:t>Capteurs là où la panne coûte cher</a:t>
            </a:r>
            <a:endParaRPr lang="en-US" sz="1200" dirty="0"/>
          </a:p>
        </p:txBody>
      </p:sp>
      <p:sp>
        <p:nvSpPr>
          <p:cNvPr id="13" name="Shape 9"/>
          <p:cNvSpPr/>
          <p:nvPr/>
        </p:nvSpPr>
        <p:spPr>
          <a:xfrm>
            <a:off x="777240" y="4736592"/>
            <a:ext cx="128016" cy="128016"/>
          </a:xfrm>
          <a:prstGeom prst="ellipse">
            <a:avLst/>
          </a:prstGeom>
          <a:solidFill>
            <a:schemeClr val="accent2"/>
          </a:solidFill>
          <a:ln/>
        </p:spPr>
      </p:sp>
      <p:sp>
        <p:nvSpPr>
          <p:cNvPr id="14" name="Text 10"/>
          <p:cNvSpPr txBox="1"/>
          <p:nvPr/>
        </p:nvSpPr>
        <p:spPr>
          <a:xfrm>
            <a:off x="1033272" y="4672584"/>
            <a:ext cx="1892808" cy="585216"/>
          </a:xfrm>
          <a:prstGeom prst="rect">
            <a:avLst/>
          </a:prstGeom>
          <a:noFill/>
          <a:ln/>
        </p:spPr>
        <p:txBody>
          <a:bodyPr wrap="square" lIns="0" tIns="0" rIns="0" bIns="0" rtlCol="0" anchor="t"/>
          <a:lstStyle/>
          <a:p>
            <a:pPr indent="0" marL="0">
              <a:buNone/>
            </a:pPr>
            <a:r>
              <a:rPr lang="en-US" sz="1200" dirty="0">
                <a:solidFill>
                  <a:schemeClr val="tx1"/>
                </a:solidFill>
              </a:rPr>
              <a:t>Relais digital de la localité</a:t>
            </a:r>
            <a:endParaRPr lang="en-US" sz="1200" dirty="0"/>
          </a:p>
        </p:txBody>
      </p:sp>
      <p:sp>
        <p:nvSpPr>
          <p:cNvPr id="15" name="Shape 11"/>
          <p:cNvSpPr/>
          <p:nvPr/>
        </p:nvSpPr>
        <p:spPr>
          <a:xfrm>
            <a:off x="3108960" y="3474720"/>
            <a:ext cx="237744" cy="274320"/>
          </a:xfrm>
          <a:prstGeom prst="rightArrow">
            <a:avLst/>
          </a:prstGeom>
          <a:solidFill>
            <a:schemeClr val="accent2"/>
          </a:solidFill>
          <a:ln/>
        </p:spPr>
      </p:sp>
      <p:sp>
        <p:nvSpPr>
          <p:cNvPr id="16" name="Couche 2"/>
          <p:cNvSpPr/>
          <p:nvPr/>
        </p:nvSpPr>
        <p:spPr>
          <a:xfrm>
            <a:off x="3362249" y="2011680"/>
            <a:ext cx="2542032" cy="3337560"/>
          </a:xfrm>
          <a:prstGeom prst="roundRect">
            <a:avLst>
              <a:gd name="adj" fmla="val 4317"/>
            </a:avLst>
          </a:prstGeom>
          <a:solidFill>
            <a:schemeClr val="bg2"/>
          </a:solidFill>
          <a:ln/>
        </p:spPr>
      </p:sp>
      <p:sp>
        <p:nvSpPr>
          <p:cNvPr id="17" name="Shape 13"/>
          <p:cNvSpPr/>
          <p:nvPr/>
        </p:nvSpPr>
        <p:spPr>
          <a:xfrm>
            <a:off x="3590849" y="2240280"/>
            <a:ext cx="640080" cy="640080"/>
          </a:xfrm>
          <a:prstGeom prst="ellipse">
            <a:avLst/>
          </a:prstGeom>
          <a:solidFill>
            <a:schemeClr val="accent1"/>
          </a:solidFill>
          <a:ln/>
        </p:spPr>
      </p:sp>
      <p:pic>
        <p:nvPicPr>
          <p:cNvPr id="18" name="Image 1" descr="preencoded.png">    </p:cNvPr>
          <p:cNvPicPr>
            <a:picLocks noChangeAspect="1"/>
          </p:cNvPicPr>
          <p:nvPr/>
        </p:nvPicPr>
        <p:blipFill>
          <a:blip r:embed="rId2"/>
          <a:stretch>
            <a:fillRect/>
          </a:stretch>
        </p:blipFill>
        <p:spPr>
          <a:xfrm>
            <a:off x="3763670" y="2413102"/>
            <a:ext cx="294437" cy="294437"/>
          </a:xfrm>
          <a:prstGeom prst="rect">
            <a:avLst/>
          </a:prstGeom>
        </p:spPr>
      </p:pic>
      <p:sp>
        <p:nvSpPr>
          <p:cNvPr id="19" name="Text 14"/>
          <p:cNvSpPr txBox="1"/>
          <p:nvPr/>
        </p:nvSpPr>
        <p:spPr>
          <a:xfrm>
            <a:off x="3590849" y="3017520"/>
            <a:ext cx="219456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2 · APPLICATIONS</a:t>
            </a:r>
            <a:endParaRPr lang="en-US" sz="1100" dirty="0"/>
          </a:p>
        </p:txBody>
      </p:sp>
      <p:sp>
        <p:nvSpPr>
          <p:cNvPr id="20" name="Shape 15"/>
          <p:cNvSpPr/>
          <p:nvPr/>
        </p:nvSpPr>
        <p:spPr>
          <a:xfrm>
            <a:off x="3590849" y="3493008"/>
            <a:ext cx="128016" cy="128016"/>
          </a:xfrm>
          <a:prstGeom prst="ellipse">
            <a:avLst/>
          </a:prstGeom>
          <a:solidFill>
            <a:schemeClr val="accent2"/>
          </a:solidFill>
          <a:ln/>
        </p:spPr>
      </p:sp>
      <p:sp>
        <p:nvSpPr>
          <p:cNvPr id="21" name="Text 16"/>
          <p:cNvSpPr txBox="1"/>
          <p:nvPr/>
        </p:nvSpPr>
        <p:spPr>
          <a:xfrm>
            <a:off x="3846881" y="3429000"/>
            <a:ext cx="1892808" cy="585216"/>
          </a:xfrm>
          <a:prstGeom prst="rect">
            <a:avLst/>
          </a:prstGeom>
          <a:noFill/>
          <a:ln/>
        </p:spPr>
        <p:txBody>
          <a:bodyPr wrap="square" lIns="0" tIns="0" rIns="0" bIns="0" rtlCol="0" anchor="t"/>
          <a:lstStyle/>
          <a:p>
            <a:pPr indent="0" marL="0">
              <a:buNone/>
            </a:pPr>
            <a:r>
              <a:rPr lang="en-US" sz="1200" dirty="0">
                <a:solidFill>
                  <a:schemeClr val="tx1"/>
                </a:solidFill>
              </a:rPr>
              <a:t>Agent et technicien, hors connexion</a:t>
            </a:r>
            <a:endParaRPr lang="en-US" sz="1200" dirty="0"/>
          </a:p>
        </p:txBody>
      </p:sp>
      <p:sp>
        <p:nvSpPr>
          <p:cNvPr id="22" name="Shape 17"/>
          <p:cNvSpPr/>
          <p:nvPr/>
        </p:nvSpPr>
        <p:spPr>
          <a:xfrm>
            <a:off x="3590849" y="4114800"/>
            <a:ext cx="128016" cy="128016"/>
          </a:xfrm>
          <a:prstGeom prst="ellipse">
            <a:avLst/>
          </a:prstGeom>
          <a:solidFill>
            <a:schemeClr val="accent2"/>
          </a:solidFill>
          <a:ln/>
        </p:spPr>
      </p:sp>
      <p:sp>
        <p:nvSpPr>
          <p:cNvPr id="23" name="Text 18"/>
          <p:cNvSpPr txBox="1"/>
          <p:nvPr/>
        </p:nvSpPr>
        <p:spPr>
          <a:xfrm>
            <a:off x="3846881" y="4050792"/>
            <a:ext cx="1892808" cy="585216"/>
          </a:xfrm>
          <a:prstGeom prst="rect">
            <a:avLst/>
          </a:prstGeom>
          <a:noFill/>
          <a:ln/>
        </p:spPr>
        <p:txBody>
          <a:bodyPr wrap="square" lIns="0" tIns="0" rIns="0" bIns="0" rtlCol="0" anchor="t"/>
          <a:lstStyle/>
          <a:p>
            <a:pPr indent="0" marL="0">
              <a:buNone/>
            </a:pPr>
            <a:r>
              <a:rPr lang="en-US" sz="1200" dirty="0">
                <a:solidFill>
                  <a:schemeClr val="tx1"/>
                </a:solidFill>
              </a:rPr>
              <a:t>Signalement habitant : QR, SMS ou appel</a:t>
            </a:r>
            <a:endParaRPr lang="en-US" sz="1200" dirty="0"/>
          </a:p>
        </p:txBody>
      </p:sp>
      <p:sp>
        <p:nvSpPr>
          <p:cNvPr id="24" name="Shape 19"/>
          <p:cNvSpPr/>
          <p:nvPr/>
        </p:nvSpPr>
        <p:spPr>
          <a:xfrm>
            <a:off x="3590849" y="4736592"/>
            <a:ext cx="128016" cy="128016"/>
          </a:xfrm>
          <a:prstGeom prst="ellipse">
            <a:avLst/>
          </a:prstGeom>
          <a:solidFill>
            <a:schemeClr val="accent2"/>
          </a:solidFill>
          <a:ln/>
        </p:spPr>
      </p:sp>
      <p:sp>
        <p:nvSpPr>
          <p:cNvPr id="25" name="Text 20"/>
          <p:cNvSpPr txBox="1"/>
          <p:nvPr/>
        </p:nvSpPr>
        <p:spPr>
          <a:xfrm>
            <a:off x="3846881" y="4672584"/>
            <a:ext cx="1892808" cy="585216"/>
          </a:xfrm>
          <a:prstGeom prst="rect">
            <a:avLst/>
          </a:prstGeom>
          <a:noFill/>
          <a:ln/>
        </p:spPr>
        <p:txBody>
          <a:bodyPr wrap="square" lIns="0" tIns="0" rIns="0" bIns="0" rtlCol="0" anchor="t"/>
          <a:lstStyle/>
          <a:p>
            <a:pPr indent="0" marL="0">
              <a:buNone/>
            </a:pPr>
            <a:r>
              <a:rPr lang="en-US" sz="1200" dirty="0">
                <a:solidFill>
                  <a:schemeClr val="tx1"/>
                </a:solidFill>
              </a:rPr>
              <a:t>Photos horodatées et géolocalisées</a:t>
            </a:r>
            <a:endParaRPr lang="en-US" sz="1200" dirty="0"/>
          </a:p>
        </p:txBody>
      </p:sp>
      <p:sp>
        <p:nvSpPr>
          <p:cNvPr id="26" name="Shape 21"/>
          <p:cNvSpPr/>
          <p:nvPr/>
        </p:nvSpPr>
        <p:spPr>
          <a:xfrm>
            <a:off x="5922569" y="3474720"/>
            <a:ext cx="237744" cy="274320"/>
          </a:xfrm>
          <a:prstGeom prst="rightArrow">
            <a:avLst/>
          </a:prstGeom>
          <a:solidFill>
            <a:schemeClr val="accent2"/>
          </a:solidFill>
          <a:ln/>
        </p:spPr>
      </p:sp>
      <p:sp>
        <p:nvSpPr>
          <p:cNvPr id="27" name="Couche 3"/>
          <p:cNvSpPr/>
          <p:nvPr/>
        </p:nvSpPr>
        <p:spPr>
          <a:xfrm>
            <a:off x="6175858" y="2011680"/>
            <a:ext cx="2542032" cy="3337560"/>
          </a:xfrm>
          <a:prstGeom prst="roundRect">
            <a:avLst>
              <a:gd name="adj" fmla="val 4317"/>
            </a:avLst>
          </a:prstGeom>
          <a:solidFill>
            <a:schemeClr val="tx2"/>
          </a:solidFill>
          <a:ln/>
        </p:spPr>
      </p:sp>
      <p:sp>
        <p:nvSpPr>
          <p:cNvPr id="28" name="Shape 23"/>
          <p:cNvSpPr/>
          <p:nvPr/>
        </p:nvSpPr>
        <p:spPr>
          <a:xfrm>
            <a:off x="6404458" y="2240280"/>
            <a:ext cx="640080" cy="640080"/>
          </a:xfrm>
          <a:prstGeom prst="ellipse">
            <a:avLst/>
          </a:prstGeom>
          <a:solidFill>
            <a:schemeClr val="accent2"/>
          </a:solidFill>
          <a:ln/>
        </p:spPr>
      </p:sp>
      <p:pic>
        <p:nvPicPr>
          <p:cNvPr id="29" name="Image 2" descr="preencoded.png">    </p:cNvPr>
          <p:cNvPicPr>
            <a:picLocks noChangeAspect="1"/>
          </p:cNvPicPr>
          <p:nvPr/>
        </p:nvPicPr>
        <p:blipFill>
          <a:blip r:embed="rId3"/>
          <a:stretch>
            <a:fillRect/>
          </a:stretch>
        </p:blipFill>
        <p:spPr>
          <a:xfrm>
            <a:off x="6577279" y="2413102"/>
            <a:ext cx="294437" cy="294437"/>
          </a:xfrm>
          <a:prstGeom prst="rect">
            <a:avLst/>
          </a:prstGeom>
        </p:spPr>
      </p:pic>
      <p:sp>
        <p:nvSpPr>
          <p:cNvPr id="30" name="Text 24"/>
          <p:cNvSpPr txBox="1"/>
          <p:nvPr/>
        </p:nvSpPr>
        <p:spPr>
          <a:xfrm>
            <a:off x="6404458" y="3017520"/>
            <a:ext cx="219456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3 · PLATEFORME</a:t>
            </a:r>
            <a:endParaRPr lang="en-US" sz="1100" dirty="0"/>
          </a:p>
        </p:txBody>
      </p:sp>
      <p:sp>
        <p:nvSpPr>
          <p:cNvPr id="31" name="Shape 25"/>
          <p:cNvSpPr/>
          <p:nvPr/>
        </p:nvSpPr>
        <p:spPr>
          <a:xfrm>
            <a:off x="6404458" y="3493008"/>
            <a:ext cx="128016" cy="128016"/>
          </a:xfrm>
          <a:prstGeom prst="ellipse">
            <a:avLst/>
          </a:prstGeom>
          <a:solidFill>
            <a:schemeClr val="accent2"/>
          </a:solidFill>
          <a:ln/>
        </p:spPr>
      </p:sp>
      <p:sp>
        <p:nvSpPr>
          <p:cNvPr id="32" name="Text 26"/>
          <p:cNvSpPr txBox="1"/>
          <p:nvPr/>
        </p:nvSpPr>
        <p:spPr>
          <a:xfrm>
            <a:off x="6660490" y="3429000"/>
            <a:ext cx="1892808" cy="585216"/>
          </a:xfrm>
          <a:prstGeom prst="rect">
            <a:avLst/>
          </a:prstGeom>
          <a:noFill/>
          <a:ln/>
        </p:spPr>
        <p:txBody>
          <a:bodyPr wrap="square" lIns="0" tIns="0" rIns="0" bIns="0" rtlCol="0" anchor="t"/>
          <a:lstStyle/>
          <a:p>
            <a:pPr indent="0" marL="0">
              <a:buNone/>
            </a:pPr>
            <a:r>
              <a:rPr lang="en-US" sz="1200" dirty="0">
                <a:solidFill>
                  <a:schemeClr val="bg1"/>
                </a:solidFill>
              </a:rPr>
              <a:t>Registre unique des ouvrages</a:t>
            </a:r>
            <a:endParaRPr lang="en-US" sz="1200" dirty="0"/>
          </a:p>
        </p:txBody>
      </p:sp>
      <p:sp>
        <p:nvSpPr>
          <p:cNvPr id="33" name="Shape 27"/>
          <p:cNvSpPr/>
          <p:nvPr/>
        </p:nvSpPr>
        <p:spPr>
          <a:xfrm>
            <a:off x="6404458" y="4114800"/>
            <a:ext cx="128016" cy="128016"/>
          </a:xfrm>
          <a:prstGeom prst="ellipse">
            <a:avLst/>
          </a:prstGeom>
          <a:solidFill>
            <a:schemeClr val="accent2"/>
          </a:solidFill>
          <a:ln/>
        </p:spPr>
      </p:sp>
      <p:sp>
        <p:nvSpPr>
          <p:cNvPr id="34" name="Text 28"/>
          <p:cNvSpPr txBox="1"/>
          <p:nvPr/>
        </p:nvSpPr>
        <p:spPr>
          <a:xfrm>
            <a:off x="6660490" y="4050792"/>
            <a:ext cx="1892808" cy="585216"/>
          </a:xfrm>
          <a:prstGeom prst="rect">
            <a:avLst/>
          </a:prstGeom>
          <a:noFill/>
          <a:ln/>
        </p:spPr>
        <p:txBody>
          <a:bodyPr wrap="square" lIns="0" tIns="0" rIns="0" bIns="0" rtlCol="0" anchor="t"/>
          <a:lstStyle/>
          <a:p>
            <a:pPr indent="0" marL="0">
              <a:buNone/>
            </a:pPr>
            <a:r>
              <a:rPr lang="en-US" sz="1200" dirty="0">
                <a:solidFill>
                  <a:schemeClr val="bg1"/>
                </a:solidFill>
              </a:rPr>
              <a:t>Plans d'entretien, tickets, stocks</a:t>
            </a:r>
            <a:endParaRPr lang="en-US" sz="1200" dirty="0"/>
          </a:p>
        </p:txBody>
      </p:sp>
      <p:sp>
        <p:nvSpPr>
          <p:cNvPr id="35" name="Shape 29"/>
          <p:cNvSpPr/>
          <p:nvPr/>
        </p:nvSpPr>
        <p:spPr>
          <a:xfrm>
            <a:off x="6404458" y="4736592"/>
            <a:ext cx="128016" cy="128016"/>
          </a:xfrm>
          <a:prstGeom prst="ellipse">
            <a:avLst/>
          </a:prstGeom>
          <a:solidFill>
            <a:schemeClr val="accent2"/>
          </a:solidFill>
          <a:ln/>
        </p:spPr>
      </p:sp>
      <p:sp>
        <p:nvSpPr>
          <p:cNvPr id="36" name="Text 30"/>
          <p:cNvSpPr txBox="1"/>
          <p:nvPr/>
        </p:nvSpPr>
        <p:spPr>
          <a:xfrm>
            <a:off x="6660490" y="4672584"/>
            <a:ext cx="1892808" cy="585216"/>
          </a:xfrm>
          <a:prstGeom prst="rect">
            <a:avLst/>
          </a:prstGeom>
          <a:noFill/>
          <a:ln/>
        </p:spPr>
        <p:txBody>
          <a:bodyPr wrap="square" lIns="0" tIns="0" rIns="0" bIns="0" rtlCol="0" anchor="t"/>
          <a:lstStyle/>
          <a:p>
            <a:pPr indent="0" marL="0">
              <a:buNone/>
            </a:pPr>
            <a:r>
              <a:rPr lang="en-US" sz="1200" dirty="0">
                <a:solidFill>
                  <a:schemeClr val="bg1"/>
                </a:solidFill>
              </a:rPr>
              <a:t>Journal d'audit, rôles, exports</a:t>
            </a:r>
            <a:endParaRPr lang="en-US" sz="1200" dirty="0"/>
          </a:p>
        </p:txBody>
      </p:sp>
      <p:sp>
        <p:nvSpPr>
          <p:cNvPr id="37" name="Shape 31"/>
          <p:cNvSpPr/>
          <p:nvPr/>
        </p:nvSpPr>
        <p:spPr>
          <a:xfrm>
            <a:off x="8736178" y="3474720"/>
            <a:ext cx="237744" cy="274320"/>
          </a:xfrm>
          <a:prstGeom prst="rightArrow">
            <a:avLst/>
          </a:prstGeom>
          <a:solidFill>
            <a:schemeClr val="accent2"/>
          </a:solidFill>
          <a:ln/>
        </p:spPr>
      </p:sp>
      <p:sp>
        <p:nvSpPr>
          <p:cNvPr id="38" name="Couche 4"/>
          <p:cNvSpPr/>
          <p:nvPr/>
        </p:nvSpPr>
        <p:spPr>
          <a:xfrm>
            <a:off x="8989466" y="2011680"/>
            <a:ext cx="2542032" cy="3337560"/>
          </a:xfrm>
          <a:prstGeom prst="roundRect">
            <a:avLst>
              <a:gd name="adj" fmla="val 4317"/>
            </a:avLst>
          </a:prstGeom>
          <a:solidFill>
            <a:schemeClr val="bg2"/>
          </a:solidFill>
          <a:ln/>
        </p:spPr>
      </p:sp>
      <p:sp>
        <p:nvSpPr>
          <p:cNvPr id="39" name="Shape 33"/>
          <p:cNvSpPr/>
          <p:nvPr/>
        </p:nvSpPr>
        <p:spPr>
          <a:xfrm>
            <a:off x="9218066" y="2240280"/>
            <a:ext cx="640080" cy="640080"/>
          </a:xfrm>
          <a:prstGeom prst="ellipse">
            <a:avLst/>
          </a:prstGeom>
          <a:solidFill>
            <a:schemeClr val="accent1"/>
          </a:solidFill>
          <a:ln/>
        </p:spPr>
      </p:sp>
      <p:pic>
        <p:nvPicPr>
          <p:cNvPr id="40" name="Image 3" descr="preencoded.png">    </p:cNvPr>
          <p:cNvPicPr>
            <a:picLocks noChangeAspect="1"/>
          </p:cNvPicPr>
          <p:nvPr/>
        </p:nvPicPr>
        <p:blipFill>
          <a:blip r:embed="rId4"/>
          <a:stretch>
            <a:fillRect/>
          </a:stretch>
        </p:blipFill>
        <p:spPr>
          <a:xfrm>
            <a:off x="9390888" y="2413102"/>
            <a:ext cx="294437" cy="294437"/>
          </a:xfrm>
          <a:prstGeom prst="rect">
            <a:avLst/>
          </a:prstGeom>
        </p:spPr>
      </p:pic>
      <p:sp>
        <p:nvSpPr>
          <p:cNvPr id="41" name="Text 34"/>
          <p:cNvSpPr txBox="1"/>
          <p:nvPr/>
        </p:nvSpPr>
        <p:spPr>
          <a:xfrm>
            <a:off x="9218066" y="3017520"/>
            <a:ext cx="219456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4 · PILOTAGE</a:t>
            </a:r>
            <a:endParaRPr lang="en-US" sz="1100" dirty="0"/>
          </a:p>
        </p:txBody>
      </p:sp>
      <p:sp>
        <p:nvSpPr>
          <p:cNvPr id="42" name="Shape 35"/>
          <p:cNvSpPr/>
          <p:nvPr/>
        </p:nvSpPr>
        <p:spPr>
          <a:xfrm>
            <a:off x="9218066" y="3493008"/>
            <a:ext cx="128016" cy="128016"/>
          </a:xfrm>
          <a:prstGeom prst="ellipse">
            <a:avLst/>
          </a:prstGeom>
          <a:solidFill>
            <a:schemeClr val="accent2"/>
          </a:solidFill>
          <a:ln/>
        </p:spPr>
      </p:sp>
      <p:sp>
        <p:nvSpPr>
          <p:cNvPr id="43" name="Text 36"/>
          <p:cNvSpPr txBox="1"/>
          <p:nvPr/>
        </p:nvSpPr>
        <p:spPr>
          <a:xfrm>
            <a:off x="9474098" y="3429000"/>
            <a:ext cx="1892808" cy="585216"/>
          </a:xfrm>
          <a:prstGeom prst="rect">
            <a:avLst/>
          </a:prstGeom>
          <a:noFill/>
          <a:ln/>
        </p:spPr>
        <p:txBody>
          <a:bodyPr wrap="square" lIns="0" tIns="0" rIns="0" bIns="0" rtlCol="0" anchor="t"/>
          <a:lstStyle/>
          <a:p>
            <a:pPr indent="0" marL="0">
              <a:buNone/>
            </a:pPr>
            <a:r>
              <a:rPr lang="en-US" sz="1200" dirty="0">
                <a:solidFill>
                  <a:schemeClr val="tx1"/>
                </a:solidFill>
              </a:rPr>
              <a:t>Tableaux de bord commune, pôle, national</a:t>
            </a:r>
            <a:endParaRPr lang="en-US" sz="1200" dirty="0"/>
          </a:p>
        </p:txBody>
      </p:sp>
      <p:sp>
        <p:nvSpPr>
          <p:cNvPr id="44" name="Shape 37"/>
          <p:cNvSpPr/>
          <p:nvPr/>
        </p:nvSpPr>
        <p:spPr>
          <a:xfrm>
            <a:off x="9218066" y="4114800"/>
            <a:ext cx="128016" cy="128016"/>
          </a:xfrm>
          <a:prstGeom prst="ellipse">
            <a:avLst/>
          </a:prstGeom>
          <a:solidFill>
            <a:schemeClr val="accent2"/>
          </a:solidFill>
          <a:ln/>
        </p:spPr>
      </p:sp>
      <p:sp>
        <p:nvSpPr>
          <p:cNvPr id="45" name="Text 38"/>
          <p:cNvSpPr txBox="1"/>
          <p:nvPr/>
        </p:nvSpPr>
        <p:spPr>
          <a:xfrm>
            <a:off x="9474098" y="4050792"/>
            <a:ext cx="1892808" cy="585216"/>
          </a:xfrm>
          <a:prstGeom prst="rect">
            <a:avLst/>
          </a:prstGeom>
          <a:noFill/>
          <a:ln/>
        </p:spPr>
        <p:txBody>
          <a:bodyPr wrap="square" lIns="0" tIns="0" rIns="0" bIns="0" rtlCol="0" anchor="t"/>
          <a:lstStyle/>
          <a:p>
            <a:pPr indent="0" marL="0">
              <a:buNone/>
            </a:pPr>
            <a:r>
              <a:rPr lang="en-US" sz="1200" dirty="0">
                <a:solidFill>
                  <a:schemeClr val="tx1"/>
                </a:solidFill>
              </a:rPr>
              <a:t>Alertes et priorisation</a:t>
            </a:r>
            <a:endParaRPr lang="en-US" sz="1200" dirty="0"/>
          </a:p>
        </p:txBody>
      </p:sp>
      <p:sp>
        <p:nvSpPr>
          <p:cNvPr id="46" name="Shape 39"/>
          <p:cNvSpPr/>
          <p:nvPr/>
        </p:nvSpPr>
        <p:spPr>
          <a:xfrm>
            <a:off x="9218066" y="4736592"/>
            <a:ext cx="128016" cy="128016"/>
          </a:xfrm>
          <a:prstGeom prst="ellipse">
            <a:avLst/>
          </a:prstGeom>
          <a:solidFill>
            <a:schemeClr val="accent2"/>
          </a:solidFill>
          <a:ln/>
        </p:spPr>
      </p:sp>
      <p:sp>
        <p:nvSpPr>
          <p:cNvPr id="47" name="Text 40"/>
          <p:cNvSpPr txBox="1"/>
          <p:nvPr/>
        </p:nvSpPr>
        <p:spPr>
          <a:xfrm>
            <a:off x="9474098" y="4672584"/>
            <a:ext cx="1892808" cy="585216"/>
          </a:xfrm>
          <a:prstGeom prst="rect">
            <a:avLst/>
          </a:prstGeom>
          <a:noFill/>
          <a:ln/>
        </p:spPr>
        <p:txBody>
          <a:bodyPr wrap="square" lIns="0" tIns="0" rIns="0" bIns="0" rtlCol="0" anchor="t"/>
          <a:lstStyle/>
          <a:p>
            <a:pPr indent="0" marL="0">
              <a:buNone/>
            </a:pPr>
            <a:r>
              <a:rPr lang="en-US" sz="1200" dirty="0">
                <a:solidFill>
                  <a:schemeClr val="tx1"/>
                </a:solidFill>
              </a:rPr>
              <a:t>Prévision des renouvellements</a:t>
            </a:r>
            <a:endParaRPr lang="en-US" sz="1200" dirty="0"/>
          </a:p>
        </p:txBody>
      </p:sp>
      <p:sp>
        <p:nvSpPr>
          <p:cNvPr id="48" name="Bandeau hébergement"/>
          <p:cNvSpPr/>
          <p:nvPr/>
        </p:nvSpPr>
        <p:spPr>
          <a:xfrm>
            <a:off x="548640" y="5486400"/>
            <a:ext cx="11091672" cy="502920"/>
          </a:xfrm>
          <a:prstGeom prst="roundRect">
            <a:avLst>
              <a:gd name="adj" fmla="val 21818"/>
            </a:avLst>
          </a:prstGeom>
          <a:solidFill>
            <a:schemeClr val="accent2"/>
          </a:solidFill>
          <a:ln/>
        </p:spPr>
      </p:sp>
      <p:sp>
        <p:nvSpPr>
          <p:cNvPr id="49" name="Text 42"/>
          <p:cNvSpPr txBox="1"/>
          <p:nvPr/>
        </p:nvSpPr>
        <p:spPr>
          <a:xfrm>
            <a:off x="822960" y="5486400"/>
            <a:ext cx="10607040" cy="502920"/>
          </a:xfrm>
          <a:prstGeom prst="rect">
            <a:avLst/>
          </a:prstGeom>
          <a:noFill/>
          <a:ln/>
        </p:spPr>
        <p:txBody>
          <a:bodyPr wrap="square" lIns="0" tIns="0" rIns="0" bIns="0" rtlCol="0" anchor="ctr"/>
          <a:lstStyle/>
          <a:p>
            <a:pPr indent="0" marL="0">
              <a:buNone/>
            </a:pPr>
            <a:r>
              <a:rPr lang="en-US" sz="1300" b="1" dirty="0">
                <a:solidFill>
                  <a:schemeClr val="tx2"/>
                </a:solidFill>
              </a:rPr>
              <a:t>Données hébergées au Bénin, accès par rôle, format ouvert : l'État reste propriétaire de ses données.</a:t>
            </a:r>
            <a:endParaRPr lang="en-US" sz="1300" dirty="0"/>
          </a:p>
        </p:txBody>
      </p:sp>
      <p:sp>
        <p:nvSpPr>
          <p:cNvPr id="50" name="Text 43"/>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Conception de l'auteur. Hébergement local : cohérent avec la loi sur la localisation de la donnée annoncée (programme, p. 64).</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LES OUVRAGES COUVERTS</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Cinq familles d'ouvrages, un même modèle de données</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783080" y="1965960"/>
          <a:ext cx="9857232" cy="914400"/>
        </p:xfrm>
        <a:graphic>
          <a:graphicData uri="http://schemas.openxmlformats.org/drawingml/2006/table">
            <a:tbl>
              <a:tblPr/>
              <a:tblGrid>
                <a:gridCol w="2011680"/>
                <a:gridCol w="4023360"/>
                <a:gridCol w="3822192"/>
              </a:tblGrid>
              <a:tr h="347472">
                <a:tc>
                  <a:txBody>
                    <a:bodyPr/>
                    <a:lstStyle/>
                    <a:p>
                      <a:pPr indent="0" marL="0">
                        <a:buNone/>
                      </a:pPr>
                      <a:r>
                        <a:rPr lang="en-US" sz="1150" b="1" dirty="0">
                          <a:solidFill>
                            <a:schemeClr val="bg1"/>
                          </a:solidFill>
                        </a:rPr>
                        <a:t>Famille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Composants suivis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Événements typiques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731520">
                <a:tc>
                  <a:txBody>
                    <a:bodyPr/>
                    <a:lstStyle/>
                    <a:p>
                      <a:pPr indent="0" marL="0">
                        <a:buNone/>
                      </a:pPr>
                      <a:r>
                        <a:rPr lang="en-US" sz="1150" b="1" dirty="0">
                          <a:solidFill>
                            <a:schemeClr val="tx2"/>
                          </a:solidFill>
                        </a:rPr>
                        <a:t>EAU POTABLE  ·  p. 21</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Forage, pompe, château d'eau, réseau, borne-fontaine, capteurs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Panne de pompe, niveau bas, fuite, qualité de l'eau</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731520">
                <a:tc>
                  <a:txBody>
                    <a:bodyPr/>
                    <a:lstStyle/>
                    <a:p>
                      <a:pPr indent="0" marL="0">
                        <a:buNone/>
                      </a:pPr>
                      <a:r>
                        <a:rPr lang="en-US" sz="1150" b="1" dirty="0">
                          <a:solidFill>
                            <a:schemeClr val="tx2"/>
                          </a:solidFill>
                        </a:rPr>
                        <a:t>SPORT  ·  p. 25</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Surface de jeu, buts, clôture, éclairage, gradins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Surface dégradée, vandalisme, lampe hors service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731520">
                <a:tc>
                  <a:txBody>
                    <a:bodyPr/>
                    <a:lstStyle/>
                    <a:p>
                      <a:pPr indent="0" marL="0">
                        <a:buNone/>
                      </a:pPr>
                      <a:r>
                        <a:rPr lang="en-US" sz="1150" b="1" dirty="0">
                          <a:solidFill>
                            <a:schemeClr val="tx2"/>
                          </a:solidFill>
                        </a:rPr>
                        <a:t>ARTISANAT  ·  p. 41</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Bâtiment, machines, outillage, installation solaire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Entretien préventif d'une machine, usure, contrôle de l'État</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731520">
                <a:tc>
                  <a:txBody>
                    <a:bodyPr/>
                    <a:lstStyle/>
                    <a:p>
                      <a:pPr indent="0" marL="0">
                        <a:buNone/>
                      </a:pPr>
                      <a:r>
                        <a:rPr lang="en-US" sz="1150" b="1" dirty="0">
                          <a:solidFill>
                            <a:schemeClr val="tx2"/>
                          </a:solidFill>
                        </a:rPr>
                        <a:t>ÉCLAIRAGE ET VOIRIE  ·  p. 23, 32</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Poteau, luminaire, panneau solaire, batterie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Lampe éteinte, batterie en fin de vie, panneau encrassé</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731520">
                <a:tc>
                  <a:txBody>
                    <a:bodyPr/>
                    <a:lstStyle/>
                    <a:p>
                      <a:pPr indent="0" marL="0">
                        <a:buNone/>
                      </a:pPr>
                      <a:r>
                        <a:rPr lang="en-US" sz="1150" b="1" dirty="0">
                          <a:solidFill>
                            <a:schemeClr val="tx2"/>
                          </a:solidFill>
                        </a:rPr>
                        <a:t>ÉDUCATION  ·  p. 16, 21</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Salles de classe, toiture, point d'eau, mobilier</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Toiture à reprendre, point d'eau en panne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bl>
          </a:graphicData>
        </a:graphic>
      </p:graphicFrame>
      <p:pic>
        <p:nvPicPr>
          <p:cNvPr id="6" name="Image 0" descr="EAU POTABLE">    </p:cNvPr>
          <p:cNvPicPr>
            <a:picLocks noChangeAspect="1"/>
          </p:cNvPicPr>
          <p:nvPr/>
        </p:nvPicPr>
        <p:blipFill>
          <a:blip r:embed="rId1"/>
          <a:srcRect l="0" r="0" t="0" b="0"/>
          <a:stretch/>
        </p:blipFill>
        <p:spPr>
          <a:xfrm>
            <a:off x="548640" y="2368296"/>
            <a:ext cx="1097280" cy="658368"/>
          </a:xfrm>
          <a:prstGeom prst="rect">
            <a:avLst/>
          </a:prstGeom>
        </p:spPr>
      </p:pic>
      <p:pic>
        <p:nvPicPr>
          <p:cNvPr id="7" name="Image 1" descr="SPORT">    </p:cNvPr>
          <p:cNvPicPr>
            <a:picLocks noChangeAspect="1"/>
          </p:cNvPicPr>
          <p:nvPr/>
        </p:nvPicPr>
        <p:blipFill>
          <a:blip r:embed="rId2"/>
          <a:srcRect l="0" r="0" t="0" b="0"/>
          <a:stretch/>
        </p:blipFill>
        <p:spPr>
          <a:xfrm>
            <a:off x="548640" y="3099816"/>
            <a:ext cx="1097280" cy="658368"/>
          </a:xfrm>
          <a:prstGeom prst="rect">
            <a:avLst/>
          </a:prstGeom>
        </p:spPr>
      </p:pic>
      <p:pic>
        <p:nvPicPr>
          <p:cNvPr id="8" name="Image 2" descr="ARTISANAT">    </p:cNvPr>
          <p:cNvPicPr>
            <a:picLocks noChangeAspect="1"/>
          </p:cNvPicPr>
          <p:nvPr/>
        </p:nvPicPr>
        <p:blipFill>
          <a:blip r:embed="rId3"/>
          <a:srcRect l="0" r="0" t="0" b="0"/>
          <a:stretch/>
        </p:blipFill>
        <p:spPr>
          <a:xfrm>
            <a:off x="548640" y="3831336"/>
            <a:ext cx="1097280" cy="658368"/>
          </a:xfrm>
          <a:prstGeom prst="rect">
            <a:avLst/>
          </a:prstGeom>
        </p:spPr>
      </p:pic>
      <p:pic>
        <p:nvPicPr>
          <p:cNvPr id="9" name="Image 3" descr="ÉCLAIRAGE ET VOIRIE">    </p:cNvPr>
          <p:cNvPicPr>
            <a:picLocks noChangeAspect="1"/>
          </p:cNvPicPr>
          <p:nvPr/>
        </p:nvPicPr>
        <p:blipFill>
          <a:blip r:embed="rId4"/>
          <a:srcRect l="0" r="0" t="0" b="0"/>
          <a:stretch/>
        </p:blipFill>
        <p:spPr>
          <a:xfrm>
            <a:off x="548640" y="4562856"/>
            <a:ext cx="1097280" cy="658368"/>
          </a:xfrm>
          <a:prstGeom prst="rect">
            <a:avLst/>
          </a:prstGeom>
        </p:spPr>
      </p:pic>
      <p:pic>
        <p:nvPicPr>
          <p:cNvPr id="10" name="Image 4" descr="ÉDUCATION">    </p:cNvPr>
          <p:cNvPicPr>
            <a:picLocks noChangeAspect="1"/>
          </p:cNvPicPr>
          <p:nvPr/>
        </p:nvPicPr>
        <p:blipFill>
          <a:blip r:embed="rId5"/>
          <a:srcRect l="0" r="0" t="0" b="0"/>
          <a:stretch/>
        </p:blipFill>
        <p:spPr>
          <a:xfrm>
            <a:off x="548640" y="5294376"/>
            <a:ext cx="1097280" cy="658368"/>
          </a:xfrm>
          <a:prstGeom prst="rect">
            <a:avLst/>
          </a:prstGeom>
        </p:spPr>
      </p:pic>
      <p:sp>
        <p:nvSpPr>
          <p:cNvPr id="11" name="Text 2"/>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pages indiquées. Composants et événements : conception de l'auteur. Modèles 3D d'ouvrages types.</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LE JUMEAU NUMÉRIQUE D'UN OUVRAGE</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Un château d'eau décomposé en pièces suivies</a:t>
            </a:r>
            <a:endParaRPr lang="en-US" sz="2800" dirty="0"/>
          </a:p>
        </p:txBody>
      </p:sp>
      <p:sp>
        <p:nvSpPr>
          <p:cNvPr id="5" name="Shape 2"/>
          <p:cNvSpPr/>
          <p:nvPr/>
        </p:nvSpPr>
        <p:spPr>
          <a:xfrm>
            <a:off x="548640" y="1965960"/>
            <a:ext cx="5852160" cy="3657600"/>
          </a:xfrm>
          <a:prstGeom prst="roundRect">
            <a:avLst>
              <a:gd name="adj" fmla="val 3000"/>
            </a:avLst>
          </a:prstGeom>
          <a:solidFill>
            <a:srgbClr val="E8E6E5"/>
          </a:solidFill>
          <a:ln/>
        </p:spPr>
      </p:sp>
      <p:pic>
        <p:nvPicPr>
          <p:cNvPr id="6" name="Image 0" descr="Vue éclatée 3D d'un château d'eau">    </p:cNvPr>
          <p:cNvPicPr>
            <a:picLocks noChangeAspect="1"/>
          </p:cNvPicPr>
          <p:nvPr/>
        </p:nvPicPr>
        <p:blipFill>
          <a:blip r:embed="rId1"/>
          <a:srcRect l="0" r="0" t="0" b="0"/>
          <a:stretch/>
        </p:blipFill>
        <p:spPr>
          <a:xfrm>
            <a:off x="548640" y="1965960"/>
            <a:ext cx="5852160" cy="3657600"/>
          </a:xfrm>
          <a:prstGeom prst="rect">
            <a:avLst/>
          </a:prstGeom>
        </p:spPr>
      </p:pic>
      <p:sp>
        <p:nvSpPr>
          <p:cNvPr id="7" name="Text 3"/>
          <p:cNvSpPr txBox="1"/>
          <p:nvPr/>
        </p:nvSpPr>
        <p:spPr>
          <a:xfrm>
            <a:off x="548640" y="5669280"/>
            <a:ext cx="5852160" cy="237744"/>
          </a:xfrm>
          <a:prstGeom prst="rect">
            <a:avLst/>
          </a:prstGeom>
          <a:noFill/>
          <a:ln/>
        </p:spPr>
        <p:txBody>
          <a:bodyPr wrap="square" lIns="0" tIns="0" rIns="0" bIns="0" rtlCol="0" anchor="ctr"/>
          <a:lstStyle/>
          <a:p>
            <a:pPr indent="0" marL="0">
              <a:buNone/>
            </a:pPr>
            <a:r>
              <a:rPr lang="en-US" sz="1000" i="1" dirty="0">
                <a:solidFill>
                  <a:schemeClr val="accent5"/>
                </a:solidFill>
              </a:rPr>
              <a:t>Vue éclatée : pièces espacées pour la lecture, non à l'échelle.</a:t>
            </a:r>
            <a:endParaRPr lang="en-US" sz="1000" dirty="0"/>
          </a:p>
        </p:txBody>
      </p:sp>
      <p:sp>
        <p:nvSpPr>
          <p:cNvPr id="8" name="Pièce 0"/>
          <p:cNvSpPr/>
          <p:nvPr/>
        </p:nvSpPr>
        <p:spPr>
          <a:xfrm>
            <a:off x="6629400" y="1965960"/>
            <a:ext cx="5010912" cy="548640"/>
          </a:xfrm>
          <a:prstGeom prst="roundRect">
            <a:avLst>
              <a:gd name="adj" fmla="val 20000"/>
            </a:avLst>
          </a:prstGeom>
          <a:solidFill>
            <a:schemeClr val="bg2"/>
          </a:solidFill>
          <a:ln/>
        </p:spPr>
      </p:sp>
      <p:sp>
        <p:nvSpPr>
          <p:cNvPr id="9" name="Shape 5"/>
          <p:cNvSpPr/>
          <p:nvPr/>
        </p:nvSpPr>
        <p:spPr>
          <a:xfrm>
            <a:off x="6766560" y="2103120"/>
            <a:ext cx="274320" cy="274320"/>
          </a:xfrm>
          <a:prstGeom prst="ellipse">
            <a:avLst/>
          </a:prstGeom>
          <a:solidFill>
            <a:schemeClr val="accent1"/>
          </a:solidFill>
          <a:ln/>
        </p:spPr>
      </p:sp>
      <p:sp>
        <p:nvSpPr>
          <p:cNvPr id="10" name="Text 6"/>
          <p:cNvSpPr txBox="1"/>
          <p:nvPr/>
        </p:nvSpPr>
        <p:spPr>
          <a:xfrm>
            <a:off x="6766560" y="2103120"/>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1" name="Text 7"/>
          <p:cNvSpPr txBox="1"/>
          <p:nvPr/>
        </p:nvSpPr>
        <p:spPr>
          <a:xfrm>
            <a:off x="7178040" y="1965960"/>
            <a:ext cx="1737360" cy="548640"/>
          </a:xfrm>
          <a:prstGeom prst="rect">
            <a:avLst/>
          </a:prstGeom>
          <a:noFill/>
          <a:ln/>
        </p:spPr>
        <p:txBody>
          <a:bodyPr wrap="square" lIns="0" tIns="0" rIns="0" bIns="0" rtlCol="0" anchor="ctr"/>
          <a:lstStyle/>
          <a:p>
            <a:pPr indent="0" marL="0">
              <a:buNone/>
            </a:pPr>
            <a:r>
              <a:rPr lang="en-US" sz="1100" b="1" dirty="0">
                <a:solidFill>
                  <a:schemeClr val="tx2"/>
                </a:solidFill>
              </a:rPr>
              <a:t>Cuve et toit</a:t>
            </a:r>
            <a:endParaRPr lang="en-US" sz="1100" dirty="0"/>
          </a:p>
        </p:txBody>
      </p:sp>
      <p:sp>
        <p:nvSpPr>
          <p:cNvPr id="12" name="Text 8"/>
          <p:cNvSpPr txBox="1"/>
          <p:nvPr/>
        </p:nvSpPr>
        <p:spPr>
          <a:xfrm>
            <a:off x="8915400" y="1965960"/>
            <a:ext cx="2651760" cy="548640"/>
          </a:xfrm>
          <a:prstGeom prst="rect">
            <a:avLst/>
          </a:prstGeom>
          <a:noFill/>
          <a:ln/>
        </p:spPr>
        <p:txBody>
          <a:bodyPr wrap="square" lIns="0" tIns="0" rIns="0" bIns="0" rtlCol="0" anchor="ctr"/>
          <a:lstStyle/>
          <a:p>
            <a:pPr indent="0" marL="0">
              <a:buNone/>
            </a:pPr>
            <a:r>
              <a:rPr lang="en-US" sz="1050" dirty="0">
                <a:solidFill>
                  <a:schemeClr val="tx1"/>
                </a:solidFill>
              </a:rPr>
              <a:t>Étanchéité, nettoyage, corrosion, trappe de visite</a:t>
            </a:r>
            <a:endParaRPr lang="en-US" sz="1050" dirty="0"/>
          </a:p>
        </p:txBody>
      </p:sp>
      <p:sp>
        <p:nvSpPr>
          <p:cNvPr id="13" name="Pièce 1"/>
          <p:cNvSpPr/>
          <p:nvPr/>
        </p:nvSpPr>
        <p:spPr>
          <a:xfrm>
            <a:off x="6629400" y="2578608"/>
            <a:ext cx="5010912" cy="548640"/>
          </a:xfrm>
          <a:prstGeom prst="roundRect">
            <a:avLst>
              <a:gd name="adj" fmla="val 20000"/>
            </a:avLst>
          </a:prstGeom>
          <a:solidFill>
            <a:schemeClr val="bg2"/>
          </a:solidFill>
          <a:ln/>
        </p:spPr>
      </p:sp>
      <p:sp>
        <p:nvSpPr>
          <p:cNvPr id="14" name="Shape 10"/>
          <p:cNvSpPr/>
          <p:nvPr/>
        </p:nvSpPr>
        <p:spPr>
          <a:xfrm>
            <a:off x="6766560" y="2715768"/>
            <a:ext cx="274320" cy="274320"/>
          </a:xfrm>
          <a:prstGeom prst="ellipse">
            <a:avLst/>
          </a:prstGeom>
          <a:solidFill>
            <a:schemeClr val="accent1"/>
          </a:solidFill>
          <a:ln/>
        </p:spPr>
      </p:sp>
      <p:sp>
        <p:nvSpPr>
          <p:cNvPr id="15" name="Text 11"/>
          <p:cNvSpPr txBox="1"/>
          <p:nvPr/>
        </p:nvSpPr>
        <p:spPr>
          <a:xfrm>
            <a:off x="6766560" y="271576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6" name="Text 12"/>
          <p:cNvSpPr txBox="1"/>
          <p:nvPr/>
        </p:nvSpPr>
        <p:spPr>
          <a:xfrm>
            <a:off x="7178040" y="2578608"/>
            <a:ext cx="1737360" cy="548640"/>
          </a:xfrm>
          <a:prstGeom prst="rect">
            <a:avLst/>
          </a:prstGeom>
          <a:noFill/>
          <a:ln/>
        </p:spPr>
        <p:txBody>
          <a:bodyPr wrap="square" lIns="0" tIns="0" rIns="0" bIns="0" rtlCol="0" anchor="ctr"/>
          <a:lstStyle/>
          <a:p>
            <a:pPr indent="0" marL="0">
              <a:buNone/>
            </a:pPr>
            <a:r>
              <a:rPr lang="en-US" sz="1100" b="1" dirty="0">
                <a:solidFill>
                  <a:schemeClr val="tx2"/>
                </a:solidFill>
              </a:rPr>
              <a:t>Plateforme et garde-corps</a:t>
            </a:r>
            <a:endParaRPr lang="en-US" sz="1100" dirty="0"/>
          </a:p>
        </p:txBody>
      </p:sp>
      <p:sp>
        <p:nvSpPr>
          <p:cNvPr id="17" name="Text 13"/>
          <p:cNvSpPr txBox="1"/>
          <p:nvPr/>
        </p:nvSpPr>
        <p:spPr>
          <a:xfrm>
            <a:off x="8915400" y="2578608"/>
            <a:ext cx="2651760" cy="548640"/>
          </a:xfrm>
          <a:prstGeom prst="rect">
            <a:avLst/>
          </a:prstGeom>
          <a:noFill/>
          <a:ln/>
        </p:spPr>
        <p:txBody>
          <a:bodyPr wrap="square" lIns="0" tIns="0" rIns="0" bIns="0" rtlCol="0" anchor="ctr"/>
          <a:lstStyle/>
          <a:p>
            <a:pPr indent="0" marL="0">
              <a:buNone/>
            </a:pPr>
            <a:r>
              <a:rPr lang="en-US" sz="1050" dirty="0">
                <a:solidFill>
                  <a:schemeClr val="tx1"/>
                </a:solidFill>
              </a:rPr>
              <a:t>Sécurité des intervenants, état des fixations</a:t>
            </a:r>
            <a:endParaRPr lang="en-US" sz="1050" dirty="0"/>
          </a:p>
        </p:txBody>
      </p:sp>
      <p:sp>
        <p:nvSpPr>
          <p:cNvPr id="18" name="Pièce 2"/>
          <p:cNvSpPr/>
          <p:nvPr/>
        </p:nvSpPr>
        <p:spPr>
          <a:xfrm>
            <a:off x="6629400" y="3191256"/>
            <a:ext cx="5010912" cy="548640"/>
          </a:xfrm>
          <a:prstGeom prst="roundRect">
            <a:avLst>
              <a:gd name="adj" fmla="val 20000"/>
            </a:avLst>
          </a:prstGeom>
          <a:solidFill>
            <a:schemeClr val="bg2"/>
          </a:solidFill>
          <a:ln/>
        </p:spPr>
      </p:sp>
      <p:sp>
        <p:nvSpPr>
          <p:cNvPr id="19" name="Shape 15"/>
          <p:cNvSpPr/>
          <p:nvPr/>
        </p:nvSpPr>
        <p:spPr>
          <a:xfrm>
            <a:off x="6766560" y="3328416"/>
            <a:ext cx="274320" cy="274320"/>
          </a:xfrm>
          <a:prstGeom prst="ellipse">
            <a:avLst/>
          </a:prstGeom>
          <a:solidFill>
            <a:schemeClr val="accent1"/>
          </a:solidFill>
          <a:ln/>
        </p:spPr>
      </p:sp>
      <p:sp>
        <p:nvSpPr>
          <p:cNvPr id="20" name="Text 16"/>
          <p:cNvSpPr txBox="1"/>
          <p:nvPr/>
        </p:nvSpPr>
        <p:spPr>
          <a:xfrm>
            <a:off x="6766560" y="332841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1" name="Text 17"/>
          <p:cNvSpPr txBox="1"/>
          <p:nvPr/>
        </p:nvSpPr>
        <p:spPr>
          <a:xfrm>
            <a:off x="7178040" y="3191256"/>
            <a:ext cx="1737360" cy="548640"/>
          </a:xfrm>
          <a:prstGeom prst="rect">
            <a:avLst/>
          </a:prstGeom>
          <a:noFill/>
          <a:ln/>
        </p:spPr>
        <p:txBody>
          <a:bodyPr wrap="square" lIns="0" tIns="0" rIns="0" bIns="0" rtlCol="0" anchor="ctr"/>
          <a:lstStyle/>
          <a:p>
            <a:pPr indent="0" marL="0">
              <a:buNone/>
            </a:pPr>
            <a:r>
              <a:rPr lang="en-US" sz="1100" b="1" dirty="0">
                <a:solidFill>
                  <a:schemeClr val="tx2"/>
                </a:solidFill>
              </a:rPr>
              <a:t>Tour et contreventements</a:t>
            </a:r>
            <a:endParaRPr lang="en-US" sz="1100" dirty="0"/>
          </a:p>
        </p:txBody>
      </p:sp>
      <p:sp>
        <p:nvSpPr>
          <p:cNvPr id="22" name="Text 18"/>
          <p:cNvSpPr txBox="1"/>
          <p:nvPr/>
        </p:nvSpPr>
        <p:spPr>
          <a:xfrm>
            <a:off x="8915400" y="3191256"/>
            <a:ext cx="2651760" cy="548640"/>
          </a:xfrm>
          <a:prstGeom prst="rect">
            <a:avLst/>
          </a:prstGeom>
          <a:noFill/>
          <a:ln/>
        </p:spPr>
        <p:txBody>
          <a:bodyPr wrap="square" lIns="0" tIns="0" rIns="0" bIns="0" rtlCol="0" anchor="ctr"/>
          <a:lstStyle/>
          <a:p>
            <a:pPr indent="0" marL="0">
              <a:buNone/>
            </a:pPr>
            <a:r>
              <a:rPr lang="en-US" sz="1050" dirty="0">
                <a:solidFill>
                  <a:schemeClr val="tx1"/>
                </a:solidFill>
              </a:rPr>
              <a:t>Corrosion, serrage des assemblages, verticalité</a:t>
            </a:r>
            <a:endParaRPr lang="en-US" sz="1050" dirty="0"/>
          </a:p>
        </p:txBody>
      </p:sp>
      <p:sp>
        <p:nvSpPr>
          <p:cNvPr id="23" name="Pièce 3"/>
          <p:cNvSpPr/>
          <p:nvPr/>
        </p:nvSpPr>
        <p:spPr>
          <a:xfrm>
            <a:off x="6629400" y="3803904"/>
            <a:ext cx="5010912" cy="548640"/>
          </a:xfrm>
          <a:prstGeom prst="roundRect">
            <a:avLst>
              <a:gd name="adj" fmla="val 20000"/>
            </a:avLst>
          </a:prstGeom>
          <a:solidFill>
            <a:schemeClr val="bg2"/>
          </a:solidFill>
          <a:ln/>
        </p:spPr>
      </p:sp>
      <p:sp>
        <p:nvSpPr>
          <p:cNvPr id="24" name="Shape 20"/>
          <p:cNvSpPr/>
          <p:nvPr/>
        </p:nvSpPr>
        <p:spPr>
          <a:xfrm>
            <a:off x="6766560" y="3941064"/>
            <a:ext cx="274320" cy="274320"/>
          </a:xfrm>
          <a:prstGeom prst="ellipse">
            <a:avLst/>
          </a:prstGeom>
          <a:solidFill>
            <a:schemeClr val="accent1"/>
          </a:solidFill>
          <a:ln/>
        </p:spPr>
      </p:sp>
      <p:sp>
        <p:nvSpPr>
          <p:cNvPr id="25" name="Text 21"/>
          <p:cNvSpPr txBox="1"/>
          <p:nvPr/>
        </p:nvSpPr>
        <p:spPr>
          <a:xfrm>
            <a:off x="6766560" y="3941064"/>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6" name="Text 22"/>
          <p:cNvSpPr txBox="1"/>
          <p:nvPr/>
        </p:nvSpPr>
        <p:spPr>
          <a:xfrm>
            <a:off x="7178040" y="3803904"/>
            <a:ext cx="1737360" cy="548640"/>
          </a:xfrm>
          <a:prstGeom prst="rect">
            <a:avLst/>
          </a:prstGeom>
          <a:noFill/>
          <a:ln/>
        </p:spPr>
        <p:txBody>
          <a:bodyPr wrap="square" lIns="0" tIns="0" rIns="0" bIns="0" rtlCol="0" anchor="ctr"/>
          <a:lstStyle/>
          <a:p>
            <a:pPr indent="0" marL="0">
              <a:buNone/>
            </a:pPr>
            <a:r>
              <a:rPr lang="en-US" sz="1100" b="1" dirty="0">
                <a:solidFill>
                  <a:schemeClr val="tx2"/>
                </a:solidFill>
              </a:rPr>
              <a:t>Fondation</a:t>
            </a:r>
            <a:endParaRPr lang="en-US" sz="1100" dirty="0"/>
          </a:p>
        </p:txBody>
      </p:sp>
      <p:sp>
        <p:nvSpPr>
          <p:cNvPr id="27" name="Text 23"/>
          <p:cNvSpPr txBox="1"/>
          <p:nvPr/>
        </p:nvSpPr>
        <p:spPr>
          <a:xfrm>
            <a:off x="8915400" y="3803904"/>
            <a:ext cx="2651760" cy="548640"/>
          </a:xfrm>
          <a:prstGeom prst="rect">
            <a:avLst/>
          </a:prstGeom>
          <a:noFill/>
          <a:ln/>
        </p:spPr>
        <p:txBody>
          <a:bodyPr wrap="square" lIns="0" tIns="0" rIns="0" bIns="0" rtlCol="0" anchor="ctr"/>
          <a:lstStyle/>
          <a:p>
            <a:pPr indent="0" marL="0">
              <a:buNone/>
            </a:pPr>
            <a:r>
              <a:rPr lang="en-US" sz="1050" dirty="0">
                <a:solidFill>
                  <a:schemeClr val="tx1"/>
                </a:solidFill>
              </a:rPr>
              <a:t>Fissures, tassement, date de réception</a:t>
            </a:r>
            <a:endParaRPr lang="en-US" sz="1050" dirty="0"/>
          </a:p>
        </p:txBody>
      </p:sp>
      <p:sp>
        <p:nvSpPr>
          <p:cNvPr id="28" name="Pièce 4"/>
          <p:cNvSpPr/>
          <p:nvPr/>
        </p:nvSpPr>
        <p:spPr>
          <a:xfrm>
            <a:off x="6629400" y="4416552"/>
            <a:ext cx="5010912" cy="548640"/>
          </a:xfrm>
          <a:prstGeom prst="roundRect">
            <a:avLst>
              <a:gd name="adj" fmla="val 20000"/>
            </a:avLst>
          </a:prstGeom>
          <a:solidFill>
            <a:schemeClr val="bg2"/>
          </a:solidFill>
          <a:ln/>
        </p:spPr>
      </p:sp>
      <p:sp>
        <p:nvSpPr>
          <p:cNvPr id="29" name="Shape 25"/>
          <p:cNvSpPr/>
          <p:nvPr/>
        </p:nvSpPr>
        <p:spPr>
          <a:xfrm>
            <a:off x="6766560" y="4553712"/>
            <a:ext cx="274320" cy="274320"/>
          </a:xfrm>
          <a:prstGeom prst="ellipse">
            <a:avLst/>
          </a:prstGeom>
          <a:solidFill>
            <a:schemeClr val="accent1"/>
          </a:solidFill>
          <a:ln/>
        </p:spPr>
      </p:sp>
      <p:sp>
        <p:nvSpPr>
          <p:cNvPr id="30" name="Text 26"/>
          <p:cNvSpPr txBox="1"/>
          <p:nvPr/>
        </p:nvSpPr>
        <p:spPr>
          <a:xfrm>
            <a:off x="6766560" y="4553712"/>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31" name="Text 27"/>
          <p:cNvSpPr txBox="1"/>
          <p:nvPr/>
        </p:nvSpPr>
        <p:spPr>
          <a:xfrm>
            <a:off x="7178040" y="4416552"/>
            <a:ext cx="1737360" cy="548640"/>
          </a:xfrm>
          <a:prstGeom prst="rect">
            <a:avLst/>
          </a:prstGeom>
          <a:noFill/>
          <a:ln/>
        </p:spPr>
        <p:txBody>
          <a:bodyPr wrap="square" lIns="0" tIns="0" rIns="0" bIns="0" rtlCol="0" anchor="ctr"/>
          <a:lstStyle/>
          <a:p>
            <a:pPr indent="0" marL="0">
              <a:buNone/>
            </a:pPr>
            <a:r>
              <a:rPr lang="en-US" sz="1100" b="1" dirty="0">
                <a:solidFill>
                  <a:schemeClr val="tx2"/>
                </a:solidFill>
              </a:rPr>
              <a:t>Échelle et conduite</a:t>
            </a:r>
            <a:endParaRPr lang="en-US" sz="1100" dirty="0"/>
          </a:p>
        </p:txBody>
      </p:sp>
      <p:sp>
        <p:nvSpPr>
          <p:cNvPr id="32" name="Text 28"/>
          <p:cNvSpPr txBox="1"/>
          <p:nvPr/>
        </p:nvSpPr>
        <p:spPr>
          <a:xfrm>
            <a:off x="8915400" y="4416552"/>
            <a:ext cx="2651760" cy="548640"/>
          </a:xfrm>
          <a:prstGeom prst="rect">
            <a:avLst/>
          </a:prstGeom>
          <a:noFill/>
          <a:ln/>
        </p:spPr>
        <p:txBody>
          <a:bodyPr wrap="square" lIns="0" tIns="0" rIns="0" bIns="0" rtlCol="0" anchor="ctr"/>
          <a:lstStyle/>
          <a:p>
            <a:pPr indent="0" marL="0">
              <a:buNone/>
            </a:pPr>
            <a:r>
              <a:rPr lang="en-US" sz="1050" dirty="0">
                <a:solidFill>
                  <a:schemeClr val="tx1"/>
                </a:solidFill>
              </a:rPr>
              <a:t>Sécurité, fuites, vannes, clapets</a:t>
            </a:r>
            <a:endParaRPr lang="en-US" sz="1050" dirty="0"/>
          </a:p>
        </p:txBody>
      </p:sp>
      <p:sp>
        <p:nvSpPr>
          <p:cNvPr id="33" name="Pièce 5"/>
          <p:cNvSpPr/>
          <p:nvPr/>
        </p:nvSpPr>
        <p:spPr>
          <a:xfrm>
            <a:off x="6629400" y="5029200"/>
            <a:ext cx="5010912" cy="548640"/>
          </a:xfrm>
          <a:prstGeom prst="roundRect">
            <a:avLst>
              <a:gd name="adj" fmla="val 20000"/>
            </a:avLst>
          </a:prstGeom>
          <a:solidFill>
            <a:schemeClr val="bg2"/>
          </a:solidFill>
          <a:ln/>
        </p:spPr>
      </p:sp>
      <p:sp>
        <p:nvSpPr>
          <p:cNvPr id="34" name="Shape 30"/>
          <p:cNvSpPr/>
          <p:nvPr/>
        </p:nvSpPr>
        <p:spPr>
          <a:xfrm>
            <a:off x="6766560" y="5166360"/>
            <a:ext cx="274320" cy="274320"/>
          </a:xfrm>
          <a:prstGeom prst="ellipse">
            <a:avLst/>
          </a:prstGeom>
          <a:solidFill>
            <a:schemeClr val="accent1"/>
          </a:solidFill>
          <a:ln/>
        </p:spPr>
      </p:sp>
      <p:sp>
        <p:nvSpPr>
          <p:cNvPr id="35" name="Text 31"/>
          <p:cNvSpPr txBox="1"/>
          <p:nvPr/>
        </p:nvSpPr>
        <p:spPr>
          <a:xfrm>
            <a:off x="6766560" y="5166360"/>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36" name="Text 32"/>
          <p:cNvSpPr txBox="1"/>
          <p:nvPr/>
        </p:nvSpPr>
        <p:spPr>
          <a:xfrm>
            <a:off x="7178040" y="5029200"/>
            <a:ext cx="1737360" cy="548640"/>
          </a:xfrm>
          <a:prstGeom prst="rect">
            <a:avLst/>
          </a:prstGeom>
          <a:noFill/>
          <a:ln/>
        </p:spPr>
        <p:txBody>
          <a:bodyPr wrap="square" lIns="0" tIns="0" rIns="0" bIns="0" rtlCol="0" anchor="ctr"/>
          <a:lstStyle/>
          <a:p>
            <a:pPr indent="0" marL="0">
              <a:buNone/>
            </a:pPr>
            <a:r>
              <a:rPr lang="en-US" sz="1100" b="1" dirty="0">
                <a:solidFill>
                  <a:schemeClr val="tx2"/>
                </a:solidFill>
              </a:rPr>
              <a:t>Capteur de niveau</a:t>
            </a:r>
            <a:endParaRPr lang="en-US" sz="1100" dirty="0"/>
          </a:p>
        </p:txBody>
      </p:sp>
      <p:sp>
        <p:nvSpPr>
          <p:cNvPr id="37" name="Text 33"/>
          <p:cNvSpPr txBox="1"/>
          <p:nvPr/>
        </p:nvSpPr>
        <p:spPr>
          <a:xfrm>
            <a:off x="8915400" y="5029200"/>
            <a:ext cx="2651760" cy="548640"/>
          </a:xfrm>
          <a:prstGeom prst="rect">
            <a:avLst/>
          </a:prstGeom>
          <a:noFill/>
          <a:ln/>
        </p:spPr>
        <p:txBody>
          <a:bodyPr wrap="square" lIns="0" tIns="0" rIns="0" bIns="0" rtlCol="0" anchor="ctr"/>
          <a:lstStyle/>
          <a:p>
            <a:pPr indent="0" marL="0">
              <a:buNone/>
            </a:pPr>
            <a:r>
              <a:rPr lang="en-US" sz="1050" dirty="0">
                <a:solidFill>
                  <a:schemeClr val="tx1"/>
                </a:solidFill>
              </a:rPr>
              <a:t>Étalonnage, batterie, liaison radio</a:t>
            </a:r>
            <a:endParaRPr lang="en-US" sz="1050" dirty="0"/>
          </a:p>
        </p:txBody>
      </p:sp>
      <p:sp>
        <p:nvSpPr>
          <p:cNvPr id="38" name="Text 34"/>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Conception de l'auteur. Château d'eau type à l'échelle, non un relevé de site. Fréquences d'inspection à fixer avec le service technique.</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LE FORAGE ÉQUIPÉ</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Le forage : une chaîne de pièces dont une seule panne arrête l'eau</a:t>
            </a:r>
            <a:endParaRPr lang="en-US" sz="2800" dirty="0"/>
          </a:p>
        </p:txBody>
      </p:sp>
      <p:sp>
        <p:nvSpPr>
          <p:cNvPr id="5" name="Shape 2"/>
          <p:cNvSpPr/>
          <p:nvPr/>
        </p:nvSpPr>
        <p:spPr>
          <a:xfrm>
            <a:off x="548640" y="1965960"/>
            <a:ext cx="5852160" cy="3657600"/>
          </a:xfrm>
          <a:prstGeom prst="roundRect">
            <a:avLst>
              <a:gd name="adj" fmla="val 3000"/>
            </a:avLst>
          </a:prstGeom>
          <a:solidFill>
            <a:srgbClr val="E8E6E5"/>
          </a:solidFill>
          <a:ln/>
        </p:spPr>
      </p:sp>
      <p:pic>
        <p:nvPicPr>
          <p:cNvPr id="6" name="Image 0" descr="Vue éclatée 3D d'un forage solaire">    </p:cNvPr>
          <p:cNvPicPr>
            <a:picLocks noChangeAspect="1"/>
          </p:cNvPicPr>
          <p:nvPr/>
        </p:nvPicPr>
        <p:blipFill>
          <a:blip r:embed="rId1"/>
          <a:srcRect l="0" r="0" t="0" b="0"/>
          <a:stretch/>
        </p:blipFill>
        <p:spPr>
          <a:xfrm>
            <a:off x="548640" y="1965960"/>
            <a:ext cx="5852160" cy="3657600"/>
          </a:xfrm>
          <a:prstGeom prst="rect">
            <a:avLst/>
          </a:prstGeom>
        </p:spPr>
      </p:pic>
      <p:sp>
        <p:nvSpPr>
          <p:cNvPr id="7" name="Text 3"/>
          <p:cNvSpPr txBox="1"/>
          <p:nvPr/>
        </p:nvSpPr>
        <p:spPr>
          <a:xfrm>
            <a:off x="548640" y="5669280"/>
            <a:ext cx="5852160" cy="237744"/>
          </a:xfrm>
          <a:prstGeom prst="rect">
            <a:avLst/>
          </a:prstGeom>
          <a:noFill/>
          <a:ln/>
        </p:spPr>
        <p:txBody>
          <a:bodyPr wrap="square" lIns="0" tIns="0" rIns="0" bIns="0" rtlCol="0" anchor="ctr"/>
          <a:lstStyle/>
          <a:p>
            <a:pPr indent="0" marL="0">
              <a:buNone/>
            </a:pPr>
            <a:r>
              <a:rPr lang="en-US" sz="1000" i="1" dirty="0">
                <a:solidFill>
                  <a:schemeClr val="accent5"/>
                </a:solidFill>
              </a:rPr>
              <a:t>Vue éclatée : pièces espacées pour la lecture, non à l'échelle.</a:t>
            </a:r>
            <a:endParaRPr lang="en-US" sz="1000" dirty="0"/>
          </a:p>
        </p:txBody>
      </p:sp>
      <p:sp>
        <p:nvSpPr>
          <p:cNvPr id="8" name="Text 4"/>
          <p:cNvSpPr txBox="1"/>
          <p:nvPr/>
        </p:nvSpPr>
        <p:spPr>
          <a:xfrm>
            <a:off x="6629400" y="1965960"/>
            <a:ext cx="493776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UNE PANNE, DES CAUSES POSSIBLES</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629400" y="2286000"/>
          <a:ext cx="5010912" cy="914400"/>
        </p:xfrm>
        <a:graphic>
          <a:graphicData uri="http://schemas.openxmlformats.org/drawingml/2006/table">
            <a:tbl>
              <a:tblPr/>
              <a:tblGrid>
                <a:gridCol w="1554480"/>
                <a:gridCol w="3456432"/>
              </a:tblGrid>
              <a:tr h="347472">
                <a:tc>
                  <a:txBody>
                    <a:bodyPr/>
                    <a:lstStyle/>
                    <a:p>
                      <a:pPr indent="0" marL="0">
                        <a:buNone/>
                      </a:pPr>
                      <a:r>
                        <a:rPr lang="en-US" sz="1100" b="1" dirty="0">
                          <a:solidFill>
                            <a:schemeClr val="bg1"/>
                          </a:solidFill>
                        </a:rPr>
                        <a:t>Symptôme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Pièces à vérifier d'abord</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566928">
                <a:tc>
                  <a:txBody>
                    <a:bodyPr/>
                    <a:lstStyle/>
                    <a:p>
                      <a:pPr indent="0" marL="0">
                        <a:buNone/>
                      </a:pPr>
                      <a:r>
                        <a:rPr lang="en-US" sz="1100" b="1" dirty="0">
                          <a:solidFill>
                            <a:schemeClr val="tx2"/>
                          </a:solidFill>
                        </a:rPr>
                        <a:t>Plus d'eau</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Contrôleur, pompe, alimentation solaire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66928">
                <a:tc>
                  <a:txBody>
                    <a:bodyPr/>
                    <a:lstStyle/>
                    <a:p>
                      <a:pPr indent="0" marL="0">
                        <a:buNone/>
                      </a:pPr>
                      <a:r>
                        <a:rPr lang="en-US" sz="1100" b="1" dirty="0">
                          <a:solidFill>
                            <a:schemeClr val="tx2"/>
                          </a:solidFill>
                        </a:rPr>
                        <a:t>Débit faible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Pompe usée, colonne, niveau de la nappe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566928">
                <a:tc>
                  <a:txBody>
                    <a:bodyPr/>
                    <a:lstStyle/>
                    <a:p>
                      <a:pPr indent="0" marL="0">
                        <a:buNone/>
                      </a:pPr>
                      <a:r>
                        <a:rPr lang="en-US" sz="1100" b="1" dirty="0">
                          <a:solidFill>
                            <a:schemeClr val="tx2"/>
                          </a:solidFill>
                        </a:rPr>
                        <a:t>Pompe qui s'arrête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Protection niveau bas, câble, contrôleur</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66928">
                <a:tc>
                  <a:txBody>
                    <a:bodyPr/>
                    <a:lstStyle/>
                    <a:p>
                      <a:pPr indent="0" marL="0">
                        <a:buNone/>
                      </a:pPr>
                      <a:r>
                        <a:rPr lang="en-US" sz="1100" b="1" dirty="0">
                          <a:solidFill>
                            <a:schemeClr val="tx2"/>
                          </a:solidFill>
                        </a:rPr>
                        <a:t>Production solaire en baisse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Encrassement, ombrage, connexions</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bl>
          </a:graphicData>
        </a:graphic>
      </p:graphicFrame>
      <p:sp>
        <p:nvSpPr>
          <p:cNvPr id="10" name="Text 5"/>
          <p:cNvSpPr txBox="1"/>
          <p:nvPr/>
        </p:nvSpPr>
        <p:spPr>
          <a:xfrm>
            <a:off x="6629400" y="5074920"/>
            <a:ext cx="5010912" cy="548640"/>
          </a:xfrm>
          <a:prstGeom prst="rect">
            <a:avLst/>
          </a:prstGeom>
          <a:noFill/>
          <a:ln/>
        </p:spPr>
        <p:txBody>
          <a:bodyPr wrap="square" lIns="0" tIns="0" rIns="0" bIns="0" rtlCol="0" anchor="t"/>
          <a:lstStyle/>
          <a:p>
            <a:pPr indent="0" marL="0">
              <a:buNone/>
            </a:pPr>
            <a:r>
              <a:rPr lang="en-US" sz="1200" b="1" dirty="0">
                <a:solidFill>
                  <a:schemeClr val="tx2"/>
                </a:solidFill>
              </a:rPr>
              <a:t>Le technicien ouvre la fiche : l'historique des pièces réduit le diagnostic.</a:t>
            </a:r>
            <a:endParaRPr lang="en-US" sz="1200" dirty="0"/>
          </a:p>
        </p:txBody>
      </p:sp>
      <p:sp>
        <p:nvSpPr>
          <p:cNvPr id="11" name="Text 6"/>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21. Symptômes et causes : conception de l'auteur, à valider avec les hydrauliciens.</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LE LAMPADAIRE SOLAIRE</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Le lampadaire : six pièces, six pannes possibles, un signal pour chacune</a:t>
            </a:r>
            <a:endParaRPr lang="en-US" sz="2800" dirty="0"/>
          </a:p>
        </p:txBody>
      </p:sp>
      <p:sp>
        <p:nvSpPr>
          <p:cNvPr id="5" name="Shape 2"/>
          <p:cNvSpPr/>
          <p:nvPr/>
        </p:nvSpPr>
        <p:spPr>
          <a:xfrm>
            <a:off x="548640" y="1965960"/>
            <a:ext cx="4114800" cy="4023360"/>
          </a:xfrm>
          <a:prstGeom prst="roundRect">
            <a:avLst>
              <a:gd name="adj" fmla="val 2727"/>
            </a:avLst>
          </a:prstGeom>
          <a:solidFill>
            <a:srgbClr val="E8E6E5"/>
          </a:solidFill>
          <a:ln/>
        </p:spPr>
      </p:sp>
      <p:pic>
        <p:nvPicPr>
          <p:cNvPr id="6" name="Image 0" descr="/home/claude/work/assets/r_lampX_c.png">    </p:cNvPr>
          <p:cNvPicPr>
            <a:picLocks noChangeAspect="1"/>
          </p:cNvPicPr>
          <p:nvPr/>
        </p:nvPicPr>
        <p:blipFill>
          <a:blip r:embed="rId1"/>
          <a:stretch>
            <a:fillRect/>
          </a:stretch>
        </p:blipFill>
        <p:spPr>
          <a:xfrm>
            <a:off x="548640" y="1965960"/>
            <a:ext cx="4114800" cy="4023360"/>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892040" y="1965960"/>
          <a:ext cx="6748272" cy="914400"/>
        </p:xfrm>
        <a:graphic>
          <a:graphicData uri="http://schemas.openxmlformats.org/drawingml/2006/table">
            <a:tbl>
              <a:tblPr/>
              <a:tblGrid>
                <a:gridCol w="1737360"/>
                <a:gridCol w="2560320"/>
                <a:gridCol w="2450592"/>
              </a:tblGrid>
              <a:tr h="347472">
                <a:tc>
                  <a:txBody>
                    <a:bodyPr/>
                    <a:lstStyle/>
                    <a:p>
                      <a:pPr indent="0" marL="0">
                        <a:buNone/>
                      </a:pPr>
                      <a:r>
                        <a:rPr lang="en-US" sz="1100" b="1" dirty="0">
                          <a:solidFill>
                            <a:schemeClr val="bg1"/>
                          </a:solidFill>
                        </a:rPr>
                        <a:t>Pièce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Panne typique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Signal</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566928">
                <a:tc>
                  <a:txBody>
                    <a:bodyPr/>
                    <a:lstStyle/>
                    <a:p>
                      <a:pPr indent="0" marL="0">
                        <a:buNone/>
                      </a:pPr>
                      <a:r>
                        <a:rPr lang="en-US" sz="1100" b="1" dirty="0">
                          <a:solidFill>
                            <a:schemeClr val="tx2"/>
                          </a:solidFill>
                        </a:rPr>
                        <a:t>Panneau solaire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Encrassement, ombrage, casse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Production en baisse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66928">
                <a:tc>
                  <a:txBody>
                    <a:bodyPr/>
                    <a:lstStyle/>
                    <a:p>
                      <a:pPr indent="0" marL="0">
                        <a:buNone/>
                      </a:pPr>
                      <a:r>
                        <a:rPr lang="en-US" sz="1100" b="1" dirty="0">
                          <a:solidFill>
                            <a:schemeClr val="tx2"/>
                          </a:solidFill>
                        </a:rPr>
                        <a:t>Luminaire LED</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Module hors service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Éteint la nuit</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566928">
                <a:tc>
                  <a:txBody>
                    <a:bodyPr/>
                    <a:lstStyle/>
                    <a:p>
                      <a:pPr indent="0" marL="0">
                        <a:buNone/>
                      </a:pPr>
                      <a:r>
                        <a:rPr lang="en-US" sz="1100" b="1" dirty="0">
                          <a:solidFill>
                            <a:schemeClr val="tx2"/>
                          </a:solidFill>
                        </a:rPr>
                        <a:t>Batterie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Fin de vie, décharge profonde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Autonomie réduite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66928">
                <a:tc>
                  <a:txBody>
                    <a:bodyPr/>
                    <a:lstStyle/>
                    <a:p>
                      <a:pPr indent="0" marL="0">
                        <a:buNone/>
                      </a:pPr>
                      <a:r>
                        <a:rPr lang="en-US" sz="1100" b="1" dirty="0">
                          <a:solidFill>
                            <a:schemeClr val="tx2"/>
                          </a:solidFill>
                        </a:rPr>
                        <a:t>Mât et crosse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Corrosion, choc, inclinaison</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Contrôle visuel</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566928">
                <a:tc>
                  <a:txBody>
                    <a:bodyPr/>
                    <a:lstStyle/>
                    <a:p>
                      <a:pPr indent="0" marL="0">
                        <a:buNone/>
                      </a:pPr>
                      <a:r>
                        <a:rPr lang="en-US" sz="1100" b="1" dirty="0">
                          <a:solidFill>
                            <a:schemeClr val="tx2"/>
                          </a:solidFill>
                        </a:rPr>
                        <a:t>Fondation</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Descellement</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Mât penché</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66928">
                <a:tc>
                  <a:txBody>
                    <a:bodyPr/>
                    <a:lstStyle/>
                    <a:p>
                      <a:pPr indent="0" marL="0">
                        <a:buNone/>
                      </a:pPr>
                      <a:r>
                        <a:rPr lang="en-US" sz="1100" b="1" dirty="0">
                          <a:solidFill>
                            <a:schemeClr val="tx2"/>
                          </a:solidFill>
                        </a:rPr>
                        <a:t>Plaque QR</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Arrachée, illisible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Numéro gravé secondaire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bl>
          </a:graphicData>
        </a:graphic>
      </p:graphicFrame>
      <p:sp>
        <p:nvSpPr>
          <p:cNvPr id="8" name="Text 3"/>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23 et 32. Pièces et pannes : conception de l'auteur. Lampadaire type à l'échelle.</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L'IDENTITÉ D'UN OUVRAGE</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Une plaque QR et une fiche d'identité pour chaque ouvrage</a:t>
            </a:r>
            <a:endParaRPr lang="en-US" sz="2800" dirty="0"/>
          </a:p>
        </p:txBody>
      </p:sp>
      <p:sp>
        <p:nvSpPr>
          <p:cNvPr id="5" name="Shape 2"/>
          <p:cNvSpPr/>
          <p:nvPr/>
        </p:nvSpPr>
        <p:spPr>
          <a:xfrm>
            <a:off x="548640" y="1965960"/>
            <a:ext cx="3200400" cy="4023360"/>
          </a:xfrm>
          <a:prstGeom prst="roundRect">
            <a:avLst>
              <a:gd name="adj" fmla="val 3429"/>
            </a:avLst>
          </a:prstGeom>
          <a:solidFill>
            <a:srgbClr val="E8E6E5"/>
          </a:solidFill>
          <a:ln/>
        </p:spPr>
      </p:sp>
      <p:pic>
        <p:nvPicPr>
          <p:cNvPr id="6" name="Image 0" descr="/home/claude/work/assets/r_qrClose_c.png">    </p:cNvPr>
          <p:cNvPicPr>
            <a:picLocks noChangeAspect="1"/>
          </p:cNvPicPr>
          <p:nvPr/>
        </p:nvPicPr>
        <p:blipFill>
          <a:blip r:embed="rId1"/>
          <a:stretch>
            <a:fillRect/>
          </a:stretch>
        </p:blipFill>
        <p:spPr>
          <a:xfrm>
            <a:off x="548640" y="1965960"/>
            <a:ext cx="3200400" cy="4023360"/>
          </a:xfrm>
          <a:prstGeom prst="rect">
            <a:avLst/>
          </a:prstGeom>
        </p:spPr>
      </p:pic>
      <p:sp>
        <p:nvSpPr>
          <p:cNvPr id="7" name="Fiche"/>
          <p:cNvSpPr/>
          <p:nvPr/>
        </p:nvSpPr>
        <p:spPr>
          <a:xfrm>
            <a:off x="3977640" y="1965960"/>
            <a:ext cx="3840480" cy="4023360"/>
          </a:xfrm>
          <a:prstGeom prst="roundRect">
            <a:avLst>
              <a:gd name="adj" fmla="val 2857"/>
            </a:avLst>
          </a:prstGeom>
          <a:solidFill>
            <a:schemeClr val="bg2"/>
          </a:solidFill>
          <a:ln/>
        </p:spPr>
      </p:sp>
      <p:sp>
        <p:nvSpPr>
          <p:cNvPr id="8" name="Text 4"/>
          <p:cNvSpPr txBox="1"/>
          <p:nvPr/>
        </p:nvSpPr>
        <p:spPr>
          <a:xfrm>
            <a:off x="4206240" y="2103120"/>
            <a:ext cx="338328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LA FICHE D'IDENTITÉ</a:t>
            </a:r>
            <a:endParaRPr lang="en-US" sz="1100" dirty="0"/>
          </a:p>
        </p:txBody>
      </p:sp>
      <p:sp>
        <p:nvSpPr>
          <p:cNvPr id="9" name="Shape 5"/>
          <p:cNvSpPr/>
          <p:nvPr/>
        </p:nvSpPr>
        <p:spPr>
          <a:xfrm>
            <a:off x="4206240" y="2532888"/>
            <a:ext cx="128016" cy="128016"/>
          </a:xfrm>
          <a:prstGeom prst="ellipse">
            <a:avLst/>
          </a:prstGeom>
          <a:solidFill>
            <a:schemeClr val="accent2"/>
          </a:solidFill>
          <a:ln/>
        </p:spPr>
      </p:sp>
      <p:sp>
        <p:nvSpPr>
          <p:cNvPr id="10" name="Text 6"/>
          <p:cNvSpPr txBox="1"/>
          <p:nvPr/>
        </p:nvSpPr>
        <p:spPr>
          <a:xfrm>
            <a:off x="4462272" y="2468880"/>
            <a:ext cx="3218688" cy="512064"/>
          </a:xfrm>
          <a:prstGeom prst="rect">
            <a:avLst/>
          </a:prstGeom>
          <a:noFill/>
          <a:ln/>
        </p:spPr>
        <p:txBody>
          <a:bodyPr wrap="square" lIns="0" tIns="0" rIns="0" bIns="0" rtlCol="0" anchor="t"/>
          <a:lstStyle/>
          <a:p>
            <a:pPr indent="0" marL="0">
              <a:buNone/>
            </a:pPr>
            <a:r>
              <a:rPr lang="en-US" sz="1150" dirty="0">
                <a:solidFill>
                  <a:schemeClr val="tx1"/>
                </a:solidFill>
              </a:rPr>
              <a:t>Identifiant unique et type d'ouvrage</a:t>
            </a:r>
            <a:endParaRPr lang="en-US" sz="1150" dirty="0"/>
          </a:p>
        </p:txBody>
      </p:sp>
      <p:sp>
        <p:nvSpPr>
          <p:cNvPr id="11" name="Shape 7"/>
          <p:cNvSpPr/>
          <p:nvPr/>
        </p:nvSpPr>
        <p:spPr>
          <a:xfrm>
            <a:off x="4206240" y="3081528"/>
            <a:ext cx="128016" cy="128016"/>
          </a:xfrm>
          <a:prstGeom prst="ellipse">
            <a:avLst/>
          </a:prstGeom>
          <a:solidFill>
            <a:schemeClr val="accent2"/>
          </a:solidFill>
          <a:ln/>
        </p:spPr>
      </p:sp>
      <p:sp>
        <p:nvSpPr>
          <p:cNvPr id="12" name="Text 8"/>
          <p:cNvSpPr txBox="1"/>
          <p:nvPr/>
        </p:nvSpPr>
        <p:spPr>
          <a:xfrm>
            <a:off x="4462272" y="3017520"/>
            <a:ext cx="3218688" cy="512064"/>
          </a:xfrm>
          <a:prstGeom prst="rect">
            <a:avLst/>
          </a:prstGeom>
          <a:noFill/>
          <a:ln/>
        </p:spPr>
        <p:txBody>
          <a:bodyPr wrap="square" lIns="0" tIns="0" rIns="0" bIns="0" rtlCol="0" anchor="t"/>
          <a:lstStyle/>
          <a:p>
            <a:pPr indent="0" marL="0">
              <a:buNone/>
            </a:pPr>
            <a:r>
              <a:rPr lang="en-US" sz="1150" dirty="0">
                <a:solidFill>
                  <a:schemeClr val="tx1"/>
                </a:solidFill>
              </a:rPr>
              <a:t>Position GPS, commune, arrondissement</a:t>
            </a:r>
            <a:endParaRPr lang="en-US" sz="1150" dirty="0"/>
          </a:p>
        </p:txBody>
      </p:sp>
      <p:sp>
        <p:nvSpPr>
          <p:cNvPr id="13" name="Shape 9"/>
          <p:cNvSpPr/>
          <p:nvPr/>
        </p:nvSpPr>
        <p:spPr>
          <a:xfrm>
            <a:off x="4206240" y="3630168"/>
            <a:ext cx="128016" cy="128016"/>
          </a:xfrm>
          <a:prstGeom prst="ellipse">
            <a:avLst/>
          </a:prstGeom>
          <a:solidFill>
            <a:schemeClr val="accent2"/>
          </a:solidFill>
          <a:ln/>
        </p:spPr>
      </p:sp>
      <p:sp>
        <p:nvSpPr>
          <p:cNvPr id="14" name="Text 10"/>
          <p:cNvSpPr txBox="1"/>
          <p:nvPr/>
        </p:nvSpPr>
        <p:spPr>
          <a:xfrm>
            <a:off x="4462272" y="3566160"/>
            <a:ext cx="3218688" cy="512064"/>
          </a:xfrm>
          <a:prstGeom prst="rect">
            <a:avLst/>
          </a:prstGeom>
          <a:noFill/>
          <a:ln/>
        </p:spPr>
        <p:txBody>
          <a:bodyPr wrap="square" lIns="0" tIns="0" rIns="0" bIns="0" rtlCol="0" anchor="t"/>
          <a:lstStyle/>
          <a:p>
            <a:pPr indent="0" marL="0">
              <a:buNone/>
            </a:pPr>
            <a:r>
              <a:rPr lang="en-US" sz="1150" dirty="0">
                <a:solidFill>
                  <a:schemeClr val="tx1"/>
                </a:solidFill>
              </a:rPr>
              <a:t>Date de mise en service, maître d'ouvrage</a:t>
            </a:r>
            <a:endParaRPr lang="en-US" sz="1150" dirty="0"/>
          </a:p>
        </p:txBody>
      </p:sp>
      <p:sp>
        <p:nvSpPr>
          <p:cNvPr id="15" name="Shape 11"/>
          <p:cNvSpPr/>
          <p:nvPr/>
        </p:nvSpPr>
        <p:spPr>
          <a:xfrm>
            <a:off x="4206240" y="4178808"/>
            <a:ext cx="128016" cy="128016"/>
          </a:xfrm>
          <a:prstGeom prst="ellipse">
            <a:avLst/>
          </a:prstGeom>
          <a:solidFill>
            <a:schemeClr val="accent2"/>
          </a:solidFill>
          <a:ln/>
        </p:spPr>
      </p:sp>
      <p:sp>
        <p:nvSpPr>
          <p:cNvPr id="16" name="Text 12"/>
          <p:cNvSpPr txBox="1"/>
          <p:nvPr/>
        </p:nvSpPr>
        <p:spPr>
          <a:xfrm>
            <a:off x="4462272" y="4114800"/>
            <a:ext cx="3218688" cy="512064"/>
          </a:xfrm>
          <a:prstGeom prst="rect">
            <a:avLst/>
          </a:prstGeom>
          <a:noFill/>
          <a:ln/>
        </p:spPr>
        <p:txBody>
          <a:bodyPr wrap="square" lIns="0" tIns="0" rIns="0" bIns="0" rtlCol="0" anchor="t"/>
          <a:lstStyle/>
          <a:p>
            <a:pPr indent="0" marL="0">
              <a:buNone/>
            </a:pPr>
            <a:r>
              <a:rPr lang="en-US" sz="1150" dirty="0">
                <a:solidFill>
                  <a:schemeClr val="tx1"/>
                </a:solidFill>
              </a:rPr>
              <a:t>Entreprise, garantie, documents de réception</a:t>
            </a:r>
            <a:endParaRPr lang="en-US" sz="1150" dirty="0"/>
          </a:p>
        </p:txBody>
      </p:sp>
      <p:sp>
        <p:nvSpPr>
          <p:cNvPr id="17" name="Shape 13"/>
          <p:cNvSpPr/>
          <p:nvPr/>
        </p:nvSpPr>
        <p:spPr>
          <a:xfrm>
            <a:off x="4206240" y="4727448"/>
            <a:ext cx="128016" cy="128016"/>
          </a:xfrm>
          <a:prstGeom prst="ellipse">
            <a:avLst/>
          </a:prstGeom>
          <a:solidFill>
            <a:schemeClr val="accent2"/>
          </a:solidFill>
          <a:ln/>
        </p:spPr>
      </p:sp>
      <p:sp>
        <p:nvSpPr>
          <p:cNvPr id="18" name="Text 14"/>
          <p:cNvSpPr txBox="1"/>
          <p:nvPr/>
        </p:nvSpPr>
        <p:spPr>
          <a:xfrm>
            <a:off x="4462272" y="4663440"/>
            <a:ext cx="3218688" cy="512064"/>
          </a:xfrm>
          <a:prstGeom prst="rect">
            <a:avLst/>
          </a:prstGeom>
          <a:noFill/>
          <a:ln/>
        </p:spPr>
        <p:txBody>
          <a:bodyPr wrap="square" lIns="0" tIns="0" rIns="0" bIns="0" rtlCol="0" anchor="t"/>
          <a:lstStyle/>
          <a:p>
            <a:pPr indent="0" marL="0">
              <a:buNone/>
            </a:pPr>
            <a:r>
              <a:rPr lang="en-US" sz="1150" dirty="0">
                <a:solidFill>
                  <a:schemeClr val="tx1"/>
                </a:solidFill>
              </a:rPr>
              <a:t>Composants et leur âge</a:t>
            </a:r>
            <a:endParaRPr lang="en-US" sz="1150" dirty="0"/>
          </a:p>
        </p:txBody>
      </p:sp>
      <p:sp>
        <p:nvSpPr>
          <p:cNvPr id="19" name="Shape 15"/>
          <p:cNvSpPr/>
          <p:nvPr/>
        </p:nvSpPr>
        <p:spPr>
          <a:xfrm>
            <a:off x="4206240" y="5276088"/>
            <a:ext cx="128016" cy="128016"/>
          </a:xfrm>
          <a:prstGeom prst="ellipse">
            <a:avLst/>
          </a:prstGeom>
          <a:solidFill>
            <a:schemeClr val="accent2"/>
          </a:solidFill>
          <a:ln/>
        </p:spPr>
      </p:sp>
      <p:sp>
        <p:nvSpPr>
          <p:cNvPr id="20" name="Text 16"/>
          <p:cNvSpPr txBox="1"/>
          <p:nvPr/>
        </p:nvSpPr>
        <p:spPr>
          <a:xfrm>
            <a:off x="4462272" y="5212080"/>
            <a:ext cx="3218688" cy="512064"/>
          </a:xfrm>
          <a:prstGeom prst="rect">
            <a:avLst/>
          </a:prstGeom>
          <a:noFill/>
          <a:ln/>
        </p:spPr>
        <p:txBody>
          <a:bodyPr wrap="square" lIns="0" tIns="0" rIns="0" bIns="0" rtlCol="0" anchor="t"/>
          <a:lstStyle/>
          <a:p>
            <a:pPr indent="0" marL="0">
              <a:buNone/>
            </a:pPr>
            <a:r>
              <a:rPr lang="en-US" sz="1150" dirty="0">
                <a:solidFill>
                  <a:schemeClr val="tx1"/>
                </a:solidFill>
              </a:rPr>
              <a:t>Responsable d'entretien, état actuel</a:t>
            </a:r>
            <a:endParaRPr lang="en-US" sz="1150" dirty="0"/>
          </a:p>
        </p:txBody>
      </p:sp>
      <p:sp>
        <p:nvSpPr>
          <p:cNvPr id="21" name="Scan"/>
          <p:cNvSpPr/>
          <p:nvPr/>
        </p:nvSpPr>
        <p:spPr>
          <a:xfrm>
            <a:off x="8001000" y="1965960"/>
            <a:ext cx="3639312" cy="4023360"/>
          </a:xfrm>
          <a:prstGeom prst="roundRect">
            <a:avLst>
              <a:gd name="adj" fmla="val 3015"/>
            </a:avLst>
          </a:prstGeom>
          <a:solidFill>
            <a:schemeClr val="tx2"/>
          </a:solidFill>
          <a:ln/>
        </p:spPr>
      </p:sp>
      <p:sp>
        <p:nvSpPr>
          <p:cNvPr id="22" name="Text 18"/>
          <p:cNvSpPr txBox="1"/>
          <p:nvPr/>
        </p:nvSpPr>
        <p:spPr>
          <a:xfrm>
            <a:off x="8229600" y="2103120"/>
            <a:ext cx="3200400" cy="256032"/>
          </a:xfrm>
          <a:prstGeom prst="rect">
            <a:avLst/>
          </a:prstGeom>
          <a:noFill/>
          <a:ln/>
        </p:spPr>
        <p:txBody>
          <a:bodyPr wrap="square" lIns="0" tIns="0" rIns="0" bIns="0" rtlCol="0" anchor="ctr"/>
          <a:lstStyle/>
          <a:p>
            <a:pPr indent="0" marL="0">
              <a:buNone/>
            </a:pPr>
            <a:r>
              <a:rPr lang="en-US" sz="1100" b="1" spc="200" kern="0" dirty="0">
                <a:solidFill>
                  <a:schemeClr val="accent2"/>
                </a:solidFill>
              </a:rPr>
              <a:t>CE QUE FAIT UN SCAN</a:t>
            </a:r>
            <a:endParaRPr lang="en-US" sz="1100" dirty="0"/>
          </a:p>
        </p:txBody>
      </p:sp>
      <p:sp>
        <p:nvSpPr>
          <p:cNvPr id="23" name="Text 19"/>
          <p:cNvSpPr txBox="1"/>
          <p:nvPr/>
        </p:nvSpPr>
        <p:spPr>
          <a:xfrm>
            <a:off x="8229600" y="2514600"/>
            <a:ext cx="3200400" cy="228600"/>
          </a:xfrm>
          <a:prstGeom prst="rect">
            <a:avLst/>
          </a:prstGeom>
          <a:noFill/>
          <a:ln/>
        </p:spPr>
        <p:txBody>
          <a:bodyPr wrap="square" lIns="0" tIns="0" rIns="0" bIns="0" rtlCol="0" anchor="ctr"/>
          <a:lstStyle/>
          <a:p>
            <a:pPr indent="0" marL="0">
              <a:buNone/>
            </a:pPr>
            <a:r>
              <a:rPr lang="en-US" sz="1000" b="1" spc="200" kern="0" dirty="0">
                <a:solidFill>
                  <a:schemeClr val="accent3"/>
                </a:solidFill>
              </a:rPr>
              <a:t>HABITANT</a:t>
            </a:r>
            <a:endParaRPr lang="en-US" sz="1000" dirty="0"/>
          </a:p>
        </p:txBody>
      </p:sp>
      <p:sp>
        <p:nvSpPr>
          <p:cNvPr id="24" name="Text 20"/>
          <p:cNvSpPr txBox="1"/>
          <p:nvPr/>
        </p:nvSpPr>
        <p:spPr>
          <a:xfrm>
            <a:off x="8229600" y="2761488"/>
            <a:ext cx="3200400" cy="822960"/>
          </a:xfrm>
          <a:prstGeom prst="rect">
            <a:avLst/>
          </a:prstGeom>
          <a:noFill/>
          <a:ln/>
        </p:spPr>
        <p:txBody>
          <a:bodyPr wrap="square" lIns="0" tIns="0" rIns="0" bIns="0" rtlCol="0" anchor="t"/>
          <a:lstStyle/>
          <a:p>
            <a:pPr indent="0" marL="0">
              <a:buNone/>
            </a:pPr>
            <a:r>
              <a:rPr lang="en-US" sz="1200" dirty="0">
                <a:solidFill>
                  <a:schemeClr val="bg1"/>
                </a:solidFill>
              </a:rPr>
              <a:t>Voir l'ouvrage, signaler un problème en 3 touches, suivre sa réparation.</a:t>
            </a:r>
            <a:endParaRPr lang="en-US" sz="1200" dirty="0"/>
          </a:p>
        </p:txBody>
      </p:sp>
      <p:sp>
        <p:nvSpPr>
          <p:cNvPr id="25" name="Text 21"/>
          <p:cNvSpPr txBox="1"/>
          <p:nvPr/>
        </p:nvSpPr>
        <p:spPr>
          <a:xfrm>
            <a:off x="8229600" y="3749040"/>
            <a:ext cx="3200400" cy="228600"/>
          </a:xfrm>
          <a:prstGeom prst="rect">
            <a:avLst/>
          </a:prstGeom>
          <a:noFill/>
          <a:ln/>
        </p:spPr>
        <p:txBody>
          <a:bodyPr wrap="square" lIns="0" tIns="0" rIns="0" bIns="0" rtlCol="0" anchor="ctr"/>
          <a:lstStyle/>
          <a:p>
            <a:pPr indent="0" marL="0">
              <a:buNone/>
            </a:pPr>
            <a:r>
              <a:rPr lang="en-US" sz="1000" b="1" spc="200" kern="0" dirty="0">
                <a:solidFill>
                  <a:schemeClr val="accent3"/>
                </a:solidFill>
              </a:rPr>
              <a:t>AGENT OU TECHNICIEN</a:t>
            </a:r>
            <a:endParaRPr lang="en-US" sz="1000" dirty="0"/>
          </a:p>
        </p:txBody>
      </p:sp>
      <p:sp>
        <p:nvSpPr>
          <p:cNvPr id="26" name="Text 22"/>
          <p:cNvSpPr txBox="1"/>
          <p:nvPr/>
        </p:nvSpPr>
        <p:spPr>
          <a:xfrm>
            <a:off x="8229600" y="3995928"/>
            <a:ext cx="3200400" cy="1005840"/>
          </a:xfrm>
          <a:prstGeom prst="rect">
            <a:avLst/>
          </a:prstGeom>
          <a:noFill/>
          <a:ln/>
        </p:spPr>
        <p:txBody>
          <a:bodyPr wrap="square" lIns="0" tIns="0" rIns="0" bIns="0" rtlCol="0" anchor="t"/>
          <a:lstStyle/>
          <a:p>
            <a:pPr indent="0" marL="0">
              <a:buNone/>
            </a:pPr>
            <a:r>
              <a:rPr lang="en-US" sz="1200" dirty="0">
                <a:solidFill>
                  <a:schemeClr val="bg1"/>
                </a:solidFill>
              </a:rPr>
              <a:t>Fiche complète, historique, checklist d'entretien, ouvrir ou clore une intervention.</a:t>
            </a:r>
            <a:endParaRPr lang="en-US" sz="1200" dirty="0"/>
          </a:p>
        </p:txBody>
      </p:sp>
      <p:sp>
        <p:nvSpPr>
          <p:cNvPr id="27" name="Text 23"/>
          <p:cNvSpPr txBox="1"/>
          <p:nvPr/>
        </p:nvSpPr>
        <p:spPr>
          <a:xfrm>
            <a:off x="8229600" y="5029200"/>
            <a:ext cx="3200400" cy="822960"/>
          </a:xfrm>
          <a:prstGeom prst="rect">
            <a:avLst/>
          </a:prstGeom>
          <a:noFill/>
          <a:ln/>
        </p:spPr>
        <p:txBody>
          <a:bodyPr wrap="square" lIns="0" tIns="0" rIns="0" bIns="0" rtlCol="0" anchor="t"/>
          <a:lstStyle/>
          <a:p>
            <a:pPr indent="0" marL="0">
              <a:buNone/>
            </a:pPr>
            <a:r>
              <a:rPr lang="en-US" sz="1100" b="1" dirty="0">
                <a:solidFill>
                  <a:schemeClr val="accent2"/>
                </a:solidFill>
              </a:rPr>
              <a:t>Sans réseau : le numéro gravé permet un signalement par SMS ou appel.</a:t>
            </a:r>
            <a:endParaRPr lang="en-US" sz="1100" dirty="0"/>
          </a:p>
        </p:txBody>
      </p:sp>
      <p:sp>
        <p:nvSpPr>
          <p:cNvPr id="28" name="Text 24"/>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Conception de l'auteur. Le QR du modèle est illustratif et ne mène à aucun service réel.</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CAPTEURS</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Des capteurs seulement là où la panne coûte cher</a:t>
            </a:r>
            <a:endParaRPr lang="en-US" sz="2800" dirty="0"/>
          </a:p>
        </p:txBody>
      </p:sp>
      <p:sp>
        <p:nvSpPr>
          <p:cNvPr id="5" name="Shape 2"/>
          <p:cNvSpPr/>
          <p:nvPr/>
        </p:nvSpPr>
        <p:spPr>
          <a:xfrm>
            <a:off x="548640" y="1965960"/>
            <a:ext cx="4754880" cy="2971800"/>
          </a:xfrm>
          <a:prstGeom prst="roundRect">
            <a:avLst>
              <a:gd name="adj" fmla="val 3692"/>
            </a:avLst>
          </a:prstGeom>
          <a:solidFill>
            <a:srgbClr val="E8E6E5"/>
          </a:solidFill>
          <a:ln/>
        </p:spPr>
      </p:sp>
      <p:pic>
        <p:nvPicPr>
          <p:cNvPr id="6" name="Image 0" descr="Boîtier capteur 3D sur une conduite">    </p:cNvPr>
          <p:cNvPicPr>
            <a:picLocks noChangeAspect="1"/>
          </p:cNvPicPr>
          <p:nvPr/>
        </p:nvPicPr>
        <p:blipFill>
          <a:blip r:embed="rId1"/>
          <a:srcRect l="0" r="0" t="0" b="0"/>
          <a:stretch/>
        </p:blipFill>
        <p:spPr>
          <a:xfrm>
            <a:off x="548640" y="1965960"/>
            <a:ext cx="4754880" cy="2971800"/>
          </a:xfrm>
          <a:prstGeom prst="rect">
            <a:avLst/>
          </a:prstGeom>
        </p:spPr>
      </p:pic>
      <p:sp>
        <p:nvSpPr>
          <p:cNvPr id="7" name="Text 3"/>
          <p:cNvSpPr txBox="1"/>
          <p:nvPr/>
        </p:nvSpPr>
        <p:spPr>
          <a:xfrm>
            <a:off x="548640" y="4983480"/>
            <a:ext cx="4754880" cy="237744"/>
          </a:xfrm>
          <a:prstGeom prst="rect">
            <a:avLst/>
          </a:prstGeom>
          <a:noFill/>
          <a:ln/>
        </p:spPr>
        <p:txBody>
          <a:bodyPr wrap="square" lIns="0" tIns="0" rIns="0" bIns="0" rtlCol="0" anchor="ctr"/>
          <a:lstStyle/>
          <a:p>
            <a:pPr indent="0" marL="0">
              <a:buNone/>
            </a:pPr>
            <a:r>
              <a:rPr lang="en-US" sz="1000" i="1" dirty="0">
                <a:solidFill>
                  <a:schemeClr val="accent5"/>
                </a:solidFill>
              </a:rPr>
              <a:t>Boîtier capteur type : mini-panneau, antenne, voyant d'état.</a:t>
            </a:r>
            <a:endParaRPr lang="en-US" sz="1000" dirty="0"/>
          </a:p>
        </p:txBody>
      </p:sp>
      <p:sp>
        <p:nvSpPr>
          <p:cNvPr id="8" name="Règle"/>
          <p:cNvSpPr/>
          <p:nvPr/>
        </p:nvSpPr>
        <p:spPr>
          <a:xfrm>
            <a:off x="548640" y="5303520"/>
            <a:ext cx="4754880" cy="685800"/>
          </a:xfrm>
          <a:prstGeom prst="roundRect">
            <a:avLst>
              <a:gd name="adj" fmla="val 16000"/>
            </a:avLst>
          </a:prstGeom>
          <a:solidFill>
            <a:schemeClr val="accent2"/>
          </a:solidFill>
          <a:ln/>
        </p:spPr>
      </p:sp>
      <p:sp>
        <p:nvSpPr>
          <p:cNvPr id="9" name="Text 5"/>
          <p:cNvSpPr txBox="1"/>
          <p:nvPr/>
        </p:nvSpPr>
        <p:spPr>
          <a:xfrm>
            <a:off x="777240" y="5303520"/>
            <a:ext cx="4389120" cy="685800"/>
          </a:xfrm>
          <a:prstGeom prst="rect">
            <a:avLst/>
          </a:prstGeom>
          <a:noFill/>
          <a:ln/>
        </p:spPr>
        <p:txBody>
          <a:bodyPr wrap="square" lIns="0" tIns="0" rIns="0" bIns="0" rtlCol="0" anchor="ctr"/>
          <a:lstStyle/>
          <a:p>
            <a:pPr indent="0" marL="0">
              <a:buNone/>
            </a:pPr>
            <a:r>
              <a:rPr lang="en-US" sz="1300" b="1" dirty="0">
                <a:solidFill>
                  <a:schemeClr val="tx2"/>
                </a:solidFill>
              </a:rPr>
              <a:t>Règle : pas de capteur si un contrôle visuel suffit.</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532120" y="1965960"/>
          <a:ext cx="6108192" cy="914400"/>
        </p:xfrm>
        <a:graphic>
          <a:graphicData uri="http://schemas.openxmlformats.org/drawingml/2006/table">
            <a:tbl>
              <a:tblPr/>
              <a:tblGrid>
                <a:gridCol w="1554480"/>
                <a:gridCol w="2468880"/>
                <a:gridCol w="2084832"/>
              </a:tblGrid>
              <a:tr h="347472">
                <a:tc>
                  <a:txBody>
                    <a:bodyPr/>
                    <a:lstStyle/>
                    <a:p>
                      <a:pPr indent="0" marL="0">
                        <a:buNone/>
                      </a:pPr>
                      <a:r>
                        <a:rPr lang="en-US" sz="1100" b="1" dirty="0">
                          <a:solidFill>
                            <a:schemeClr val="bg1"/>
                          </a:solidFill>
                        </a:rPr>
                        <a:t>Ouvrage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Mesure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Alerte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640080">
                <a:tc>
                  <a:txBody>
                    <a:bodyPr/>
                    <a:lstStyle/>
                    <a:p>
                      <a:pPr indent="0" marL="0">
                        <a:buNone/>
                      </a:pPr>
                      <a:r>
                        <a:rPr lang="en-US" sz="1100" b="1" dirty="0">
                          <a:solidFill>
                            <a:schemeClr val="tx2"/>
                          </a:solidFill>
                        </a:rPr>
                        <a:t>Forage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Débit, état de la pompe, tension</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Arrêt, débit faible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640080">
                <a:tc>
                  <a:txBody>
                    <a:bodyPr/>
                    <a:lstStyle/>
                    <a:p>
                      <a:pPr indent="0" marL="0">
                        <a:buNone/>
                      </a:pPr>
                      <a:r>
                        <a:rPr lang="en-US" sz="1100" b="1" dirty="0">
                          <a:solidFill>
                            <a:schemeClr val="tx2"/>
                          </a:solidFill>
                        </a:rPr>
                        <a:t>Château d'eau</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Niveau d'eau</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Niveau bas ou débordement</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640080">
                <a:tc>
                  <a:txBody>
                    <a:bodyPr/>
                    <a:lstStyle/>
                    <a:p>
                      <a:pPr indent="0" marL="0">
                        <a:buNone/>
                      </a:pPr>
                      <a:r>
                        <a:rPr lang="en-US" sz="1100" b="1" dirty="0">
                          <a:solidFill>
                            <a:schemeClr val="tx2"/>
                          </a:solidFill>
                        </a:rPr>
                        <a:t>Réseau d'eau</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Pression, compteurs</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Fuite probable (pertes 32 % à 15 %, p. 21)</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640080">
                <a:tc>
                  <a:txBody>
                    <a:bodyPr/>
                    <a:lstStyle/>
                    <a:p>
                      <a:pPr indent="0" marL="0">
                        <a:buNone/>
                      </a:pPr>
                      <a:r>
                        <a:rPr lang="en-US" sz="1100" b="1" dirty="0">
                          <a:solidFill>
                            <a:schemeClr val="tx2"/>
                          </a:solidFill>
                        </a:rPr>
                        <a:t>Lampadaire solaire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Tension batterie, état LED</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Batterie faible, lampe HS</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640080">
                <a:tc>
                  <a:txBody>
                    <a:bodyPr/>
                    <a:lstStyle/>
                    <a:p>
                      <a:pPr indent="0" marL="0">
                        <a:buNone/>
                      </a:pPr>
                      <a:r>
                        <a:rPr lang="en-US" sz="1100" b="1" dirty="0">
                          <a:solidFill>
                            <a:schemeClr val="tx2"/>
                          </a:solidFill>
                        </a:rPr>
                        <a:t>Installation solaire</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Production</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00" dirty="0">
                          <a:solidFill>
                            <a:schemeClr val="tx1"/>
                          </a:solidFill>
                        </a:rPr>
                        <a:t>Chute de production</a:t>
                      </a:r>
                      <a:endParaRPr lang="en-US" sz="110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bl>
          </a:graphicData>
        </a:graphic>
      </p:graphicFrame>
      <p:sp>
        <p:nvSpPr>
          <p:cNvPr id="11" name="Text 6"/>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21 et 64. Mesures et alertes : conception de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PARCOURS DE VIE D'UN OUVRAGE</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Six phases de vie, un seul dossier qui suit l'ouvrage</a:t>
            </a:r>
            <a:endParaRPr lang="en-US" sz="2800" dirty="0"/>
          </a:p>
        </p:txBody>
      </p:sp>
      <p:sp>
        <p:nvSpPr>
          <p:cNvPr id="5" name="Phase 1"/>
          <p:cNvSpPr/>
          <p:nvPr/>
        </p:nvSpPr>
        <p:spPr>
          <a:xfrm>
            <a:off x="548640" y="2103120"/>
            <a:ext cx="1737360" cy="2651760"/>
          </a:xfrm>
          <a:prstGeom prst="roundRect">
            <a:avLst>
              <a:gd name="adj" fmla="val 6316"/>
            </a:avLst>
          </a:prstGeom>
          <a:solidFill>
            <a:schemeClr val="bg2"/>
          </a:solidFill>
          <a:ln/>
        </p:spPr>
      </p:sp>
      <p:sp>
        <p:nvSpPr>
          <p:cNvPr id="6" name="Shape 3"/>
          <p:cNvSpPr/>
          <p:nvPr/>
        </p:nvSpPr>
        <p:spPr>
          <a:xfrm>
            <a:off x="1051560" y="2286000"/>
            <a:ext cx="731520" cy="73152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1249070" y="2483510"/>
            <a:ext cx="336499" cy="336499"/>
          </a:xfrm>
          <a:prstGeom prst="rect">
            <a:avLst/>
          </a:prstGeom>
        </p:spPr>
      </p:pic>
      <p:sp>
        <p:nvSpPr>
          <p:cNvPr id="8" name="Text 4"/>
          <p:cNvSpPr txBox="1"/>
          <p:nvPr/>
        </p:nvSpPr>
        <p:spPr>
          <a:xfrm>
            <a:off x="658368" y="3200400"/>
            <a:ext cx="1554480" cy="457200"/>
          </a:xfrm>
          <a:prstGeom prst="rect">
            <a:avLst/>
          </a:prstGeom>
          <a:noFill/>
          <a:ln/>
        </p:spPr>
        <p:txBody>
          <a:bodyPr wrap="square" lIns="0" tIns="0" rIns="0" bIns="0" rtlCol="0" anchor="ctr"/>
          <a:lstStyle/>
          <a:p>
            <a:pPr algn="ctr" indent="0" marL="0">
              <a:buNone/>
            </a:pPr>
            <a:r>
              <a:rPr lang="en-US" sz="1050" b="1" spc="100" kern="0" dirty="0">
                <a:solidFill>
                  <a:schemeClr val="accent1"/>
                </a:solidFill>
              </a:rPr>
              <a:t>1 · PLANIFIER</a:t>
            </a:r>
            <a:endParaRPr lang="en-US" sz="1050" dirty="0"/>
          </a:p>
        </p:txBody>
      </p:sp>
      <p:sp>
        <p:nvSpPr>
          <p:cNvPr id="9" name="Text 5"/>
          <p:cNvSpPr txBox="1"/>
          <p:nvPr/>
        </p:nvSpPr>
        <p:spPr>
          <a:xfrm>
            <a:off x="685800" y="3703320"/>
            <a:ext cx="1463040" cy="960120"/>
          </a:xfrm>
          <a:prstGeom prst="rect">
            <a:avLst/>
          </a:prstGeom>
          <a:noFill/>
          <a:ln/>
        </p:spPr>
        <p:txBody>
          <a:bodyPr wrap="square" lIns="0" tIns="0" rIns="0" bIns="0" rtlCol="0" anchor="t"/>
          <a:lstStyle/>
          <a:p>
            <a:pPr algn="ctr" indent="0" marL="0">
              <a:buNone/>
            </a:pPr>
            <a:r>
              <a:rPr lang="en-US" sz="1150" dirty="0">
                <a:solidFill>
                  <a:schemeClr val="tx1"/>
                </a:solidFill>
              </a:rPr>
              <a:t>Besoin, site, budget, type d'ouvrage</a:t>
            </a:r>
            <a:endParaRPr lang="en-US" sz="1150" dirty="0"/>
          </a:p>
        </p:txBody>
      </p:sp>
      <p:sp>
        <p:nvSpPr>
          <p:cNvPr id="10" name="Shape 6"/>
          <p:cNvSpPr/>
          <p:nvPr/>
        </p:nvSpPr>
        <p:spPr>
          <a:xfrm>
            <a:off x="2295144" y="3337560"/>
            <a:ext cx="128016" cy="237744"/>
          </a:xfrm>
          <a:prstGeom prst="rightArrow">
            <a:avLst/>
          </a:prstGeom>
          <a:solidFill>
            <a:schemeClr val="accent2"/>
          </a:solidFill>
          <a:ln/>
        </p:spPr>
      </p:sp>
      <p:sp>
        <p:nvSpPr>
          <p:cNvPr id="11" name="Phase 2"/>
          <p:cNvSpPr/>
          <p:nvPr/>
        </p:nvSpPr>
        <p:spPr>
          <a:xfrm>
            <a:off x="2414016" y="2103120"/>
            <a:ext cx="1737360" cy="2651760"/>
          </a:xfrm>
          <a:prstGeom prst="roundRect">
            <a:avLst>
              <a:gd name="adj" fmla="val 6316"/>
            </a:avLst>
          </a:prstGeom>
          <a:solidFill>
            <a:schemeClr val="bg2"/>
          </a:solidFill>
          <a:ln/>
        </p:spPr>
      </p:sp>
      <p:sp>
        <p:nvSpPr>
          <p:cNvPr id="12" name="Shape 8"/>
          <p:cNvSpPr/>
          <p:nvPr/>
        </p:nvSpPr>
        <p:spPr>
          <a:xfrm>
            <a:off x="2916936" y="2286000"/>
            <a:ext cx="731520" cy="73152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3114446" y="2483510"/>
            <a:ext cx="336499" cy="336499"/>
          </a:xfrm>
          <a:prstGeom prst="rect">
            <a:avLst/>
          </a:prstGeom>
        </p:spPr>
      </p:pic>
      <p:sp>
        <p:nvSpPr>
          <p:cNvPr id="14" name="Text 9"/>
          <p:cNvSpPr txBox="1"/>
          <p:nvPr/>
        </p:nvSpPr>
        <p:spPr>
          <a:xfrm>
            <a:off x="2523744" y="3200400"/>
            <a:ext cx="1554480" cy="457200"/>
          </a:xfrm>
          <a:prstGeom prst="rect">
            <a:avLst/>
          </a:prstGeom>
          <a:noFill/>
          <a:ln/>
        </p:spPr>
        <p:txBody>
          <a:bodyPr wrap="square" lIns="0" tIns="0" rIns="0" bIns="0" rtlCol="0" anchor="ctr"/>
          <a:lstStyle/>
          <a:p>
            <a:pPr algn="ctr" indent="0" marL="0">
              <a:buNone/>
            </a:pPr>
            <a:r>
              <a:rPr lang="en-US" sz="1050" b="1" spc="100" kern="0" dirty="0">
                <a:solidFill>
                  <a:schemeClr val="accent1"/>
                </a:solidFill>
              </a:rPr>
              <a:t>2 · RÉCEPTIONNER</a:t>
            </a:r>
            <a:endParaRPr lang="en-US" sz="1050" dirty="0"/>
          </a:p>
        </p:txBody>
      </p:sp>
      <p:sp>
        <p:nvSpPr>
          <p:cNvPr id="15" name="Text 10"/>
          <p:cNvSpPr txBox="1"/>
          <p:nvPr/>
        </p:nvSpPr>
        <p:spPr>
          <a:xfrm>
            <a:off x="2551176" y="3703320"/>
            <a:ext cx="1463040" cy="960120"/>
          </a:xfrm>
          <a:prstGeom prst="rect">
            <a:avLst/>
          </a:prstGeom>
          <a:noFill/>
          <a:ln/>
        </p:spPr>
        <p:txBody>
          <a:bodyPr wrap="square" lIns="0" tIns="0" rIns="0" bIns="0" rtlCol="0" anchor="t"/>
          <a:lstStyle/>
          <a:p>
            <a:pPr algn="ctr" indent="0" marL="0">
              <a:buNone/>
            </a:pPr>
            <a:r>
              <a:rPr lang="en-US" sz="1150" dirty="0">
                <a:solidFill>
                  <a:schemeClr val="tx1"/>
                </a:solidFill>
              </a:rPr>
              <a:t>Plans, PV, garanties, photos</a:t>
            </a:r>
            <a:endParaRPr lang="en-US" sz="1150" dirty="0"/>
          </a:p>
        </p:txBody>
      </p:sp>
      <p:sp>
        <p:nvSpPr>
          <p:cNvPr id="16" name="Shape 11"/>
          <p:cNvSpPr/>
          <p:nvPr/>
        </p:nvSpPr>
        <p:spPr>
          <a:xfrm>
            <a:off x="4160520" y="3337560"/>
            <a:ext cx="128016" cy="237744"/>
          </a:xfrm>
          <a:prstGeom prst="rightArrow">
            <a:avLst/>
          </a:prstGeom>
          <a:solidFill>
            <a:schemeClr val="accent2"/>
          </a:solidFill>
          <a:ln/>
        </p:spPr>
      </p:sp>
      <p:sp>
        <p:nvSpPr>
          <p:cNvPr id="17" name="Phase 3"/>
          <p:cNvSpPr/>
          <p:nvPr/>
        </p:nvSpPr>
        <p:spPr>
          <a:xfrm>
            <a:off x="4279392" y="2103120"/>
            <a:ext cx="1737360" cy="2651760"/>
          </a:xfrm>
          <a:prstGeom prst="roundRect">
            <a:avLst>
              <a:gd name="adj" fmla="val 6316"/>
            </a:avLst>
          </a:prstGeom>
          <a:solidFill>
            <a:schemeClr val="bg2"/>
          </a:solidFill>
          <a:ln/>
        </p:spPr>
      </p:sp>
      <p:sp>
        <p:nvSpPr>
          <p:cNvPr id="18" name="Shape 13"/>
          <p:cNvSpPr/>
          <p:nvPr/>
        </p:nvSpPr>
        <p:spPr>
          <a:xfrm>
            <a:off x="4782312" y="2286000"/>
            <a:ext cx="731520" cy="731520"/>
          </a:xfrm>
          <a:prstGeom prst="ellipse">
            <a:avLst/>
          </a:prstGeom>
          <a:solidFill>
            <a:schemeClr val="accent1"/>
          </a:solidFill>
          <a:ln/>
        </p:spPr>
      </p:sp>
      <p:pic>
        <p:nvPicPr>
          <p:cNvPr id="19" name="Image 2" descr="preencoded.png">    </p:cNvPr>
          <p:cNvPicPr>
            <a:picLocks noChangeAspect="1"/>
          </p:cNvPicPr>
          <p:nvPr/>
        </p:nvPicPr>
        <p:blipFill>
          <a:blip r:embed="rId3"/>
          <a:stretch>
            <a:fillRect/>
          </a:stretch>
        </p:blipFill>
        <p:spPr>
          <a:xfrm>
            <a:off x="4979822" y="2483510"/>
            <a:ext cx="336499" cy="336499"/>
          </a:xfrm>
          <a:prstGeom prst="rect">
            <a:avLst/>
          </a:prstGeom>
        </p:spPr>
      </p:pic>
      <p:sp>
        <p:nvSpPr>
          <p:cNvPr id="20" name="Text 14"/>
          <p:cNvSpPr txBox="1"/>
          <p:nvPr/>
        </p:nvSpPr>
        <p:spPr>
          <a:xfrm>
            <a:off x="4389120" y="3200400"/>
            <a:ext cx="1554480" cy="457200"/>
          </a:xfrm>
          <a:prstGeom prst="rect">
            <a:avLst/>
          </a:prstGeom>
          <a:noFill/>
          <a:ln/>
        </p:spPr>
        <p:txBody>
          <a:bodyPr wrap="square" lIns="0" tIns="0" rIns="0" bIns="0" rtlCol="0" anchor="ctr"/>
          <a:lstStyle/>
          <a:p>
            <a:pPr algn="ctr" indent="0" marL="0">
              <a:buNone/>
            </a:pPr>
            <a:r>
              <a:rPr lang="en-US" sz="1050" b="1" spc="100" kern="0" dirty="0">
                <a:solidFill>
                  <a:schemeClr val="accent1"/>
                </a:solidFill>
              </a:rPr>
              <a:t>3 · METTRE EN SERVICE</a:t>
            </a:r>
            <a:endParaRPr lang="en-US" sz="1050" dirty="0"/>
          </a:p>
        </p:txBody>
      </p:sp>
      <p:sp>
        <p:nvSpPr>
          <p:cNvPr id="21" name="Text 15"/>
          <p:cNvSpPr txBox="1"/>
          <p:nvPr/>
        </p:nvSpPr>
        <p:spPr>
          <a:xfrm>
            <a:off x="4416552" y="3703320"/>
            <a:ext cx="1463040" cy="960120"/>
          </a:xfrm>
          <a:prstGeom prst="rect">
            <a:avLst/>
          </a:prstGeom>
          <a:noFill/>
          <a:ln/>
        </p:spPr>
        <p:txBody>
          <a:bodyPr wrap="square" lIns="0" tIns="0" rIns="0" bIns="0" rtlCol="0" anchor="t"/>
          <a:lstStyle/>
          <a:p>
            <a:pPr algn="ctr" indent="0" marL="0">
              <a:buNone/>
            </a:pPr>
            <a:r>
              <a:rPr lang="en-US" sz="1150" dirty="0">
                <a:solidFill>
                  <a:schemeClr val="tx1"/>
                </a:solidFill>
              </a:rPr>
              <a:t>Mise en service, plan d'entretien activé</a:t>
            </a:r>
            <a:endParaRPr lang="en-US" sz="1150" dirty="0"/>
          </a:p>
        </p:txBody>
      </p:sp>
      <p:sp>
        <p:nvSpPr>
          <p:cNvPr id="22" name="Shape 16"/>
          <p:cNvSpPr/>
          <p:nvPr/>
        </p:nvSpPr>
        <p:spPr>
          <a:xfrm>
            <a:off x="6025896" y="3337560"/>
            <a:ext cx="128016" cy="237744"/>
          </a:xfrm>
          <a:prstGeom prst="rightArrow">
            <a:avLst/>
          </a:prstGeom>
          <a:solidFill>
            <a:schemeClr val="accent2"/>
          </a:solidFill>
          <a:ln/>
        </p:spPr>
      </p:sp>
      <p:sp>
        <p:nvSpPr>
          <p:cNvPr id="23" name="Phase 4"/>
          <p:cNvSpPr/>
          <p:nvPr/>
        </p:nvSpPr>
        <p:spPr>
          <a:xfrm>
            <a:off x="6144768" y="2103120"/>
            <a:ext cx="1737360" cy="2651760"/>
          </a:xfrm>
          <a:prstGeom prst="roundRect">
            <a:avLst>
              <a:gd name="adj" fmla="val 6316"/>
            </a:avLst>
          </a:prstGeom>
          <a:solidFill>
            <a:schemeClr val="bg2"/>
          </a:solidFill>
          <a:ln/>
        </p:spPr>
      </p:sp>
      <p:sp>
        <p:nvSpPr>
          <p:cNvPr id="24" name="Shape 18"/>
          <p:cNvSpPr/>
          <p:nvPr/>
        </p:nvSpPr>
        <p:spPr>
          <a:xfrm>
            <a:off x="6647688" y="2286000"/>
            <a:ext cx="731520" cy="731520"/>
          </a:xfrm>
          <a:prstGeom prst="ellipse">
            <a:avLst/>
          </a:prstGeom>
          <a:solidFill>
            <a:schemeClr val="accent1"/>
          </a:solidFill>
          <a:ln/>
        </p:spPr>
      </p:sp>
      <p:pic>
        <p:nvPicPr>
          <p:cNvPr id="25" name="Image 3" descr="preencoded.png">    </p:cNvPr>
          <p:cNvPicPr>
            <a:picLocks noChangeAspect="1"/>
          </p:cNvPicPr>
          <p:nvPr/>
        </p:nvPicPr>
        <p:blipFill>
          <a:blip r:embed="rId4"/>
          <a:stretch>
            <a:fillRect/>
          </a:stretch>
        </p:blipFill>
        <p:spPr>
          <a:xfrm>
            <a:off x="6845198" y="2483510"/>
            <a:ext cx="336499" cy="336499"/>
          </a:xfrm>
          <a:prstGeom prst="rect">
            <a:avLst/>
          </a:prstGeom>
        </p:spPr>
      </p:pic>
      <p:sp>
        <p:nvSpPr>
          <p:cNvPr id="26" name="Text 19"/>
          <p:cNvSpPr txBox="1"/>
          <p:nvPr/>
        </p:nvSpPr>
        <p:spPr>
          <a:xfrm>
            <a:off x="6254496" y="3200400"/>
            <a:ext cx="1554480" cy="457200"/>
          </a:xfrm>
          <a:prstGeom prst="rect">
            <a:avLst/>
          </a:prstGeom>
          <a:noFill/>
          <a:ln/>
        </p:spPr>
        <p:txBody>
          <a:bodyPr wrap="square" lIns="0" tIns="0" rIns="0" bIns="0" rtlCol="0" anchor="ctr"/>
          <a:lstStyle/>
          <a:p>
            <a:pPr algn="ctr" indent="0" marL="0">
              <a:buNone/>
            </a:pPr>
            <a:r>
              <a:rPr lang="en-US" sz="1050" b="1" spc="100" kern="0" dirty="0">
                <a:solidFill>
                  <a:schemeClr val="accent1"/>
                </a:solidFill>
              </a:rPr>
              <a:t>4 · EXPLOITER</a:t>
            </a:r>
            <a:endParaRPr lang="en-US" sz="1050" dirty="0"/>
          </a:p>
        </p:txBody>
      </p:sp>
      <p:sp>
        <p:nvSpPr>
          <p:cNvPr id="27" name="Text 20"/>
          <p:cNvSpPr txBox="1"/>
          <p:nvPr/>
        </p:nvSpPr>
        <p:spPr>
          <a:xfrm>
            <a:off x="6281928" y="3703320"/>
            <a:ext cx="1463040" cy="960120"/>
          </a:xfrm>
          <a:prstGeom prst="rect">
            <a:avLst/>
          </a:prstGeom>
          <a:noFill/>
          <a:ln/>
        </p:spPr>
        <p:txBody>
          <a:bodyPr wrap="square" lIns="0" tIns="0" rIns="0" bIns="0" rtlCol="0" anchor="t"/>
          <a:lstStyle/>
          <a:p>
            <a:pPr algn="ctr" indent="0" marL="0">
              <a:buNone/>
            </a:pPr>
            <a:r>
              <a:rPr lang="en-US" sz="1150" dirty="0">
                <a:solidFill>
                  <a:schemeClr val="tx1"/>
                </a:solidFill>
              </a:rPr>
              <a:t>Usage, relevés, signalements</a:t>
            </a:r>
            <a:endParaRPr lang="en-US" sz="1150" dirty="0"/>
          </a:p>
        </p:txBody>
      </p:sp>
      <p:sp>
        <p:nvSpPr>
          <p:cNvPr id="28" name="Shape 21"/>
          <p:cNvSpPr/>
          <p:nvPr/>
        </p:nvSpPr>
        <p:spPr>
          <a:xfrm>
            <a:off x="7891272" y="3337560"/>
            <a:ext cx="128016" cy="237744"/>
          </a:xfrm>
          <a:prstGeom prst="rightArrow">
            <a:avLst/>
          </a:prstGeom>
          <a:solidFill>
            <a:schemeClr val="accent2"/>
          </a:solidFill>
          <a:ln/>
        </p:spPr>
      </p:sp>
      <p:sp>
        <p:nvSpPr>
          <p:cNvPr id="29" name="Phase 5"/>
          <p:cNvSpPr/>
          <p:nvPr/>
        </p:nvSpPr>
        <p:spPr>
          <a:xfrm>
            <a:off x="8010144" y="2103120"/>
            <a:ext cx="1737360" cy="2651760"/>
          </a:xfrm>
          <a:prstGeom prst="roundRect">
            <a:avLst>
              <a:gd name="adj" fmla="val 6316"/>
            </a:avLst>
          </a:prstGeom>
          <a:solidFill>
            <a:schemeClr val="accent1"/>
          </a:solidFill>
          <a:ln/>
        </p:spPr>
      </p:sp>
      <p:sp>
        <p:nvSpPr>
          <p:cNvPr id="30" name="Shape 23"/>
          <p:cNvSpPr/>
          <p:nvPr/>
        </p:nvSpPr>
        <p:spPr>
          <a:xfrm>
            <a:off x="8513064" y="2286000"/>
            <a:ext cx="731520" cy="731520"/>
          </a:xfrm>
          <a:prstGeom prst="ellipse">
            <a:avLst/>
          </a:prstGeom>
          <a:solidFill>
            <a:schemeClr val="accent2"/>
          </a:solidFill>
          <a:ln/>
        </p:spPr>
      </p:sp>
      <p:pic>
        <p:nvPicPr>
          <p:cNvPr id="31" name="Image 4" descr="preencoded.png">    </p:cNvPr>
          <p:cNvPicPr>
            <a:picLocks noChangeAspect="1"/>
          </p:cNvPicPr>
          <p:nvPr/>
        </p:nvPicPr>
        <p:blipFill>
          <a:blip r:embed="rId5"/>
          <a:stretch>
            <a:fillRect/>
          </a:stretch>
        </p:blipFill>
        <p:spPr>
          <a:xfrm>
            <a:off x="8710574" y="2483510"/>
            <a:ext cx="336499" cy="336499"/>
          </a:xfrm>
          <a:prstGeom prst="rect">
            <a:avLst/>
          </a:prstGeom>
        </p:spPr>
      </p:pic>
      <p:sp>
        <p:nvSpPr>
          <p:cNvPr id="32" name="Text 24"/>
          <p:cNvSpPr txBox="1"/>
          <p:nvPr/>
        </p:nvSpPr>
        <p:spPr>
          <a:xfrm>
            <a:off x="8119872" y="3200400"/>
            <a:ext cx="1554480" cy="457200"/>
          </a:xfrm>
          <a:prstGeom prst="rect">
            <a:avLst/>
          </a:prstGeom>
          <a:noFill/>
          <a:ln/>
        </p:spPr>
        <p:txBody>
          <a:bodyPr wrap="square" lIns="0" tIns="0" rIns="0" bIns="0" rtlCol="0" anchor="ctr"/>
          <a:lstStyle/>
          <a:p>
            <a:pPr algn="ctr" indent="0" marL="0">
              <a:buNone/>
            </a:pPr>
            <a:r>
              <a:rPr lang="en-US" sz="1050" b="1" spc="100" kern="0" dirty="0">
                <a:solidFill>
                  <a:schemeClr val="accent2"/>
                </a:solidFill>
              </a:rPr>
              <a:t>5 · MAINTENIR</a:t>
            </a:r>
            <a:endParaRPr lang="en-US" sz="1050" dirty="0"/>
          </a:p>
        </p:txBody>
      </p:sp>
      <p:sp>
        <p:nvSpPr>
          <p:cNvPr id="33" name="Text 25"/>
          <p:cNvSpPr txBox="1"/>
          <p:nvPr/>
        </p:nvSpPr>
        <p:spPr>
          <a:xfrm>
            <a:off x="8147304" y="3703320"/>
            <a:ext cx="1463040" cy="960120"/>
          </a:xfrm>
          <a:prstGeom prst="rect">
            <a:avLst/>
          </a:prstGeom>
          <a:noFill/>
          <a:ln/>
        </p:spPr>
        <p:txBody>
          <a:bodyPr wrap="square" lIns="0" tIns="0" rIns="0" bIns="0" rtlCol="0" anchor="t"/>
          <a:lstStyle/>
          <a:p>
            <a:pPr algn="ctr" indent="0" marL="0">
              <a:buNone/>
            </a:pPr>
            <a:r>
              <a:rPr lang="en-US" sz="1150" dirty="0">
                <a:solidFill>
                  <a:schemeClr val="bg1"/>
                </a:solidFill>
              </a:rPr>
              <a:t>Préventif, correctif, pièces posées</a:t>
            </a:r>
            <a:endParaRPr lang="en-US" sz="1150" dirty="0"/>
          </a:p>
        </p:txBody>
      </p:sp>
      <p:sp>
        <p:nvSpPr>
          <p:cNvPr id="34" name="Shape 26"/>
          <p:cNvSpPr/>
          <p:nvPr/>
        </p:nvSpPr>
        <p:spPr>
          <a:xfrm>
            <a:off x="9756648" y="3337560"/>
            <a:ext cx="128016" cy="237744"/>
          </a:xfrm>
          <a:prstGeom prst="rightArrow">
            <a:avLst/>
          </a:prstGeom>
          <a:solidFill>
            <a:schemeClr val="accent2"/>
          </a:solidFill>
          <a:ln/>
        </p:spPr>
      </p:sp>
      <p:sp>
        <p:nvSpPr>
          <p:cNvPr id="35" name="Phase 6"/>
          <p:cNvSpPr/>
          <p:nvPr/>
        </p:nvSpPr>
        <p:spPr>
          <a:xfrm>
            <a:off x="9875520" y="2103120"/>
            <a:ext cx="1737360" cy="2651760"/>
          </a:xfrm>
          <a:prstGeom prst="roundRect">
            <a:avLst>
              <a:gd name="adj" fmla="val 6316"/>
            </a:avLst>
          </a:prstGeom>
          <a:solidFill>
            <a:schemeClr val="bg2"/>
          </a:solidFill>
          <a:ln/>
        </p:spPr>
      </p:sp>
      <p:sp>
        <p:nvSpPr>
          <p:cNvPr id="36" name="Shape 28"/>
          <p:cNvSpPr/>
          <p:nvPr/>
        </p:nvSpPr>
        <p:spPr>
          <a:xfrm>
            <a:off x="10378440" y="2286000"/>
            <a:ext cx="731520" cy="731520"/>
          </a:xfrm>
          <a:prstGeom prst="ellipse">
            <a:avLst/>
          </a:prstGeom>
          <a:solidFill>
            <a:schemeClr val="accent1"/>
          </a:solidFill>
          <a:ln/>
        </p:spPr>
      </p:sp>
      <p:pic>
        <p:nvPicPr>
          <p:cNvPr id="37" name="Image 5" descr="preencoded.png">    </p:cNvPr>
          <p:cNvPicPr>
            <a:picLocks noChangeAspect="1"/>
          </p:cNvPicPr>
          <p:nvPr/>
        </p:nvPicPr>
        <p:blipFill>
          <a:blip r:embed="rId6"/>
          <a:stretch>
            <a:fillRect/>
          </a:stretch>
        </p:blipFill>
        <p:spPr>
          <a:xfrm>
            <a:off x="10575950" y="2483510"/>
            <a:ext cx="336499" cy="336499"/>
          </a:xfrm>
          <a:prstGeom prst="rect">
            <a:avLst/>
          </a:prstGeom>
        </p:spPr>
      </p:pic>
      <p:sp>
        <p:nvSpPr>
          <p:cNvPr id="38" name="Text 29"/>
          <p:cNvSpPr txBox="1"/>
          <p:nvPr/>
        </p:nvSpPr>
        <p:spPr>
          <a:xfrm>
            <a:off x="9985248" y="3200400"/>
            <a:ext cx="1554480" cy="457200"/>
          </a:xfrm>
          <a:prstGeom prst="rect">
            <a:avLst/>
          </a:prstGeom>
          <a:noFill/>
          <a:ln/>
        </p:spPr>
        <p:txBody>
          <a:bodyPr wrap="square" lIns="0" tIns="0" rIns="0" bIns="0" rtlCol="0" anchor="ctr"/>
          <a:lstStyle/>
          <a:p>
            <a:pPr algn="ctr" indent="0" marL="0">
              <a:buNone/>
            </a:pPr>
            <a:r>
              <a:rPr lang="en-US" sz="1050" b="1" spc="100" kern="0" dirty="0">
                <a:solidFill>
                  <a:schemeClr val="accent1"/>
                </a:solidFill>
              </a:rPr>
              <a:t>6 · RENOUVELER</a:t>
            </a:r>
            <a:endParaRPr lang="en-US" sz="1050" dirty="0"/>
          </a:p>
        </p:txBody>
      </p:sp>
      <p:sp>
        <p:nvSpPr>
          <p:cNvPr id="39" name="Text 30"/>
          <p:cNvSpPr txBox="1"/>
          <p:nvPr/>
        </p:nvSpPr>
        <p:spPr>
          <a:xfrm>
            <a:off x="10012680" y="3703320"/>
            <a:ext cx="1463040" cy="960120"/>
          </a:xfrm>
          <a:prstGeom prst="rect">
            <a:avLst/>
          </a:prstGeom>
          <a:noFill/>
          <a:ln/>
        </p:spPr>
        <p:txBody>
          <a:bodyPr wrap="square" lIns="0" tIns="0" rIns="0" bIns="0" rtlCol="0" anchor="t"/>
          <a:lstStyle/>
          <a:p>
            <a:pPr algn="ctr" indent="0" marL="0">
              <a:buNone/>
            </a:pPr>
            <a:r>
              <a:rPr lang="en-US" sz="1150" dirty="0">
                <a:solidFill>
                  <a:schemeClr val="tx1"/>
                </a:solidFill>
              </a:rPr>
              <a:t>Remplacer ou déclasser, recycler</a:t>
            </a:r>
            <a:endParaRPr lang="en-US" sz="1150" dirty="0"/>
          </a:p>
        </p:txBody>
      </p:sp>
      <p:sp>
        <p:nvSpPr>
          <p:cNvPr id="40" name="Boucle"/>
          <p:cNvSpPr/>
          <p:nvPr/>
        </p:nvSpPr>
        <p:spPr>
          <a:xfrm>
            <a:off x="548640" y="4983480"/>
            <a:ext cx="11091672" cy="960120"/>
          </a:xfrm>
          <a:prstGeom prst="roundRect">
            <a:avLst>
              <a:gd name="adj" fmla="val 11429"/>
            </a:avLst>
          </a:prstGeom>
          <a:solidFill>
            <a:schemeClr val="tx2"/>
          </a:solidFill>
          <a:ln/>
        </p:spPr>
      </p:sp>
      <p:sp>
        <p:nvSpPr>
          <p:cNvPr id="41" name="Text 32"/>
          <p:cNvSpPr txBox="1"/>
          <p:nvPr/>
        </p:nvSpPr>
        <p:spPr>
          <a:xfrm>
            <a:off x="822960" y="5074920"/>
            <a:ext cx="2743200" cy="256032"/>
          </a:xfrm>
          <a:prstGeom prst="rect">
            <a:avLst/>
          </a:prstGeom>
          <a:noFill/>
          <a:ln/>
        </p:spPr>
        <p:txBody>
          <a:bodyPr wrap="square" lIns="0" tIns="0" rIns="0" bIns="0" rtlCol="0" anchor="ctr"/>
          <a:lstStyle/>
          <a:p>
            <a:pPr indent="0" marL="0">
              <a:buNone/>
            </a:pPr>
            <a:r>
              <a:rPr lang="en-US" sz="1100" b="1" spc="300" kern="0" dirty="0">
                <a:solidFill>
                  <a:schemeClr val="accent2"/>
                </a:solidFill>
              </a:rPr>
              <a:t>LA BOUCLE</a:t>
            </a:r>
            <a:endParaRPr lang="en-US" sz="1100" dirty="0"/>
          </a:p>
        </p:txBody>
      </p:sp>
      <p:sp>
        <p:nvSpPr>
          <p:cNvPr id="42" name="Text 33"/>
          <p:cNvSpPr txBox="1"/>
          <p:nvPr/>
        </p:nvSpPr>
        <p:spPr>
          <a:xfrm>
            <a:off x="822960" y="5349240"/>
            <a:ext cx="10515600" cy="548640"/>
          </a:xfrm>
          <a:prstGeom prst="rect">
            <a:avLst/>
          </a:prstGeom>
          <a:noFill/>
          <a:ln/>
        </p:spPr>
        <p:txBody>
          <a:bodyPr wrap="square" lIns="0" tIns="0" rIns="0" bIns="0" rtlCol="0" anchor="t"/>
          <a:lstStyle/>
          <a:p>
            <a:pPr indent="0" marL="0">
              <a:buNone/>
            </a:pPr>
            <a:r>
              <a:rPr lang="en-US" sz="1300" dirty="0">
                <a:solidFill>
                  <a:schemeClr val="bg1"/>
                </a:solidFill>
              </a:rPr>
              <a:t>L'historique de la phase 5 éclaire la phase 1 : quel type d'ouvrage a coûté le moins sur la durée, chez quel fournisseur, dans quel climat.</a:t>
            </a:r>
            <a:endParaRPr lang="en-US" sz="1300" dirty="0"/>
          </a:p>
        </p:txBody>
      </p:sp>
      <p:sp>
        <p:nvSpPr>
          <p:cNvPr id="43" name="Text 34"/>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Conception de l'auteur, fondée sur la logique de gestion du cycle de vie des produits (PLM) appliquée aux ouvrages publics.</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MAINTENANCE</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Trois niveaux de maintenance, un plan par type d'ouvrage</a:t>
            </a:r>
            <a:endParaRPr lang="en-US" sz="2800" dirty="0"/>
          </a:p>
        </p:txBody>
      </p:sp>
      <p:sp>
        <p:nvSpPr>
          <p:cNvPr id="5" name="Maintenance PRÉVENTIVE"/>
          <p:cNvSpPr/>
          <p:nvPr/>
        </p:nvSpPr>
        <p:spPr>
          <a:xfrm>
            <a:off x="548640" y="1965960"/>
            <a:ext cx="3611880" cy="3520440"/>
          </a:xfrm>
          <a:prstGeom prst="roundRect">
            <a:avLst>
              <a:gd name="adj" fmla="val 3117"/>
            </a:avLst>
          </a:prstGeom>
          <a:solidFill>
            <a:schemeClr val="bg2"/>
          </a:solidFill>
          <a:ln/>
        </p:spPr>
      </p:sp>
      <p:sp>
        <p:nvSpPr>
          <p:cNvPr id="6" name="Shape 3"/>
          <p:cNvSpPr/>
          <p:nvPr/>
        </p:nvSpPr>
        <p:spPr>
          <a:xfrm>
            <a:off x="777240" y="2148840"/>
            <a:ext cx="548640" cy="54864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925373" y="2296973"/>
            <a:ext cx="252374" cy="252374"/>
          </a:xfrm>
          <a:prstGeom prst="rect">
            <a:avLst/>
          </a:prstGeom>
        </p:spPr>
      </p:pic>
      <p:sp>
        <p:nvSpPr>
          <p:cNvPr id="8" name="Text 4"/>
          <p:cNvSpPr txBox="1"/>
          <p:nvPr/>
        </p:nvSpPr>
        <p:spPr>
          <a:xfrm>
            <a:off x="1463040" y="2148840"/>
            <a:ext cx="2560320" cy="274320"/>
          </a:xfrm>
          <a:prstGeom prst="rect">
            <a:avLst/>
          </a:prstGeom>
          <a:noFill/>
          <a:ln/>
        </p:spPr>
        <p:txBody>
          <a:bodyPr wrap="square" lIns="0" tIns="0" rIns="0" bIns="0" rtlCol="0" anchor="ctr"/>
          <a:lstStyle/>
          <a:p>
            <a:pPr indent="0" marL="0">
              <a:buNone/>
            </a:pPr>
            <a:r>
              <a:rPr lang="en-US" sz="1200" b="1" spc="200" kern="0" dirty="0">
                <a:solidFill>
                  <a:schemeClr val="tx2"/>
                </a:solidFill>
              </a:rPr>
              <a:t>PRÉVENTIVE</a:t>
            </a:r>
            <a:endParaRPr lang="en-US" sz="1200" dirty="0"/>
          </a:p>
        </p:txBody>
      </p:sp>
      <p:sp>
        <p:nvSpPr>
          <p:cNvPr id="9" name="Text 5"/>
          <p:cNvSpPr txBox="1"/>
          <p:nvPr/>
        </p:nvSpPr>
        <p:spPr>
          <a:xfrm>
            <a:off x="1463040" y="2441448"/>
            <a:ext cx="2560320" cy="256032"/>
          </a:xfrm>
          <a:prstGeom prst="rect">
            <a:avLst/>
          </a:prstGeom>
          <a:noFill/>
          <a:ln/>
        </p:spPr>
        <p:txBody>
          <a:bodyPr wrap="square" lIns="0" tIns="0" rIns="0" bIns="0" rtlCol="0" anchor="ctr"/>
          <a:lstStyle/>
          <a:p>
            <a:pPr indent="0" marL="0">
              <a:buNone/>
            </a:pPr>
            <a:r>
              <a:rPr lang="en-US" sz="1100" dirty="0">
                <a:solidFill>
                  <a:schemeClr val="accent5"/>
                </a:solidFill>
              </a:rPr>
              <a:t>Prévenir la panne</a:t>
            </a:r>
            <a:endParaRPr lang="en-US" sz="1100" dirty="0"/>
          </a:p>
        </p:txBody>
      </p:sp>
      <p:sp>
        <p:nvSpPr>
          <p:cNvPr id="10" name="Shape 6"/>
          <p:cNvSpPr/>
          <p:nvPr/>
        </p:nvSpPr>
        <p:spPr>
          <a:xfrm>
            <a:off x="777240" y="3035808"/>
            <a:ext cx="128016" cy="128016"/>
          </a:xfrm>
          <a:prstGeom prst="ellipse">
            <a:avLst/>
          </a:prstGeom>
          <a:solidFill>
            <a:schemeClr val="accent2"/>
          </a:solidFill>
          <a:ln/>
        </p:spPr>
      </p:sp>
      <p:sp>
        <p:nvSpPr>
          <p:cNvPr id="11" name="Text 7"/>
          <p:cNvSpPr txBox="1"/>
          <p:nvPr/>
        </p:nvSpPr>
        <p:spPr>
          <a:xfrm>
            <a:off x="1033272" y="2971800"/>
            <a:ext cx="2944368" cy="530352"/>
          </a:xfrm>
          <a:prstGeom prst="rect">
            <a:avLst/>
          </a:prstGeom>
          <a:noFill/>
          <a:ln/>
        </p:spPr>
        <p:txBody>
          <a:bodyPr wrap="square" lIns="0" tIns="0" rIns="0" bIns="0" rtlCol="0" anchor="t"/>
          <a:lstStyle/>
          <a:p>
            <a:pPr indent="0" marL="0">
              <a:buNone/>
            </a:pPr>
            <a:r>
              <a:rPr lang="en-US" sz="1200" dirty="0">
                <a:solidFill>
                  <a:schemeClr val="tx1"/>
                </a:solidFill>
              </a:rPr>
              <a:t>Plan d'entretien par type d'ouvrage</a:t>
            </a:r>
            <a:endParaRPr lang="en-US" sz="1200" dirty="0"/>
          </a:p>
        </p:txBody>
      </p:sp>
      <p:sp>
        <p:nvSpPr>
          <p:cNvPr id="12" name="Shape 8"/>
          <p:cNvSpPr/>
          <p:nvPr/>
        </p:nvSpPr>
        <p:spPr>
          <a:xfrm>
            <a:off x="777240" y="3602736"/>
            <a:ext cx="128016" cy="128016"/>
          </a:xfrm>
          <a:prstGeom prst="ellipse">
            <a:avLst/>
          </a:prstGeom>
          <a:solidFill>
            <a:schemeClr val="accent2"/>
          </a:solidFill>
          <a:ln/>
        </p:spPr>
      </p:sp>
      <p:sp>
        <p:nvSpPr>
          <p:cNvPr id="13" name="Text 9"/>
          <p:cNvSpPr txBox="1"/>
          <p:nvPr/>
        </p:nvSpPr>
        <p:spPr>
          <a:xfrm>
            <a:off x="1033272" y="3538728"/>
            <a:ext cx="2944368" cy="530352"/>
          </a:xfrm>
          <a:prstGeom prst="rect">
            <a:avLst/>
          </a:prstGeom>
          <a:noFill/>
          <a:ln/>
        </p:spPr>
        <p:txBody>
          <a:bodyPr wrap="square" lIns="0" tIns="0" rIns="0" bIns="0" rtlCol="0" anchor="t"/>
          <a:lstStyle/>
          <a:p>
            <a:pPr indent="0" marL="0">
              <a:buNone/>
            </a:pPr>
            <a:r>
              <a:rPr lang="en-US" sz="1200" dirty="0">
                <a:solidFill>
                  <a:schemeClr val="tx1"/>
                </a:solidFill>
              </a:rPr>
              <a:t>Tâches et rappels automatiques</a:t>
            </a:r>
            <a:endParaRPr lang="en-US" sz="1200" dirty="0"/>
          </a:p>
        </p:txBody>
      </p:sp>
      <p:sp>
        <p:nvSpPr>
          <p:cNvPr id="14" name="Shape 10"/>
          <p:cNvSpPr/>
          <p:nvPr/>
        </p:nvSpPr>
        <p:spPr>
          <a:xfrm>
            <a:off x="777240" y="4169664"/>
            <a:ext cx="128016" cy="128016"/>
          </a:xfrm>
          <a:prstGeom prst="ellipse">
            <a:avLst/>
          </a:prstGeom>
          <a:solidFill>
            <a:schemeClr val="accent2"/>
          </a:solidFill>
          <a:ln/>
        </p:spPr>
      </p:sp>
      <p:sp>
        <p:nvSpPr>
          <p:cNvPr id="15" name="Text 11"/>
          <p:cNvSpPr txBox="1"/>
          <p:nvPr/>
        </p:nvSpPr>
        <p:spPr>
          <a:xfrm>
            <a:off x="1033272" y="4105656"/>
            <a:ext cx="2944368" cy="530352"/>
          </a:xfrm>
          <a:prstGeom prst="rect">
            <a:avLst/>
          </a:prstGeom>
          <a:noFill/>
          <a:ln/>
        </p:spPr>
        <p:txBody>
          <a:bodyPr wrap="square" lIns="0" tIns="0" rIns="0" bIns="0" rtlCol="0" anchor="t"/>
          <a:lstStyle/>
          <a:p>
            <a:pPr indent="0" marL="0">
              <a:buNone/>
            </a:pPr>
            <a:r>
              <a:rPr lang="en-US" sz="1200" dirty="0">
                <a:solidFill>
                  <a:schemeClr val="tx1"/>
                </a:solidFill>
              </a:rPr>
              <a:t>Checklist, photos avant et après</a:t>
            </a:r>
            <a:endParaRPr lang="en-US" sz="1200" dirty="0"/>
          </a:p>
        </p:txBody>
      </p:sp>
      <p:sp>
        <p:nvSpPr>
          <p:cNvPr id="16" name="Shape 12"/>
          <p:cNvSpPr/>
          <p:nvPr/>
        </p:nvSpPr>
        <p:spPr>
          <a:xfrm>
            <a:off x="777240" y="4736592"/>
            <a:ext cx="128016" cy="128016"/>
          </a:xfrm>
          <a:prstGeom prst="ellipse">
            <a:avLst/>
          </a:prstGeom>
          <a:solidFill>
            <a:schemeClr val="accent2"/>
          </a:solidFill>
          <a:ln/>
        </p:spPr>
      </p:sp>
      <p:sp>
        <p:nvSpPr>
          <p:cNvPr id="17" name="Text 13"/>
          <p:cNvSpPr txBox="1"/>
          <p:nvPr/>
        </p:nvSpPr>
        <p:spPr>
          <a:xfrm>
            <a:off x="1033272" y="4672584"/>
            <a:ext cx="2944368" cy="530352"/>
          </a:xfrm>
          <a:prstGeom prst="rect">
            <a:avLst/>
          </a:prstGeom>
          <a:noFill/>
          <a:ln/>
        </p:spPr>
        <p:txBody>
          <a:bodyPr wrap="square" lIns="0" tIns="0" rIns="0" bIns="0" rtlCol="0" anchor="t"/>
          <a:lstStyle/>
          <a:p>
            <a:pPr indent="0" marL="0">
              <a:buNone/>
            </a:pPr>
            <a:r>
              <a:rPr lang="en-US" sz="1200" dirty="0">
                <a:solidFill>
                  <a:schemeClr val="tx1"/>
                </a:solidFill>
              </a:rPr>
              <a:t>Preuve d'exécution pour le contrôle</a:t>
            </a:r>
            <a:endParaRPr lang="en-US" sz="1200" dirty="0"/>
          </a:p>
        </p:txBody>
      </p:sp>
      <p:sp>
        <p:nvSpPr>
          <p:cNvPr id="18" name="Maintenance CORRECTIVE"/>
          <p:cNvSpPr/>
          <p:nvPr/>
        </p:nvSpPr>
        <p:spPr>
          <a:xfrm>
            <a:off x="4288536" y="1965960"/>
            <a:ext cx="3611880" cy="3520440"/>
          </a:xfrm>
          <a:prstGeom prst="roundRect">
            <a:avLst>
              <a:gd name="adj" fmla="val 3117"/>
            </a:avLst>
          </a:prstGeom>
          <a:solidFill>
            <a:schemeClr val="bg2"/>
          </a:solidFill>
          <a:ln/>
        </p:spPr>
      </p:sp>
      <p:sp>
        <p:nvSpPr>
          <p:cNvPr id="19" name="Shape 15"/>
          <p:cNvSpPr/>
          <p:nvPr/>
        </p:nvSpPr>
        <p:spPr>
          <a:xfrm>
            <a:off x="4517136" y="2148840"/>
            <a:ext cx="548640" cy="548640"/>
          </a:xfrm>
          <a:prstGeom prst="ellipse">
            <a:avLst/>
          </a:prstGeom>
          <a:solidFill>
            <a:schemeClr val="accent1"/>
          </a:solidFill>
          <a:ln/>
        </p:spPr>
      </p:sp>
      <p:pic>
        <p:nvPicPr>
          <p:cNvPr id="20" name="Image 1" descr="preencoded.png">    </p:cNvPr>
          <p:cNvPicPr>
            <a:picLocks noChangeAspect="1"/>
          </p:cNvPicPr>
          <p:nvPr/>
        </p:nvPicPr>
        <p:blipFill>
          <a:blip r:embed="rId2"/>
          <a:stretch>
            <a:fillRect/>
          </a:stretch>
        </p:blipFill>
        <p:spPr>
          <a:xfrm>
            <a:off x="4665269" y="2296973"/>
            <a:ext cx="252374" cy="252374"/>
          </a:xfrm>
          <a:prstGeom prst="rect">
            <a:avLst/>
          </a:prstGeom>
        </p:spPr>
      </p:pic>
      <p:sp>
        <p:nvSpPr>
          <p:cNvPr id="21" name="Text 16"/>
          <p:cNvSpPr txBox="1"/>
          <p:nvPr/>
        </p:nvSpPr>
        <p:spPr>
          <a:xfrm>
            <a:off x="5202936" y="2148840"/>
            <a:ext cx="2560320" cy="274320"/>
          </a:xfrm>
          <a:prstGeom prst="rect">
            <a:avLst/>
          </a:prstGeom>
          <a:noFill/>
          <a:ln/>
        </p:spPr>
        <p:txBody>
          <a:bodyPr wrap="square" lIns="0" tIns="0" rIns="0" bIns="0" rtlCol="0" anchor="ctr"/>
          <a:lstStyle/>
          <a:p>
            <a:pPr indent="0" marL="0">
              <a:buNone/>
            </a:pPr>
            <a:r>
              <a:rPr lang="en-US" sz="1200" b="1" spc="200" kern="0" dirty="0">
                <a:solidFill>
                  <a:schemeClr val="tx2"/>
                </a:solidFill>
              </a:rPr>
              <a:t>CORRECTIVE</a:t>
            </a:r>
            <a:endParaRPr lang="en-US" sz="1200" dirty="0"/>
          </a:p>
        </p:txBody>
      </p:sp>
      <p:sp>
        <p:nvSpPr>
          <p:cNvPr id="22" name="Text 17"/>
          <p:cNvSpPr txBox="1"/>
          <p:nvPr/>
        </p:nvSpPr>
        <p:spPr>
          <a:xfrm>
            <a:off x="5202936" y="2441448"/>
            <a:ext cx="2560320" cy="256032"/>
          </a:xfrm>
          <a:prstGeom prst="rect">
            <a:avLst/>
          </a:prstGeom>
          <a:noFill/>
          <a:ln/>
        </p:spPr>
        <p:txBody>
          <a:bodyPr wrap="square" lIns="0" tIns="0" rIns="0" bIns="0" rtlCol="0" anchor="ctr"/>
          <a:lstStyle/>
          <a:p>
            <a:pPr indent="0" marL="0">
              <a:buNone/>
            </a:pPr>
            <a:r>
              <a:rPr lang="en-US" sz="1100" dirty="0">
                <a:solidFill>
                  <a:schemeClr val="accent5"/>
                </a:solidFill>
              </a:rPr>
              <a:t>Réparer vite</a:t>
            </a:r>
            <a:endParaRPr lang="en-US" sz="1100" dirty="0"/>
          </a:p>
        </p:txBody>
      </p:sp>
      <p:sp>
        <p:nvSpPr>
          <p:cNvPr id="23" name="Shape 18"/>
          <p:cNvSpPr/>
          <p:nvPr/>
        </p:nvSpPr>
        <p:spPr>
          <a:xfrm>
            <a:off x="4517136" y="3035808"/>
            <a:ext cx="128016" cy="128016"/>
          </a:xfrm>
          <a:prstGeom prst="ellipse">
            <a:avLst/>
          </a:prstGeom>
          <a:solidFill>
            <a:schemeClr val="accent2"/>
          </a:solidFill>
          <a:ln/>
        </p:spPr>
      </p:sp>
      <p:sp>
        <p:nvSpPr>
          <p:cNvPr id="24" name="Text 19"/>
          <p:cNvSpPr txBox="1"/>
          <p:nvPr/>
        </p:nvSpPr>
        <p:spPr>
          <a:xfrm>
            <a:off x="4773168" y="2971800"/>
            <a:ext cx="2944368" cy="530352"/>
          </a:xfrm>
          <a:prstGeom prst="rect">
            <a:avLst/>
          </a:prstGeom>
          <a:noFill/>
          <a:ln/>
        </p:spPr>
        <p:txBody>
          <a:bodyPr wrap="square" lIns="0" tIns="0" rIns="0" bIns="0" rtlCol="0" anchor="t"/>
          <a:lstStyle/>
          <a:p>
            <a:pPr indent="0" marL="0">
              <a:buNone/>
            </a:pPr>
            <a:r>
              <a:rPr lang="en-US" sz="1200" dirty="0">
                <a:solidFill>
                  <a:schemeClr val="tx1"/>
                </a:solidFill>
              </a:rPr>
              <a:t>Signalement habitant ou agent</a:t>
            </a:r>
            <a:endParaRPr lang="en-US" sz="1200" dirty="0"/>
          </a:p>
        </p:txBody>
      </p:sp>
      <p:sp>
        <p:nvSpPr>
          <p:cNvPr id="25" name="Shape 20"/>
          <p:cNvSpPr/>
          <p:nvPr/>
        </p:nvSpPr>
        <p:spPr>
          <a:xfrm>
            <a:off x="4517136" y="3602736"/>
            <a:ext cx="128016" cy="128016"/>
          </a:xfrm>
          <a:prstGeom prst="ellipse">
            <a:avLst/>
          </a:prstGeom>
          <a:solidFill>
            <a:schemeClr val="accent2"/>
          </a:solidFill>
          <a:ln/>
        </p:spPr>
      </p:sp>
      <p:sp>
        <p:nvSpPr>
          <p:cNvPr id="26" name="Text 21"/>
          <p:cNvSpPr txBox="1"/>
          <p:nvPr/>
        </p:nvSpPr>
        <p:spPr>
          <a:xfrm>
            <a:off x="4773168" y="3538728"/>
            <a:ext cx="2944368" cy="530352"/>
          </a:xfrm>
          <a:prstGeom prst="rect">
            <a:avLst/>
          </a:prstGeom>
          <a:noFill/>
          <a:ln/>
        </p:spPr>
        <p:txBody>
          <a:bodyPr wrap="square" lIns="0" tIns="0" rIns="0" bIns="0" rtlCol="0" anchor="t"/>
          <a:lstStyle/>
          <a:p>
            <a:pPr indent="0" marL="0">
              <a:buNone/>
            </a:pPr>
            <a:r>
              <a:rPr lang="en-US" sz="1200" dirty="0">
                <a:solidFill>
                  <a:schemeClr val="tx1"/>
                </a:solidFill>
              </a:rPr>
              <a:t>Priorité selon l'impact (eau avant lampe)</a:t>
            </a:r>
            <a:endParaRPr lang="en-US" sz="1200" dirty="0"/>
          </a:p>
        </p:txBody>
      </p:sp>
      <p:sp>
        <p:nvSpPr>
          <p:cNvPr id="27" name="Shape 22"/>
          <p:cNvSpPr/>
          <p:nvPr/>
        </p:nvSpPr>
        <p:spPr>
          <a:xfrm>
            <a:off x="4517136" y="4169664"/>
            <a:ext cx="128016" cy="128016"/>
          </a:xfrm>
          <a:prstGeom prst="ellipse">
            <a:avLst/>
          </a:prstGeom>
          <a:solidFill>
            <a:schemeClr val="accent2"/>
          </a:solidFill>
          <a:ln/>
        </p:spPr>
      </p:sp>
      <p:sp>
        <p:nvSpPr>
          <p:cNvPr id="28" name="Text 23"/>
          <p:cNvSpPr txBox="1"/>
          <p:nvPr/>
        </p:nvSpPr>
        <p:spPr>
          <a:xfrm>
            <a:off x="4773168" y="4105656"/>
            <a:ext cx="2944368" cy="530352"/>
          </a:xfrm>
          <a:prstGeom prst="rect">
            <a:avLst/>
          </a:prstGeom>
          <a:noFill/>
          <a:ln/>
        </p:spPr>
        <p:txBody>
          <a:bodyPr wrap="square" lIns="0" tIns="0" rIns="0" bIns="0" rtlCol="0" anchor="t"/>
          <a:lstStyle/>
          <a:p>
            <a:pPr indent="0" marL="0">
              <a:buNone/>
            </a:pPr>
            <a:r>
              <a:rPr lang="en-US" sz="1200" dirty="0">
                <a:solidFill>
                  <a:schemeClr val="tx1"/>
                </a:solidFill>
              </a:rPr>
              <a:t>Affectation, pièces, délai suivi</a:t>
            </a:r>
            <a:endParaRPr lang="en-US" sz="1200" dirty="0"/>
          </a:p>
        </p:txBody>
      </p:sp>
      <p:sp>
        <p:nvSpPr>
          <p:cNvPr id="29" name="Shape 24"/>
          <p:cNvSpPr/>
          <p:nvPr/>
        </p:nvSpPr>
        <p:spPr>
          <a:xfrm>
            <a:off x="4517136" y="4736592"/>
            <a:ext cx="128016" cy="128016"/>
          </a:xfrm>
          <a:prstGeom prst="ellipse">
            <a:avLst/>
          </a:prstGeom>
          <a:solidFill>
            <a:schemeClr val="accent2"/>
          </a:solidFill>
          <a:ln/>
        </p:spPr>
      </p:sp>
      <p:sp>
        <p:nvSpPr>
          <p:cNvPr id="30" name="Text 25"/>
          <p:cNvSpPr txBox="1"/>
          <p:nvPr/>
        </p:nvSpPr>
        <p:spPr>
          <a:xfrm>
            <a:off x="4773168" y="4672584"/>
            <a:ext cx="2944368" cy="530352"/>
          </a:xfrm>
          <a:prstGeom prst="rect">
            <a:avLst/>
          </a:prstGeom>
          <a:noFill/>
          <a:ln/>
        </p:spPr>
        <p:txBody>
          <a:bodyPr wrap="square" lIns="0" tIns="0" rIns="0" bIns="0" rtlCol="0" anchor="t"/>
          <a:lstStyle/>
          <a:p>
            <a:pPr indent="0" marL="0">
              <a:buNone/>
            </a:pPr>
            <a:r>
              <a:rPr lang="en-US" sz="1200" dirty="0">
                <a:solidFill>
                  <a:schemeClr val="tx1"/>
                </a:solidFill>
              </a:rPr>
              <a:t>Clôture avec preuve et retour</a:t>
            </a:r>
            <a:endParaRPr lang="en-US" sz="1200" dirty="0"/>
          </a:p>
        </p:txBody>
      </p:sp>
      <p:sp>
        <p:nvSpPr>
          <p:cNvPr id="31" name="Maintenance PRÉDICTIVE"/>
          <p:cNvSpPr/>
          <p:nvPr/>
        </p:nvSpPr>
        <p:spPr>
          <a:xfrm>
            <a:off x="8028432" y="1965960"/>
            <a:ext cx="3611880" cy="3520440"/>
          </a:xfrm>
          <a:prstGeom prst="roundRect">
            <a:avLst>
              <a:gd name="adj" fmla="val 3117"/>
            </a:avLst>
          </a:prstGeom>
          <a:solidFill>
            <a:schemeClr val="bg2"/>
          </a:solidFill>
          <a:ln/>
        </p:spPr>
      </p:sp>
      <p:sp>
        <p:nvSpPr>
          <p:cNvPr id="32" name="Shape 27"/>
          <p:cNvSpPr/>
          <p:nvPr/>
        </p:nvSpPr>
        <p:spPr>
          <a:xfrm>
            <a:off x="8257032" y="2148840"/>
            <a:ext cx="548640" cy="548640"/>
          </a:xfrm>
          <a:prstGeom prst="ellipse">
            <a:avLst/>
          </a:prstGeom>
          <a:solidFill>
            <a:schemeClr val="accent1"/>
          </a:solidFill>
          <a:ln/>
        </p:spPr>
      </p:sp>
      <p:pic>
        <p:nvPicPr>
          <p:cNvPr id="33" name="Image 2" descr="preencoded.png">    </p:cNvPr>
          <p:cNvPicPr>
            <a:picLocks noChangeAspect="1"/>
          </p:cNvPicPr>
          <p:nvPr/>
        </p:nvPicPr>
        <p:blipFill>
          <a:blip r:embed="rId3"/>
          <a:stretch>
            <a:fillRect/>
          </a:stretch>
        </p:blipFill>
        <p:spPr>
          <a:xfrm>
            <a:off x="8405165" y="2296973"/>
            <a:ext cx="252374" cy="252374"/>
          </a:xfrm>
          <a:prstGeom prst="rect">
            <a:avLst/>
          </a:prstGeom>
        </p:spPr>
      </p:pic>
      <p:sp>
        <p:nvSpPr>
          <p:cNvPr id="34" name="Text 28"/>
          <p:cNvSpPr txBox="1"/>
          <p:nvPr/>
        </p:nvSpPr>
        <p:spPr>
          <a:xfrm>
            <a:off x="8942832" y="2148840"/>
            <a:ext cx="2560320" cy="274320"/>
          </a:xfrm>
          <a:prstGeom prst="rect">
            <a:avLst/>
          </a:prstGeom>
          <a:noFill/>
          <a:ln/>
        </p:spPr>
        <p:txBody>
          <a:bodyPr wrap="square" lIns="0" tIns="0" rIns="0" bIns="0" rtlCol="0" anchor="ctr"/>
          <a:lstStyle/>
          <a:p>
            <a:pPr indent="0" marL="0">
              <a:buNone/>
            </a:pPr>
            <a:r>
              <a:rPr lang="en-US" sz="1200" b="1" spc="200" kern="0" dirty="0">
                <a:solidFill>
                  <a:schemeClr val="tx2"/>
                </a:solidFill>
              </a:rPr>
              <a:t>PRÉDICTIVE</a:t>
            </a:r>
            <a:endParaRPr lang="en-US" sz="1200" dirty="0"/>
          </a:p>
        </p:txBody>
      </p:sp>
      <p:sp>
        <p:nvSpPr>
          <p:cNvPr id="35" name="Text 29"/>
          <p:cNvSpPr txBox="1"/>
          <p:nvPr/>
        </p:nvSpPr>
        <p:spPr>
          <a:xfrm>
            <a:off x="8942832" y="2441448"/>
            <a:ext cx="2560320" cy="256032"/>
          </a:xfrm>
          <a:prstGeom prst="rect">
            <a:avLst/>
          </a:prstGeom>
          <a:noFill/>
          <a:ln/>
        </p:spPr>
        <p:txBody>
          <a:bodyPr wrap="square" lIns="0" tIns="0" rIns="0" bIns="0" rtlCol="0" anchor="ctr"/>
          <a:lstStyle/>
          <a:p>
            <a:pPr indent="0" marL="0">
              <a:buNone/>
            </a:pPr>
            <a:r>
              <a:rPr lang="en-US" sz="1100" dirty="0">
                <a:solidFill>
                  <a:schemeClr val="accent5"/>
                </a:solidFill>
              </a:rPr>
              <a:t>Anticiper</a:t>
            </a:r>
            <a:endParaRPr lang="en-US" sz="1100" dirty="0"/>
          </a:p>
        </p:txBody>
      </p:sp>
      <p:sp>
        <p:nvSpPr>
          <p:cNvPr id="36" name="Shape 30"/>
          <p:cNvSpPr/>
          <p:nvPr/>
        </p:nvSpPr>
        <p:spPr>
          <a:xfrm>
            <a:off x="8257032" y="3035808"/>
            <a:ext cx="128016" cy="128016"/>
          </a:xfrm>
          <a:prstGeom prst="ellipse">
            <a:avLst/>
          </a:prstGeom>
          <a:solidFill>
            <a:schemeClr val="accent2"/>
          </a:solidFill>
          <a:ln/>
        </p:spPr>
      </p:sp>
      <p:sp>
        <p:nvSpPr>
          <p:cNvPr id="37" name="Text 31"/>
          <p:cNvSpPr txBox="1"/>
          <p:nvPr/>
        </p:nvSpPr>
        <p:spPr>
          <a:xfrm>
            <a:off x="8513064" y="2971800"/>
            <a:ext cx="2944368" cy="530352"/>
          </a:xfrm>
          <a:prstGeom prst="rect">
            <a:avLst/>
          </a:prstGeom>
          <a:noFill/>
          <a:ln/>
        </p:spPr>
        <p:txBody>
          <a:bodyPr wrap="square" lIns="0" tIns="0" rIns="0" bIns="0" rtlCol="0" anchor="t"/>
          <a:lstStyle/>
          <a:p>
            <a:pPr indent="0" marL="0">
              <a:buNone/>
            </a:pPr>
            <a:r>
              <a:rPr lang="en-US" sz="1200" dirty="0">
                <a:solidFill>
                  <a:schemeClr val="tx1"/>
                </a:solidFill>
              </a:rPr>
              <a:t>Tendances des capteurs</a:t>
            </a:r>
            <a:endParaRPr lang="en-US" sz="1200" dirty="0"/>
          </a:p>
        </p:txBody>
      </p:sp>
      <p:sp>
        <p:nvSpPr>
          <p:cNvPr id="38" name="Shape 32"/>
          <p:cNvSpPr/>
          <p:nvPr/>
        </p:nvSpPr>
        <p:spPr>
          <a:xfrm>
            <a:off x="8257032" y="3602736"/>
            <a:ext cx="128016" cy="128016"/>
          </a:xfrm>
          <a:prstGeom prst="ellipse">
            <a:avLst/>
          </a:prstGeom>
          <a:solidFill>
            <a:schemeClr val="accent2"/>
          </a:solidFill>
          <a:ln/>
        </p:spPr>
      </p:sp>
      <p:sp>
        <p:nvSpPr>
          <p:cNvPr id="39" name="Text 33"/>
          <p:cNvSpPr txBox="1"/>
          <p:nvPr/>
        </p:nvSpPr>
        <p:spPr>
          <a:xfrm>
            <a:off x="8513064" y="3538728"/>
            <a:ext cx="2944368" cy="530352"/>
          </a:xfrm>
          <a:prstGeom prst="rect">
            <a:avLst/>
          </a:prstGeom>
          <a:noFill/>
          <a:ln/>
        </p:spPr>
        <p:txBody>
          <a:bodyPr wrap="square" lIns="0" tIns="0" rIns="0" bIns="0" rtlCol="0" anchor="t"/>
          <a:lstStyle/>
          <a:p>
            <a:pPr indent="0" marL="0">
              <a:buNone/>
            </a:pPr>
            <a:r>
              <a:rPr lang="en-US" sz="1200" dirty="0">
                <a:solidFill>
                  <a:schemeClr val="tx1"/>
                </a:solidFill>
              </a:rPr>
              <a:t>Âge des pièces et pannes passées</a:t>
            </a:r>
            <a:endParaRPr lang="en-US" sz="1200" dirty="0"/>
          </a:p>
        </p:txBody>
      </p:sp>
      <p:sp>
        <p:nvSpPr>
          <p:cNvPr id="40" name="Shape 34"/>
          <p:cNvSpPr/>
          <p:nvPr/>
        </p:nvSpPr>
        <p:spPr>
          <a:xfrm>
            <a:off x="8257032" y="4169664"/>
            <a:ext cx="128016" cy="128016"/>
          </a:xfrm>
          <a:prstGeom prst="ellipse">
            <a:avLst/>
          </a:prstGeom>
          <a:solidFill>
            <a:schemeClr val="accent2"/>
          </a:solidFill>
          <a:ln/>
        </p:spPr>
      </p:sp>
      <p:sp>
        <p:nvSpPr>
          <p:cNvPr id="41" name="Text 35"/>
          <p:cNvSpPr txBox="1"/>
          <p:nvPr/>
        </p:nvSpPr>
        <p:spPr>
          <a:xfrm>
            <a:off x="8513064" y="4105656"/>
            <a:ext cx="2944368" cy="530352"/>
          </a:xfrm>
          <a:prstGeom prst="rect">
            <a:avLst/>
          </a:prstGeom>
          <a:noFill/>
          <a:ln/>
        </p:spPr>
        <p:txBody>
          <a:bodyPr wrap="square" lIns="0" tIns="0" rIns="0" bIns="0" rtlCol="0" anchor="t"/>
          <a:lstStyle/>
          <a:p>
            <a:pPr indent="0" marL="0">
              <a:buNone/>
            </a:pPr>
            <a:r>
              <a:rPr lang="en-US" sz="1200" dirty="0">
                <a:solidFill>
                  <a:schemeClr val="tx1"/>
                </a:solidFill>
              </a:rPr>
              <a:t>Alertes avant la rupture</a:t>
            </a:r>
            <a:endParaRPr lang="en-US" sz="1200" dirty="0"/>
          </a:p>
        </p:txBody>
      </p:sp>
      <p:sp>
        <p:nvSpPr>
          <p:cNvPr id="42" name="Shape 36"/>
          <p:cNvSpPr/>
          <p:nvPr/>
        </p:nvSpPr>
        <p:spPr>
          <a:xfrm>
            <a:off x="8257032" y="4736592"/>
            <a:ext cx="128016" cy="128016"/>
          </a:xfrm>
          <a:prstGeom prst="ellipse">
            <a:avLst/>
          </a:prstGeom>
          <a:solidFill>
            <a:schemeClr val="accent2"/>
          </a:solidFill>
          <a:ln/>
        </p:spPr>
      </p:sp>
      <p:sp>
        <p:nvSpPr>
          <p:cNvPr id="43" name="Text 37"/>
          <p:cNvSpPr txBox="1"/>
          <p:nvPr/>
        </p:nvSpPr>
        <p:spPr>
          <a:xfrm>
            <a:off x="8513064" y="4672584"/>
            <a:ext cx="2944368" cy="530352"/>
          </a:xfrm>
          <a:prstGeom prst="rect">
            <a:avLst/>
          </a:prstGeom>
          <a:noFill/>
          <a:ln/>
        </p:spPr>
        <p:txBody>
          <a:bodyPr wrap="square" lIns="0" tIns="0" rIns="0" bIns="0" rtlCol="0" anchor="t"/>
          <a:lstStyle/>
          <a:p>
            <a:pPr indent="0" marL="0">
              <a:buNone/>
            </a:pPr>
            <a:r>
              <a:rPr lang="en-US" sz="1200" dirty="0">
                <a:solidFill>
                  <a:schemeClr val="tx1"/>
                </a:solidFill>
              </a:rPr>
              <a:t>Budget de renouvellement prévu</a:t>
            </a:r>
            <a:endParaRPr lang="en-US" sz="1200" dirty="0"/>
          </a:p>
        </p:txBody>
      </p:sp>
      <p:sp>
        <p:nvSpPr>
          <p:cNvPr id="44" name="Bandeau preuve"/>
          <p:cNvSpPr/>
          <p:nvPr/>
        </p:nvSpPr>
        <p:spPr>
          <a:xfrm>
            <a:off x="548640" y="5577840"/>
            <a:ext cx="11091672" cy="457200"/>
          </a:xfrm>
          <a:prstGeom prst="roundRect">
            <a:avLst>
              <a:gd name="adj" fmla="val 24000"/>
            </a:avLst>
          </a:prstGeom>
          <a:solidFill>
            <a:schemeClr val="accent2"/>
          </a:solidFill>
          <a:ln/>
        </p:spPr>
      </p:sp>
      <p:sp>
        <p:nvSpPr>
          <p:cNvPr id="45" name="Text 39"/>
          <p:cNvSpPr txBox="1"/>
          <p:nvPr/>
        </p:nvSpPr>
        <p:spPr>
          <a:xfrm>
            <a:off x="822960" y="5577840"/>
            <a:ext cx="10607040" cy="457200"/>
          </a:xfrm>
          <a:prstGeom prst="rect">
            <a:avLst/>
          </a:prstGeom>
          <a:noFill/>
          <a:ln/>
        </p:spPr>
        <p:txBody>
          <a:bodyPr wrap="square" lIns="0" tIns="0" rIns="0" bIns="0" rtlCol="0" anchor="ctr"/>
          <a:lstStyle/>
          <a:p>
            <a:pPr indent="0" marL="0">
              <a:buNone/>
            </a:pPr>
            <a:r>
              <a:rPr lang="en-US" sz="1300" b="1" dirty="0">
                <a:solidFill>
                  <a:schemeClr val="tx2"/>
                </a:solidFill>
              </a:rPr>
              <a:t>Chaque intervention laisse une preuve : qui, quand, où, quelles pièces.</a:t>
            </a:r>
            <a:endParaRPr lang="en-US" sz="1300" dirty="0"/>
          </a:p>
        </p:txBody>
      </p:sp>
      <p:sp>
        <p:nvSpPr>
          <p:cNvPr id="46" name="Text 40"/>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25 et 41. Niveaux et plans : conception de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DU SIGNALEMENT À LA RÉPARATION</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Du scan d'un habitant à la preuve de réparation</a:t>
            </a:r>
            <a:endParaRPr lang="en-US" sz="2800" dirty="0"/>
          </a:p>
        </p:txBody>
      </p:sp>
      <p:sp>
        <p:nvSpPr>
          <p:cNvPr id="5" name="Étape 1"/>
          <p:cNvSpPr/>
          <p:nvPr/>
        </p:nvSpPr>
        <p:spPr>
          <a:xfrm>
            <a:off x="548640" y="2103120"/>
            <a:ext cx="1737360" cy="2377440"/>
          </a:xfrm>
          <a:prstGeom prst="roundRect">
            <a:avLst>
              <a:gd name="adj" fmla="val 6316"/>
            </a:avLst>
          </a:prstGeom>
          <a:solidFill>
            <a:schemeClr val="bg2"/>
          </a:solidFill>
          <a:ln/>
        </p:spPr>
      </p:sp>
      <p:sp>
        <p:nvSpPr>
          <p:cNvPr id="6" name="Shape 3"/>
          <p:cNvSpPr/>
          <p:nvPr/>
        </p:nvSpPr>
        <p:spPr>
          <a:xfrm>
            <a:off x="1143000" y="1920240"/>
            <a:ext cx="548640" cy="548640"/>
          </a:xfrm>
          <a:prstGeom prst="ellipse">
            <a:avLst/>
          </a:prstGeom>
          <a:solidFill>
            <a:schemeClr val="accent2"/>
          </a:solidFill>
          <a:ln/>
        </p:spPr>
      </p:sp>
      <p:sp>
        <p:nvSpPr>
          <p:cNvPr id="7" name="Text 4"/>
          <p:cNvSpPr txBox="1"/>
          <p:nvPr/>
        </p:nvSpPr>
        <p:spPr>
          <a:xfrm>
            <a:off x="1143000" y="1920240"/>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8" name="Shape 5"/>
          <p:cNvSpPr/>
          <p:nvPr/>
        </p:nvSpPr>
        <p:spPr>
          <a:xfrm>
            <a:off x="1143000" y="2606040"/>
            <a:ext cx="548640" cy="548640"/>
          </a:xfrm>
          <a:prstGeom prst="ellipse">
            <a:avLst/>
          </a:prstGeom>
          <a:solidFill>
            <a:schemeClr val="accent1"/>
          </a:solidFill>
          <a:ln/>
        </p:spPr>
      </p:sp>
      <p:pic>
        <p:nvPicPr>
          <p:cNvPr id="9" name="Image 0" descr="preencoded.png">    </p:cNvPr>
          <p:cNvPicPr>
            <a:picLocks noChangeAspect="1"/>
          </p:cNvPicPr>
          <p:nvPr/>
        </p:nvPicPr>
        <p:blipFill>
          <a:blip r:embed="rId1"/>
          <a:stretch>
            <a:fillRect/>
          </a:stretch>
        </p:blipFill>
        <p:spPr>
          <a:xfrm>
            <a:off x="1291133" y="2754173"/>
            <a:ext cx="252374" cy="252374"/>
          </a:xfrm>
          <a:prstGeom prst="rect">
            <a:avLst/>
          </a:prstGeom>
        </p:spPr>
      </p:pic>
      <p:sp>
        <p:nvSpPr>
          <p:cNvPr id="10" name="Text 6"/>
          <p:cNvSpPr txBox="1"/>
          <p:nvPr/>
        </p:nvSpPr>
        <p:spPr>
          <a:xfrm>
            <a:off x="640080" y="3246120"/>
            <a:ext cx="1554480" cy="320040"/>
          </a:xfrm>
          <a:prstGeom prst="rect">
            <a:avLst/>
          </a:prstGeom>
          <a:noFill/>
          <a:ln/>
        </p:spPr>
        <p:txBody>
          <a:bodyPr wrap="square" lIns="0" tIns="0" rIns="0" bIns="0" rtlCol="0" anchor="ctr"/>
          <a:lstStyle/>
          <a:p>
            <a:pPr algn="ctr" indent="0" marL="0">
              <a:buNone/>
            </a:pPr>
            <a:r>
              <a:rPr lang="en-US" sz="1300" b="1" dirty="0">
                <a:solidFill>
                  <a:schemeClr val="tx2"/>
                </a:solidFill>
              </a:rPr>
              <a:t>Scan</a:t>
            </a:r>
            <a:endParaRPr lang="en-US" sz="1300" dirty="0"/>
          </a:p>
        </p:txBody>
      </p:sp>
      <p:sp>
        <p:nvSpPr>
          <p:cNvPr id="11" name="Text 7"/>
          <p:cNvSpPr txBox="1"/>
          <p:nvPr/>
        </p:nvSpPr>
        <p:spPr>
          <a:xfrm>
            <a:off x="685800" y="3611880"/>
            <a:ext cx="1463040" cy="822960"/>
          </a:xfrm>
          <a:prstGeom prst="rect">
            <a:avLst/>
          </a:prstGeom>
          <a:noFill/>
          <a:ln/>
        </p:spPr>
        <p:txBody>
          <a:bodyPr wrap="square" lIns="0" tIns="0" rIns="0" bIns="0" rtlCol="0" anchor="t"/>
          <a:lstStyle/>
          <a:p>
            <a:pPr algn="ctr" indent="0" marL="0">
              <a:buNone/>
            </a:pPr>
            <a:r>
              <a:rPr lang="en-US" sz="1100" dirty="0">
                <a:solidFill>
                  <a:schemeClr val="tx1"/>
                </a:solidFill>
              </a:rPr>
              <a:t>L'habitant scanne la plaque ou envoie un SMS</a:t>
            </a:r>
            <a:endParaRPr lang="en-US" sz="1100" dirty="0"/>
          </a:p>
        </p:txBody>
      </p:sp>
      <p:sp>
        <p:nvSpPr>
          <p:cNvPr id="12" name="Shape 8"/>
          <p:cNvSpPr/>
          <p:nvPr/>
        </p:nvSpPr>
        <p:spPr>
          <a:xfrm>
            <a:off x="2295144" y="3108960"/>
            <a:ext cx="128016" cy="237744"/>
          </a:xfrm>
          <a:prstGeom prst="rightArrow">
            <a:avLst/>
          </a:prstGeom>
          <a:solidFill>
            <a:schemeClr val="accent2"/>
          </a:solidFill>
          <a:ln/>
        </p:spPr>
      </p:sp>
      <p:sp>
        <p:nvSpPr>
          <p:cNvPr id="13" name="Étape 2"/>
          <p:cNvSpPr/>
          <p:nvPr/>
        </p:nvSpPr>
        <p:spPr>
          <a:xfrm>
            <a:off x="2414016" y="2103120"/>
            <a:ext cx="1737360" cy="2377440"/>
          </a:xfrm>
          <a:prstGeom prst="roundRect">
            <a:avLst>
              <a:gd name="adj" fmla="val 6316"/>
            </a:avLst>
          </a:prstGeom>
          <a:solidFill>
            <a:schemeClr val="bg2"/>
          </a:solidFill>
          <a:ln/>
        </p:spPr>
      </p:sp>
      <p:sp>
        <p:nvSpPr>
          <p:cNvPr id="14" name="Shape 10"/>
          <p:cNvSpPr/>
          <p:nvPr/>
        </p:nvSpPr>
        <p:spPr>
          <a:xfrm>
            <a:off x="3008376" y="1920240"/>
            <a:ext cx="548640" cy="548640"/>
          </a:xfrm>
          <a:prstGeom prst="ellipse">
            <a:avLst/>
          </a:prstGeom>
          <a:solidFill>
            <a:schemeClr val="accent2"/>
          </a:solidFill>
          <a:ln/>
        </p:spPr>
      </p:sp>
      <p:sp>
        <p:nvSpPr>
          <p:cNvPr id="15" name="Text 11"/>
          <p:cNvSpPr txBox="1"/>
          <p:nvPr/>
        </p:nvSpPr>
        <p:spPr>
          <a:xfrm>
            <a:off x="3008376" y="1920240"/>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rPr>
              <a:t>2</a:t>
            </a:r>
            <a:endParaRPr lang="en-US" sz="1800" dirty="0"/>
          </a:p>
        </p:txBody>
      </p:sp>
      <p:sp>
        <p:nvSpPr>
          <p:cNvPr id="16" name="Shape 12"/>
          <p:cNvSpPr/>
          <p:nvPr/>
        </p:nvSpPr>
        <p:spPr>
          <a:xfrm>
            <a:off x="3008376" y="2606040"/>
            <a:ext cx="548640" cy="548640"/>
          </a:xfrm>
          <a:prstGeom prst="ellipse">
            <a:avLst/>
          </a:prstGeom>
          <a:solidFill>
            <a:schemeClr val="accent1"/>
          </a:solidFill>
          <a:ln/>
        </p:spPr>
      </p:sp>
      <p:pic>
        <p:nvPicPr>
          <p:cNvPr id="17" name="Image 1" descr="preencoded.png">    </p:cNvPr>
          <p:cNvPicPr>
            <a:picLocks noChangeAspect="1"/>
          </p:cNvPicPr>
          <p:nvPr/>
        </p:nvPicPr>
        <p:blipFill>
          <a:blip r:embed="rId2"/>
          <a:stretch>
            <a:fillRect/>
          </a:stretch>
        </p:blipFill>
        <p:spPr>
          <a:xfrm>
            <a:off x="3156509" y="2754173"/>
            <a:ext cx="252374" cy="252374"/>
          </a:xfrm>
          <a:prstGeom prst="rect">
            <a:avLst/>
          </a:prstGeom>
        </p:spPr>
      </p:pic>
      <p:sp>
        <p:nvSpPr>
          <p:cNvPr id="18" name="Text 13"/>
          <p:cNvSpPr txBox="1"/>
          <p:nvPr/>
        </p:nvSpPr>
        <p:spPr>
          <a:xfrm>
            <a:off x="2505456" y="3246120"/>
            <a:ext cx="1554480" cy="320040"/>
          </a:xfrm>
          <a:prstGeom prst="rect">
            <a:avLst/>
          </a:prstGeom>
          <a:noFill/>
          <a:ln/>
        </p:spPr>
        <p:txBody>
          <a:bodyPr wrap="square" lIns="0" tIns="0" rIns="0" bIns="0" rtlCol="0" anchor="ctr"/>
          <a:lstStyle/>
          <a:p>
            <a:pPr algn="ctr" indent="0" marL="0">
              <a:buNone/>
            </a:pPr>
            <a:r>
              <a:rPr lang="en-US" sz="1300" b="1" dirty="0">
                <a:solidFill>
                  <a:schemeClr val="tx2"/>
                </a:solidFill>
              </a:rPr>
              <a:t>Ticket</a:t>
            </a:r>
            <a:endParaRPr lang="en-US" sz="1300" dirty="0"/>
          </a:p>
        </p:txBody>
      </p:sp>
      <p:sp>
        <p:nvSpPr>
          <p:cNvPr id="19" name="Text 14"/>
          <p:cNvSpPr txBox="1"/>
          <p:nvPr/>
        </p:nvSpPr>
        <p:spPr>
          <a:xfrm>
            <a:off x="2551176" y="3611880"/>
            <a:ext cx="1463040" cy="822960"/>
          </a:xfrm>
          <a:prstGeom prst="rect">
            <a:avLst/>
          </a:prstGeom>
          <a:noFill/>
          <a:ln/>
        </p:spPr>
        <p:txBody>
          <a:bodyPr wrap="square" lIns="0" tIns="0" rIns="0" bIns="0" rtlCol="0" anchor="t"/>
          <a:lstStyle/>
          <a:p>
            <a:pPr algn="ctr" indent="0" marL="0">
              <a:buNone/>
            </a:pPr>
            <a:r>
              <a:rPr lang="en-US" sz="1100" dirty="0">
                <a:solidFill>
                  <a:schemeClr val="tx1"/>
                </a:solidFill>
              </a:rPr>
              <a:t>Position, photo, description créées</a:t>
            </a:r>
            <a:endParaRPr lang="en-US" sz="1100" dirty="0"/>
          </a:p>
        </p:txBody>
      </p:sp>
      <p:sp>
        <p:nvSpPr>
          <p:cNvPr id="20" name="Shape 15"/>
          <p:cNvSpPr/>
          <p:nvPr/>
        </p:nvSpPr>
        <p:spPr>
          <a:xfrm>
            <a:off x="4160520" y="3108960"/>
            <a:ext cx="128016" cy="237744"/>
          </a:xfrm>
          <a:prstGeom prst="rightArrow">
            <a:avLst/>
          </a:prstGeom>
          <a:solidFill>
            <a:schemeClr val="accent2"/>
          </a:solidFill>
          <a:ln/>
        </p:spPr>
      </p:sp>
      <p:sp>
        <p:nvSpPr>
          <p:cNvPr id="21" name="Étape 3"/>
          <p:cNvSpPr/>
          <p:nvPr/>
        </p:nvSpPr>
        <p:spPr>
          <a:xfrm>
            <a:off x="4279392" y="2103120"/>
            <a:ext cx="1737360" cy="2377440"/>
          </a:xfrm>
          <a:prstGeom prst="roundRect">
            <a:avLst>
              <a:gd name="adj" fmla="val 6316"/>
            </a:avLst>
          </a:prstGeom>
          <a:solidFill>
            <a:schemeClr val="bg2"/>
          </a:solidFill>
          <a:ln/>
        </p:spPr>
      </p:sp>
      <p:sp>
        <p:nvSpPr>
          <p:cNvPr id="22" name="Shape 17"/>
          <p:cNvSpPr/>
          <p:nvPr/>
        </p:nvSpPr>
        <p:spPr>
          <a:xfrm>
            <a:off x="4873752" y="1920240"/>
            <a:ext cx="548640" cy="548640"/>
          </a:xfrm>
          <a:prstGeom prst="ellipse">
            <a:avLst/>
          </a:prstGeom>
          <a:solidFill>
            <a:schemeClr val="accent2"/>
          </a:solidFill>
          <a:ln/>
        </p:spPr>
      </p:sp>
      <p:sp>
        <p:nvSpPr>
          <p:cNvPr id="23" name="Text 18"/>
          <p:cNvSpPr txBox="1"/>
          <p:nvPr/>
        </p:nvSpPr>
        <p:spPr>
          <a:xfrm>
            <a:off x="4873752" y="1920240"/>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24" name="Shape 19"/>
          <p:cNvSpPr/>
          <p:nvPr/>
        </p:nvSpPr>
        <p:spPr>
          <a:xfrm>
            <a:off x="4873752" y="2606040"/>
            <a:ext cx="548640" cy="548640"/>
          </a:xfrm>
          <a:prstGeom prst="ellipse">
            <a:avLst/>
          </a:prstGeom>
          <a:solidFill>
            <a:schemeClr val="accent1"/>
          </a:solidFill>
          <a:ln/>
        </p:spPr>
      </p:sp>
      <p:pic>
        <p:nvPicPr>
          <p:cNvPr id="25" name="Image 2" descr="preencoded.png">    </p:cNvPr>
          <p:cNvPicPr>
            <a:picLocks noChangeAspect="1"/>
          </p:cNvPicPr>
          <p:nvPr/>
        </p:nvPicPr>
        <p:blipFill>
          <a:blip r:embed="rId3"/>
          <a:stretch>
            <a:fillRect/>
          </a:stretch>
        </p:blipFill>
        <p:spPr>
          <a:xfrm>
            <a:off x="5021885" y="2754173"/>
            <a:ext cx="252374" cy="252374"/>
          </a:xfrm>
          <a:prstGeom prst="rect">
            <a:avLst/>
          </a:prstGeom>
        </p:spPr>
      </p:pic>
      <p:sp>
        <p:nvSpPr>
          <p:cNvPr id="26" name="Text 20"/>
          <p:cNvSpPr txBox="1"/>
          <p:nvPr/>
        </p:nvSpPr>
        <p:spPr>
          <a:xfrm>
            <a:off x="4370832" y="3246120"/>
            <a:ext cx="1554480" cy="320040"/>
          </a:xfrm>
          <a:prstGeom prst="rect">
            <a:avLst/>
          </a:prstGeom>
          <a:noFill/>
          <a:ln/>
        </p:spPr>
        <p:txBody>
          <a:bodyPr wrap="square" lIns="0" tIns="0" rIns="0" bIns="0" rtlCol="0" anchor="ctr"/>
          <a:lstStyle/>
          <a:p>
            <a:pPr algn="ctr" indent="0" marL="0">
              <a:buNone/>
            </a:pPr>
            <a:r>
              <a:rPr lang="en-US" sz="1300" b="1" dirty="0">
                <a:solidFill>
                  <a:schemeClr val="tx2"/>
                </a:solidFill>
              </a:rPr>
              <a:t>Triage</a:t>
            </a:r>
            <a:endParaRPr lang="en-US" sz="1300" dirty="0"/>
          </a:p>
        </p:txBody>
      </p:sp>
      <p:sp>
        <p:nvSpPr>
          <p:cNvPr id="27" name="Text 21"/>
          <p:cNvSpPr txBox="1"/>
          <p:nvPr/>
        </p:nvSpPr>
        <p:spPr>
          <a:xfrm>
            <a:off x="4416552" y="3611880"/>
            <a:ext cx="1463040" cy="822960"/>
          </a:xfrm>
          <a:prstGeom prst="rect">
            <a:avLst/>
          </a:prstGeom>
          <a:noFill/>
          <a:ln/>
        </p:spPr>
        <p:txBody>
          <a:bodyPr wrap="square" lIns="0" tIns="0" rIns="0" bIns="0" rtlCol="0" anchor="t"/>
          <a:lstStyle/>
          <a:p>
            <a:pPr algn="ctr" indent="0" marL="0">
              <a:buNone/>
            </a:pPr>
            <a:r>
              <a:rPr lang="en-US" sz="1100" dirty="0">
                <a:solidFill>
                  <a:schemeClr val="tx1"/>
                </a:solidFill>
              </a:rPr>
              <a:t>La commune fixe la priorité</a:t>
            </a:r>
            <a:endParaRPr lang="en-US" sz="1100" dirty="0"/>
          </a:p>
        </p:txBody>
      </p:sp>
      <p:sp>
        <p:nvSpPr>
          <p:cNvPr id="28" name="Shape 22"/>
          <p:cNvSpPr/>
          <p:nvPr/>
        </p:nvSpPr>
        <p:spPr>
          <a:xfrm>
            <a:off x="6025896" y="3108960"/>
            <a:ext cx="128016" cy="237744"/>
          </a:xfrm>
          <a:prstGeom prst="rightArrow">
            <a:avLst/>
          </a:prstGeom>
          <a:solidFill>
            <a:schemeClr val="accent2"/>
          </a:solidFill>
          <a:ln/>
        </p:spPr>
      </p:sp>
      <p:sp>
        <p:nvSpPr>
          <p:cNvPr id="29" name="Étape 4"/>
          <p:cNvSpPr/>
          <p:nvPr/>
        </p:nvSpPr>
        <p:spPr>
          <a:xfrm>
            <a:off x="6144768" y="2103120"/>
            <a:ext cx="1737360" cy="2377440"/>
          </a:xfrm>
          <a:prstGeom prst="roundRect">
            <a:avLst>
              <a:gd name="adj" fmla="val 6316"/>
            </a:avLst>
          </a:prstGeom>
          <a:solidFill>
            <a:schemeClr val="bg2"/>
          </a:solidFill>
          <a:ln/>
        </p:spPr>
      </p:sp>
      <p:sp>
        <p:nvSpPr>
          <p:cNvPr id="30" name="Shape 24"/>
          <p:cNvSpPr/>
          <p:nvPr/>
        </p:nvSpPr>
        <p:spPr>
          <a:xfrm>
            <a:off x="6739128" y="1920240"/>
            <a:ext cx="548640" cy="548640"/>
          </a:xfrm>
          <a:prstGeom prst="ellipse">
            <a:avLst/>
          </a:prstGeom>
          <a:solidFill>
            <a:schemeClr val="accent2"/>
          </a:solidFill>
          <a:ln/>
        </p:spPr>
      </p:sp>
      <p:sp>
        <p:nvSpPr>
          <p:cNvPr id="31" name="Text 25"/>
          <p:cNvSpPr txBox="1"/>
          <p:nvPr/>
        </p:nvSpPr>
        <p:spPr>
          <a:xfrm>
            <a:off x="6739128" y="1920240"/>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rPr>
              <a:t>4</a:t>
            </a:r>
            <a:endParaRPr lang="en-US" sz="1800" dirty="0"/>
          </a:p>
        </p:txBody>
      </p:sp>
      <p:sp>
        <p:nvSpPr>
          <p:cNvPr id="32" name="Shape 26"/>
          <p:cNvSpPr/>
          <p:nvPr/>
        </p:nvSpPr>
        <p:spPr>
          <a:xfrm>
            <a:off x="6739128" y="2606040"/>
            <a:ext cx="548640" cy="548640"/>
          </a:xfrm>
          <a:prstGeom prst="ellipse">
            <a:avLst/>
          </a:prstGeom>
          <a:solidFill>
            <a:schemeClr val="accent1"/>
          </a:solidFill>
          <a:ln/>
        </p:spPr>
      </p:sp>
      <p:pic>
        <p:nvPicPr>
          <p:cNvPr id="33" name="Image 3" descr="preencoded.png">    </p:cNvPr>
          <p:cNvPicPr>
            <a:picLocks noChangeAspect="1"/>
          </p:cNvPicPr>
          <p:nvPr/>
        </p:nvPicPr>
        <p:blipFill>
          <a:blip r:embed="rId4"/>
          <a:stretch>
            <a:fillRect/>
          </a:stretch>
        </p:blipFill>
        <p:spPr>
          <a:xfrm>
            <a:off x="6887261" y="2754173"/>
            <a:ext cx="252374" cy="252374"/>
          </a:xfrm>
          <a:prstGeom prst="rect">
            <a:avLst/>
          </a:prstGeom>
        </p:spPr>
      </p:pic>
      <p:sp>
        <p:nvSpPr>
          <p:cNvPr id="34" name="Text 27"/>
          <p:cNvSpPr txBox="1"/>
          <p:nvPr/>
        </p:nvSpPr>
        <p:spPr>
          <a:xfrm>
            <a:off x="6236208" y="3246120"/>
            <a:ext cx="1554480" cy="320040"/>
          </a:xfrm>
          <a:prstGeom prst="rect">
            <a:avLst/>
          </a:prstGeom>
          <a:noFill/>
          <a:ln/>
        </p:spPr>
        <p:txBody>
          <a:bodyPr wrap="square" lIns="0" tIns="0" rIns="0" bIns="0" rtlCol="0" anchor="ctr"/>
          <a:lstStyle/>
          <a:p>
            <a:pPr algn="ctr" indent="0" marL="0">
              <a:buNone/>
            </a:pPr>
            <a:r>
              <a:rPr lang="en-US" sz="1300" b="1" dirty="0">
                <a:solidFill>
                  <a:schemeClr val="tx2"/>
                </a:solidFill>
              </a:rPr>
              <a:t>Affectation</a:t>
            </a:r>
            <a:endParaRPr lang="en-US" sz="1300" dirty="0"/>
          </a:p>
        </p:txBody>
      </p:sp>
      <p:sp>
        <p:nvSpPr>
          <p:cNvPr id="35" name="Text 28"/>
          <p:cNvSpPr txBox="1"/>
          <p:nvPr/>
        </p:nvSpPr>
        <p:spPr>
          <a:xfrm>
            <a:off x="6281928" y="3611880"/>
            <a:ext cx="1463040" cy="822960"/>
          </a:xfrm>
          <a:prstGeom prst="rect">
            <a:avLst/>
          </a:prstGeom>
          <a:noFill/>
          <a:ln/>
        </p:spPr>
        <p:txBody>
          <a:bodyPr wrap="square" lIns="0" tIns="0" rIns="0" bIns="0" rtlCol="0" anchor="t"/>
          <a:lstStyle/>
          <a:p>
            <a:pPr algn="ctr" indent="0" marL="0">
              <a:buNone/>
            </a:pPr>
            <a:r>
              <a:rPr lang="en-US" sz="1100" dirty="0">
                <a:solidFill>
                  <a:schemeClr val="tx1"/>
                </a:solidFill>
              </a:rPr>
              <a:t>Technicien ou opérateur désigné</a:t>
            </a:r>
            <a:endParaRPr lang="en-US" sz="1100" dirty="0"/>
          </a:p>
        </p:txBody>
      </p:sp>
      <p:sp>
        <p:nvSpPr>
          <p:cNvPr id="36" name="Shape 29"/>
          <p:cNvSpPr/>
          <p:nvPr/>
        </p:nvSpPr>
        <p:spPr>
          <a:xfrm>
            <a:off x="7891272" y="3108960"/>
            <a:ext cx="128016" cy="237744"/>
          </a:xfrm>
          <a:prstGeom prst="rightArrow">
            <a:avLst/>
          </a:prstGeom>
          <a:solidFill>
            <a:schemeClr val="accent2"/>
          </a:solidFill>
          <a:ln/>
        </p:spPr>
      </p:sp>
      <p:sp>
        <p:nvSpPr>
          <p:cNvPr id="37" name="Étape 5"/>
          <p:cNvSpPr/>
          <p:nvPr/>
        </p:nvSpPr>
        <p:spPr>
          <a:xfrm>
            <a:off x="8010144" y="2103120"/>
            <a:ext cx="1737360" cy="2377440"/>
          </a:xfrm>
          <a:prstGeom prst="roundRect">
            <a:avLst>
              <a:gd name="adj" fmla="val 6316"/>
            </a:avLst>
          </a:prstGeom>
          <a:solidFill>
            <a:schemeClr val="bg2"/>
          </a:solidFill>
          <a:ln/>
        </p:spPr>
      </p:sp>
      <p:sp>
        <p:nvSpPr>
          <p:cNvPr id="38" name="Shape 31"/>
          <p:cNvSpPr/>
          <p:nvPr/>
        </p:nvSpPr>
        <p:spPr>
          <a:xfrm>
            <a:off x="8604504" y="1920240"/>
            <a:ext cx="548640" cy="548640"/>
          </a:xfrm>
          <a:prstGeom prst="ellipse">
            <a:avLst/>
          </a:prstGeom>
          <a:solidFill>
            <a:schemeClr val="accent2"/>
          </a:solidFill>
          <a:ln/>
        </p:spPr>
      </p:sp>
      <p:sp>
        <p:nvSpPr>
          <p:cNvPr id="39" name="Text 32"/>
          <p:cNvSpPr txBox="1"/>
          <p:nvPr/>
        </p:nvSpPr>
        <p:spPr>
          <a:xfrm>
            <a:off x="8604504" y="1920240"/>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rPr>
              <a:t>5</a:t>
            </a:r>
            <a:endParaRPr lang="en-US" sz="1800" dirty="0"/>
          </a:p>
        </p:txBody>
      </p:sp>
      <p:sp>
        <p:nvSpPr>
          <p:cNvPr id="40" name="Shape 33"/>
          <p:cNvSpPr/>
          <p:nvPr/>
        </p:nvSpPr>
        <p:spPr>
          <a:xfrm>
            <a:off x="8604504" y="2606040"/>
            <a:ext cx="548640" cy="548640"/>
          </a:xfrm>
          <a:prstGeom prst="ellipse">
            <a:avLst/>
          </a:prstGeom>
          <a:solidFill>
            <a:schemeClr val="accent1"/>
          </a:solidFill>
          <a:ln/>
        </p:spPr>
      </p:sp>
      <p:pic>
        <p:nvPicPr>
          <p:cNvPr id="41" name="Image 4" descr="preencoded.png">    </p:cNvPr>
          <p:cNvPicPr>
            <a:picLocks noChangeAspect="1"/>
          </p:cNvPicPr>
          <p:nvPr/>
        </p:nvPicPr>
        <p:blipFill>
          <a:blip r:embed="rId5"/>
          <a:stretch>
            <a:fillRect/>
          </a:stretch>
        </p:blipFill>
        <p:spPr>
          <a:xfrm>
            <a:off x="8752637" y="2754173"/>
            <a:ext cx="252374" cy="252374"/>
          </a:xfrm>
          <a:prstGeom prst="rect">
            <a:avLst/>
          </a:prstGeom>
        </p:spPr>
      </p:pic>
      <p:sp>
        <p:nvSpPr>
          <p:cNvPr id="42" name="Text 34"/>
          <p:cNvSpPr txBox="1"/>
          <p:nvPr/>
        </p:nvSpPr>
        <p:spPr>
          <a:xfrm>
            <a:off x="8101584" y="3246120"/>
            <a:ext cx="1554480" cy="320040"/>
          </a:xfrm>
          <a:prstGeom prst="rect">
            <a:avLst/>
          </a:prstGeom>
          <a:noFill/>
          <a:ln/>
        </p:spPr>
        <p:txBody>
          <a:bodyPr wrap="square" lIns="0" tIns="0" rIns="0" bIns="0" rtlCol="0" anchor="ctr"/>
          <a:lstStyle/>
          <a:p>
            <a:pPr algn="ctr" indent="0" marL="0">
              <a:buNone/>
            </a:pPr>
            <a:r>
              <a:rPr lang="en-US" sz="1300" b="1" dirty="0">
                <a:solidFill>
                  <a:schemeClr val="tx2"/>
                </a:solidFill>
              </a:rPr>
              <a:t>Intervention</a:t>
            </a:r>
            <a:endParaRPr lang="en-US" sz="1300" dirty="0"/>
          </a:p>
        </p:txBody>
      </p:sp>
      <p:sp>
        <p:nvSpPr>
          <p:cNvPr id="43" name="Text 35"/>
          <p:cNvSpPr txBox="1"/>
          <p:nvPr/>
        </p:nvSpPr>
        <p:spPr>
          <a:xfrm>
            <a:off x="8147304" y="3611880"/>
            <a:ext cx="1463040" cy="822960"/>
          </a:xfrm>
          <a:prstGeom prst="rect">
            <a:avLst/>
          </a:prstGeom>
          <a:noFill/>
          <a:ln/>
        </p:spPr>
        <p:txBody>
          <a:bodyPr wrap="square" lIns="0" tIns="0" rIns="0" bIns="0" rtlCol="0" anchor="t"/>
          <a:lstStyle/>
          <a:p>
            <a:pPr algn="ctr" indent="0" marL="0">
              <a:buNone/>
            </a:pPr>
            <a:r>
              <a:rPr lang="en-US" sz="1100" dirty="0">
                <a:solidFill>
                  <a:schemeClr val="tx1"/>
                </a:solidFill>
              </a:rPr>
              <a:t>Checklist, pièces, photos avant et après</a:t>
            </a:r>
            <a:endParaRPr lang="en-US" sz="1100" dirty="0"/>
          </a:p>
        </p:txBody>
      </p:sp>
      <p:sp>
        <p:nvSpPr>
          <p:cNvPr id="44" name="Shape 36"/>
          <p:cNvSpPr/>
          <p:nvPr/>
        </p:nvSpPr>
        <p:spPr>
          <a:xfrm>
            <a:off x="9756648" y="3108960"/>
            <a:ext cx="128016" cy="237744"/>
          </a:xfrm>
          <a:prstGeom prst="rightArrow">
            <a:avLst/>
          </a:prstGeom>
          <a:solidFill>
            <a:schemeClr val="accent2"/>
          </a:solidFill>
          <a:ln/>
        </p:spPr>
      </p:sp>
      <p:sp>
        <p:nvSpPr>
          <p:cNvPr id="45" name="Étape 6"/>
          <p:cNvSpPr/>
          <p:nvPr/>
        </p:nvSpPr>
        <p:spPr>
          <a:xfrm>
            <a:off x="9875520" y="2103120"/>
            <a:ext cx="1737360" cy="2377440"/>
          </a:xfrm>
          <a:prstGeom prst="roundRect">
            <a:avLst>
              <a:gd name="adj" fmla="val 6316"/>
            </a:avLst>
          </a:prstGeom>
          <a:solidFill>
            <a:schemeClr val="bg2"/>
          </a:solidFill>
          <a:ln/>
        </p:spPr>
      </p:sp>
      <p:sp>
        <p:nvSpPr>
          <p:cNvPr id="46" name="Shape 38"/>
          <p:cNvSpPr/>
          <p:nvPr/>
        </p:nvSpPr>
        <p:spPr>
          <a:xfrm>
            <a:off x="10469880" y="1920240"/>
            <a:ext cx="548640" cy="548640"/>
          </a:xfrm>
          <a:prstGeom prst="ellipse">
            <a:avLst/>
          </a:prstGeom>
          <a:solidFill>
            <a:schemeClr val="accent2"/>
          </a:solidFill>
          <a:ln/>
        </p:spPr>
      </p:sp>
      <p:sp>
        <p:nvSpPr>
          <p:cNvPr id="47" name="Text 39"/>
          <p:cNvSpPr txBox="1"/>
          <p:nvPr/>
        </p:nvSpPr>
        <p:spPr>
          <a:xfrm>
            <a:off x="10469880" y="1920240"/>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rPr>
              <a:t>6</a:t>
            </a:r>
            <a:endParaRPr lang="en-US" sz="1800" dirty="0"/>
          </a:p>
        </p:txBody>
      </p:sp>
      <p:sp>
        <p:nvSpPr>
          <p:cNvPr id="48" name="Shape 40"/>
          <p:cNvSpPr/>
          <p:nvPr/>
        </p:nvSpPr>
        <p:spPr>
          <a:xfrm>
            <a:off x="10469880" y="2606040"/>
            <a:ext cx="548640" cy="548640"/>
          </a:xfrm>
          <a:prstGeom prst="ellipse">
            <a:avLst/>
          </a:prstGeom>
          <a:solidFill>
            <a:schemeClr val="accent1"/>
          </a:solidFill>
          <a:ln/>
        </p:spPr>
      </p:sp>
      <p:pic>
        <p:nvPicPr>
          <p:cNvPr id="49" name="Image 5" descr="preencoded.png">    </p:cNvPr>
          <p:cNvPicPr>
            <a:picLocks noChangeAspect="1"/>
          </p:cNvPicPr>
          <p:nvPr/>
        </p:nvPicPr>
        <p:blipFill>
          <a:blip r:embed="rId6"/>
          <a:stretch>
            <a:fillRect/>
          </a:stretch>
        </p:blipFill>
        <p:spPr>
          <a:xfrm>
            <a:off x="10618013" y="2754173"/>
            <a:ext cx="252374" cy="252374"/>
          </a:xfrm>
          <a:prstGeom prst="rect">
            <a:avLst/>
          </a:prstGeom>
        </p:spPr>
      </p:pic>
      <p:sp>
        <p:nvSpPr>
          <p:cNvPr id="50" name="Text 41"/>
          <p:cNvSpPr txBox="1"/>
          <p:nvPr/>
        </p:nvSpPr>
        <p:spPr>
          <a:xfrm>
            <a:off x="9966960" y="3246120"/>
            <a:ext cx="1554480" cy="320040"/>
          </a:xfrm>
          <a:prstGeom prst="rect">
            <a:avLst/>
          </a:prstGeom>
          <a:noFill/>
          <a:ln/>
        </p:spPr>
        <p:txBody>
          <a:bodyPr wrap="square" lIns="0" tIns="0" rIns="0" bIns="0" rtlCol="0" anchor="ctr"/>
          <a:lstStyle/>
          <a:p>
            <a:pPr algn="ctr" indent="0" marL="0">
              <a:buNone/>
            </a:pPr>
            <a:r>
              <a:rPr lang="en-US" sz="1300" b="1" dirty="0">
                <a:solidFill>
                  <a:schemeClr val="tx2"/>
                </a:solidFill>
              </a:rPr>
              <a:t>Clôture</a:t>
            </a:r>
            <a:endParaRPr lang="en-US" sz="1300" dirty="0"/>
          </a:p>
        </p:txBody>
      </p:sp>
      <p:sp>
        <p:nvSpPr>
          <p:cNvPr id="51" name="Text 42"/>
          <p:cNvSpPr txBox="1"/>
          <p:nvPr/>
        </p:nvSpPr>
        <p:spPr>
          <a:xfrm>
            <a:off x="10012680" y="3611880"/>
            <a:ext cx="1463040" cy="822960"/>
          </a:xfrm>
          <a:prstGeom prst="rect">
            <a:avLst/>
          </a:prstGeom>
          <a:noFill/>
          <a:ln/>
        </p:spPr>
        <p:txBody>
          <a:bodyPr wrap="square" lIns="0" tIns="0" rIns="0" bIns="0" rtlCol="0" anchor="t"/>
          <a:lstStyle/>
          <a:p>
            <a:pPr algn="ctr" indent="0" marL="0">
              <a:buNone/>
            </a:pPr>
            <a:r>
              <a:rPr lang="en-US" sz="1100" dirty="0">
                <a:solidFill>
                  <a:schemeClr val="tx1"/>
                </a:solidFill>
              </a:rPr>
              <a:t>Preuve versée, habitant informé</a:t>
            </a:r>
            <a:endParaRPr lang="en-US" sz="1100" dirty="0"/>
          </a:p>
        </p:txBody>
      </p:sp>
      <p:sp>
        <p:nvSpPr>
          <p:cNvPr id="52" name="Délais"/>
          <p:cNvSpPr/>
          <p:nvPr/>
        </p:nvSpPr>
        <p:spPr>
          <a:xfrm>
            <a:off x="548640" y="4709160"/>
            <a:ext cx="5440680" cy="1280160"/>
          </a:xfrm>
          <a:prstGeom prst="roundRect">
            <a:avLst>
              <a:gd name="adj" fmla="val 8571"/>
            </a:avLst>
          </a:prstGeom>
          <a:solidFill>
            <a:schemeClr val="accent4"/>
          </a:solidFill>
          <a:ln/>
        </p:spPr>
      </p:sp>
      <p:sp>
        <p:nvSpPr>
          <p:cNvPr id="53" name="Text 44"/>
          <p:cNvSpPr txBox="1"/>
          <p:nvPr/>
        </p:nvSpPr>
        <p:spPr>
          <a:xfrm>
            <a:off x="777240" y="4828032"/>
            <a:ext cx="493776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DÉLAIS SUIVIS</a:t>
            </a:r>
            <a:endParaRPr lang="en-US" sz="1100" dirty="0"/>
          </a:p>
        </p:txBody>
      </p:sp>
      <p:sp>
        <p:nvSpPr>
          <p:cNvPr id="54" name="Text 45"/>
          <p:cNvSpPr txBox="1"/>
          <p:nvPr/>
        </p:nvSpPr>
        <p:spPr>
          <a:xfrm>
            <a:off x="777240" y="5120640"/>
            <a:ext cx="5029200" cy="822960"/>
          </a:xfrm>
          <a:prstGeom prst="rect">
            <a:avLst/>
          </a:prstGeom>
          <a:noFill/>
          <a:ln/>
        </p:spPr>
        <p:txBody>
          <a:bodyPr wrap="square" lIns="0" tIns="0" rIns="0" bIns="0" rtlCol="0" anchor="t"/>
          <a:lstStyle/>
          <a:p>
            <a:pPr indent="0" marL="0">
              <a:buNone/>
            </a:pPr>
            <a:r>
              <a:rPr lang="en-US" sz="1250" b="1" dirty="0">
                <a:solidFill>
                  <a:schemeClr val="tx2"/>
                </a:solidFill>
              </a:rPr>
              <a:t>Prise en charge, remise en service, clôture : chaque délai est mesuré et comparé entre communes.</a:t>
            </a:r>
            <a:endParaRPr lang="en-US" sz="1250" dirty="0"/>
          </a:p>
        </p:txBody>
      </p:sp>
      <p:sp>
        <p:nvSpPr>
          <p:cNvPr id="55" name="Retour"/>
          <p:cNvSpPr/>
          <p:nvPr/>
        </p:nvSpPr>
        <p:spPr>
          <a:xfrm>
            <a:off x="6199632" y="4709160"/>
            <a:ext cx="5440680" cy="1280160"/>
          </a:xfrm>
          <a:prstGeom prst="roundRect">
            <a:avLst>
              <a:gd name="adj" fmla="val 8571"/>
            </a:avLst>
          </a:prstGeom>
          <a:solidFill>
            <a:schemeClr val="tx2"/>
          </a:solidFill>
          <a:ln/>
        </p:spPr>
      </p:sp>
      <p:sp>
        <p:nvSpPr>
          <p:cNvPr id="56" name="Text 47"/>
          <p:cNvSpPr txBox="1"/>
          <p:nvPr/>
        </p:nvSpPr>
        <p:spPr>
          <a:xfrm>
            <a:off x="6428232" y="4828032"/>
            <a:ext cx="4937760" cy="256032"/>
          </a:xfrm>
          <a:prstGeom prst="rect">
            <a:avLst/>
          </a:prstGeom>
          <a:noFill/>
          <a:ln/>
        </p:spPr>
        <p:txBody>
          <a:bodyPr wrap="square" lIns="0" tIns="0" rIns="0" bIns="0" rtlCol="0" anchor="ctr"/>
          <a:lstStyle/>
          <a:p>
            <a:pPr indent="0" marL="0">
              <a:buNone/>
            </a:pPr>
            <a:r>
              <a:rPr lang="en-US" sz="1100" b="1" spc="200" kern="0" dirty="0">
                <a:solidFill>
                  <a:schemeClr val="accent2"/>
                </a:solidFill>
              </a:rPr>
              <a:t>RETOUR À L'HABITANT</a:t>
            </a:r>
            <a:endParaRPr lang="en-US" sz="1100" dirty="0"/>
          </a:p>
        </p:txBody>
      </p:sp>
      <p:sp>
        <p:nvSpPr>
          <p:cNvPr id="57" name="Text 48"/>
          <p:cNvSpPr txBox="1"/>
          <p:nvPr/>
        </p:nvSpPr>
        <p:spPr>
          <a:xfrm>
            <a:off x="6428232" y="5120640"/>
            <a:ext cx="5029200" cy="822960"/>
          </a:xfrm>
          <a:prstGeom prst="rect">
            <a:avLst/>
          </a:prstGeom>
          <a:noFill/>
          <a:ln/>
        </p:spPr>
        <p:txBody>
          <a:bodyPr wrap="square" lIns="0" tIns="0" rIns="0" bIns="0" rtlCol="0" anchor="t"/>
          <a:lstStyle/>
          <a:p>
            <a:pPr indent="0" marL="0">
              <a:buNone/>
            </a:pPr>
            <a:r>
              <a:rPr lang="en-US" sz="1250" dirty="0">
                <a:solidFill>
                  <a:schemeClr val="bg1"/>
                </a:solidFill>
              </a:rPr>
              <a:t>L'habitant voit l'état de sa demande. La confiance se construit sur des actes visibles.</a:t>
            </a:r>
            <a:endParaRPr lang="en-US" sz="1250" dirty="0"/>
          </a:p>
        </p:txBody>
      </p:sp>
      <p:sp>
        <p:nvSpPr>
          <p:cNvPr id="58" name="Text 49"/>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47 (retours usagers, participation citoyenne). Parcours : conception de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ACTEURS ET RÔLES</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Qui voit quoi, qui fait quoi</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914400"/>
        </p:xfrm>
        <a:graphic>
          <a:graphicData uri="http://schemas.openxmlformats.org/drawingml/2006/table">
            <a:tbl>
              <a:tblPr/>
              <a:tblGrid>
                <a:gridCol w="2103120"/>
                <a:gridCol w="3017520"/>
                <a:gridCol w="3017520"/>
                <a:gridCol w="2953512"/>
              </a:tblGrid>
              <a:tr h="347472">
                <a:tc>
                  <a:txBody>
                    <a:bodyPr/>
                    <a:lstStyle/>
                    <a:p>
                      <a:pPr indent="0" marL="0">
                        <a:buNone/>
                      </a:pPr>
                      <a:r>
                        <a:rPr lang="en-US" sz="1150" b="1" dirty="0">
                          <a:solidFill>
                            <a:schemeClr val="bg1"/>
                          </a:solidFill>
                        </a:rPr>
                        <a:t>Rôle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Voit</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Fait</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Reçoit</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566928">
                <a:tc>
                  <a:txBody>
                    <a:bodyPr/>
                    <a:lstStyle/>
                    <a:p>
                      <a:pPr indent="0" marL="0">
                        <a:buNone/>
                      </a:pPr>
                      <a:r>
                        <a:rPr lang="en-US" sz="1150" b="1" dirty="0">
                          <a:solidFill>
                            <a:schemeClr val="tx2"/>
                          </a:solidFill>
                        </a:rPr>
                        <a:t>Habitant, relais digital</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Ouvrages proches, état de ses demandes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Signale un problème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Confirmation, suivi, clôture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66928">
                <a:tc>
                  <a:txBody>
                    <a:bodyPr/>
                    <a:lstStyle/>
                    <a:p>
                      <a:pPr indent="0" marL="0">
                        <a:buNone/>
                      </a:pPr>
                      <a:r>
                        <a:rPr lang="en-US" sz="1150" b="1" dirty="0">
                          <a:solidFill>
                            <a:schemeClr val="tx2"/>
                          </a:solidFill>
                        </a:rPr>
                        <a:t>Technicien, opérateur</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Fiche, historique, pièces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Exécute, documente, clôt</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Tâches du jour, rappels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566928">
                <a:tc>
                  <a:txBody>
                    <a:bodyPr/>
                    <a:lstStyle/>
                    <a:p>
                      <a:pPr indent="0" marL="0">
                        <a:buNone/>
                      </a:pPr>
                      <a:r>
                        <a:rPr lang="en-US" sz="1150" b="1" dirty="0">
                          <a:solidFill>
                            <a:schemeClr val="tx2"/>
                          </a:solidFill>
                        </a:rPr>
                        <a:t>Responsable communal</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Ouvrages de la commune, retards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Priorise, affecte, budgète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Alertes, indicateurs de la commune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66928">
                <a:tc>
                  <a:txBody>
                    <a:bodyPr/>
                    <a:lstStyle/>
                    <a:p>
                      <a:pPr indent="0" marL="0">
                        <a:buNone/>
                      </a:pPr>
                      <a:r>
                        <a:rPr lang="en-US" sz="1150" b="1" dirty="0">
                          <a:solidFill>
                            <a:schemeClr val="tx2"/>
                          </a:solidFill>
                        </a:rPr>
                        <a:t>Agence régionale (pôle)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Comparaison entre communes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Appuie, arbitre, coordonne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Écarts, goulots d'étranglement</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566928">
                <a:tc>
                  <a:txBody>
                    <a:bodyPr/>
                    <a:lstStyle/>
                    <a:p>
                      <a:pPr indent="0" marL="0">
                        <a:buNone/>
                      </a:pPr>
                      <a:r>
                        <a:rPr lang="en-US" sz="1150" b="1" dirty="0">
                          <a:solidFill>
                            <a:schemeClr val="tx2"/>
                          </a:solidFill>
                        </a:rPr>
                        <a:t>Entité nationale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Patrimoine consolidé</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Fixe les standards, planifie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Tableau de bord national</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66928">
                <a:tc>
                  <a:txBody>
                    <a:bodyPr/>
                    <a:lstStyle/>
                    <a:p>
                      <a:pPr indent="0" marL="0">
                        <a:buNone/>
                      </a:pPr>
                      <a:r>
                        <a:rPr lang="en-US" sz="1150" b="1" dirty="0">
                          <a:solidFill>
                            <a:schemeClr val="tx2"/>
                          </a:solidFill>
                        </a:rPr>
                        <a:t>Contrôle, partenaires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Données agrégées, preuves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Audite, évalue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Rapports périodiques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9, 41 et 56 pour les rôles institutionnels. Droits d'accès : conception de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PILOTAGE</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Trois niveaux de pilotage, une même donnée</a:t>
            </a:r>
            <a:endParaRPr lang="en-US" sz="2800" dirty="0"/>
          </a:p>
        </p:txBody>
      </p:sp>
      <p:sp>
        <p:nvSpPr>
          <p:cNvPr id="5" name="Niveau COMMUNE"/>
          <p:cNvSpPr/>
          <p:nvPr/>
        </p:nvSpPr>
        <p:spPr>
          <a:xfrm>
            <a:off x="548640" y="1965960"/>
            <a:ext cx="4572000" cy="1261872"/>
          </a:xfrm>
          <a:prstGeom prst="roundRect">
            <a:avLst>
              <a:gd name="adj" fmla="val 8696"/>
            </a:avLst>
          </a:prstGeom>
          <a:solidFill>
            <a:schemeClr val="bg2"/>
          </a:solidFill>
          <a:ln/>
        </p:spPr>
      </p:sp>
      <p:sp>
        <p:nvSpPr>
          <p:cNvPr id="6" name="Text 3"/>
          <p:cNvSpPr txBox="1"/>
          <p:nvPr/>
        </p:nvSpPr>
        <p:spPr>
          <a:xfrm>
            <a:off x="777240" y="2103120"/>
            <a:ext cx="41148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COMMUNE</a:t>
            </a:r>
            <a:endParaRPr lang="en-US" sz="1100" dirty="0"/>
          </a:p>
        </p:txBody>
      </p:sp>
      <p:sp>
        <p:nvSpPr>
          <p:cNvPr id="7" name="Text 4"/>
          <p:cNvSpPr txBox="1"/>
          <p:nvPr/>
        </p:nvSpPr>
        <p:spPr>
          <a:xfrm>
            <a:off x="777240" y="2423160"/>
            <a:ext cx="4114800" cy="731520"/>
          </a:xfrm>
          <a:prstGeom prst="rect">
            <a:avLst/>
          </a:prstGeom>
          <a:noFill/>
          <a:ln/>
        </p:spPr>
        <p:txBody>
          <a:bodyPr wrap="square" lIns="0" tIns="0" rIns="0" bIns="0" rtlCol="0" anchor="t"/>
          <a:lstStyle/>
          <a:p>
            <a:pPr indent="0" marL="0">
              <a:buNone/>
            </a:pPr>
            <a:r>
              <a:rPr lang="en-US" sz="1250" dirty="0">
                <a:solidFill>
                  <a:schemeClr val="tx1"/>
                </a:solidFill>
              </a:rPr>
              <a:t>Interventions en retard, budget d'entretien, ouvrages à risque</a:t>
            </a:r>
            <a:endParaRPr lang="en-US" sz="1250" dirty="0"/>
          </a:p>
        </p:txBody>
      </p:sp>
      <p:sp>
        <p:nvSpPr>
          <p:cNvPr id="8" name="Niveau PÔLE"/>
          <p:cNvSpPr/>
          <p:nvPr/>
        </p:nvSpPr>
        <p:spPr>
          <a:xfrm>
            <a:off x="548640" y="3337560"/>
            <a:ext cx="4572000" cy="1261872"/>
          </a:xfrm>
          <a:prstGeom prst="roundRect">
            <a:avLst>
              <a:gd name="adj" fmla="val 8696"/>
            </a:avLst>
          </a:prstGeom>
          <a:solidFill>
            <a:schemeClr val="bg2"/>
          </a:solidFill>
          <a:ln/>
        </p:spPr>
      </p:sp>
      <p:sp>
        <p:nvSpPr>
          <p:cNvPr id="9" name="Text 6"/>
          <p:cNvSpPr txBox="1"/>
          <p:nvPr/>
        </p:nvSpPr>
        <p:spPr>
          <a:xfrm>
            <a:off x="777240" y="3474720"/>
            <a:ext cx="41148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PÔLE</a:t>
            </a:r>
            <a:endParaRPr lang="en-US" sz="1100" dirty="0"/>
          </a:p>
        </p:txBody>
      </p:sp>
      <p:sp>
        <p:nvSpPr>
          <p:cNvPr id="10" name="Text 7"/>
          <p:cNvSpPr txBox="1"/>
          <p:nvPr/>
        </p:nvSpPr>
        <p:spPr>
          <a:xfrm>
            <a:off x="777240" y="3794760"/>
            <a:ext cx="4114800" cy="731520"/>
          </a:xfrm>
          <a:prstGeom prst="rect">
            <a:avLst/>
          </a:prstGeom>
          <a:noFill/>
          <a:ln/>
        </p:spPr>
        <p:txBody>
          <a:bodyPr wrap="square" lIns="0" tIns="0" rIns="0" bIns="0" rtlCol="0" anchor="t"/>
          <a:lstStyle/>
          <a:p>
            <a:pPr indent="0" marL="0">
              <a:buNone/>
            </a:pPr>
            <a:r>
              <a:rPr lang="en-US" sz="1250" dirty="0">
                <a:solidFill>
                  <a:schemeClr val="tx1"/>
                </a:solidFill>
              </a:rPr>
              <a:t>Comparaison des communes, délais moyens, pièces critiques</a:t>
            </a:r>
            <a:endParaRPr lang="en-US" sz="1250" dirty="0"/>
          </a:p>
        </p:txBody>
      </p:sp>
      <p:sp>
        <p:nvSpPr>
          <p:cNvPr id="11" name="Niveau NATIONAL"/>
          <p:cNvSpPr/>
          <p:nvPr/>
        </p:nvSpPr>
        <p:spPr>
          <a:xfrm>
            <a:off x="548640" y="4709160"/>
            <a:ext cx="4572000" cy="1261872"/>
          </a:xfrm>
          <a:prstGeom prst="roundRect">
            <a:avLst>
              <a:gd name="adj" fmla="val 8696"/>
            </a:avLst>
          </a:prstGeom>
          <a:solidFill>
            <a:schemeClr val="tx2"/>
          </a:solidFill>
          <a:ln/>
        </p:spPr>
      </p:sp>
      <p:sp>
        <p:nvSpPr>
          <p:cNvPr id="12" name="Text 9"/>
          <p:cNvSpPr txBox="1"/>
          <p:nvPr/>
        </p:nvSpPr>
        <p:spPr>
          <a:xfrm>
            <a:off x="777240" y="4846320"/>
            <a:ext cx="41148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NATIONAL</a:t>
            </a:r>
            <a:endParaRPr lang="en-US" sz="1100" dirty="0"/>
          </a:p>
        </p:txBody>
      </p:sp>
      <p:sp>
        <p:nvSpPr>
          <p:cNvPr id="13" name="Text 10"/>
          <p:cNvSpPr txBox="1"/>
          <p:nvPr/>
        </p:nvSpPr>
        <p:spPr>
          <a:xfrm>
            <a:off x="777240" y="5166360"/>
            <a:ext cx="4114800" cy="731520"/>
          </a:xfrm>
          <a:prstGeom prst="rect">
            <a:avLst/>
          </a:prstGeom>
          <a:noFill/>
          <a:ln/>
        </p:spPr>
        <p:txBody>
          <a:bodyPr wrap="square" lIns="0" tIns="0" rIns="0" bIns="0" rtlCol="0" anchor="t"/>
          <a:lstStyle/>
          <a:p>
            <a:pPr indent="0" marL="0">
              <a:buNone/>
            </a:pPr>
            <a:r>
              <a:rPr lang="en-US" sz="1250" dirty="0">
                <a:solidFill>
                  <a:schemeClr val="bg1"/>
                </a:solidFill>
              </a:rPr>
              <a:t>État du patrimoine, âge moyen, prévision des renouvellements</a:t>
            </a:r>
            <a:endParaRPr lang="en-US" sz="1250" dirty="0"/>
          </a:p>
        </p:txBody>
      </p:sp>
      <p:sp>
        <p:nvSpPr>
          <p:cNvPr id="14" name="Zone graphique"/>
          <p:cNvSpPr/>
          <p:nvPr/>
        </p:nvSpPr>
        <p:spPr>
          <a:xfrm>
            <a:off x="5349240" y="1965960"/>
            <a:ext cx="6291072" cy="4005072"/>
          </a:xfrm>
          <a:prstGeom prst="roundRect">
            <a:avLst>
              <a:gd name="adj" fmla="val 2740"/>
            </a:avLst>
          </a:prstGeom>
          <a:solidFill>
            <a:schemeClr val="bg2"/>
          </a:solidFill>
          <a:ln/>
        </p:spPr>
      </p:sp>
      <p:graphicFrame>
        <p:nvGraphicFramePr>
          <p:cNvPr id="15" name="Chart 0" descr=""/>
          <p:cNvGraphicFramePr/>
          <p:nvPr/>
        </p:nvGraphicFramePr>
        <p:xfrm>
          <a:off x="5486400" y="2331720"/>
          <a:ext cx="6016752" cy="3108960"/>
        </p:xfrm>
        <a:graphic xmlns:a="http://schemas.openxmlformats.org/drawingml/2006/main">
          <a:graphicData uri="http://schemas.openxmlformats.org/drawingml/2006/chart">
            <c:chart xmlns:c="http://schemas.openxmlformats.org/drawingml/2006/chart" r:id="rId1"/>
          </a:graphicData>
        </a:graphic>
      </p:graphicFrame>
      <p:sp>
        <p:nvSpPr>
          <p:cNvPr id="16" name="Text 12"/>
          <p:cNvSpPr txBox="1"/>
          <p:nvPr/>
        </p:nvSpPr>
        <p:spPr>
          <a:xfrm>
            <a:off x="5577840" y="2057400"/>
            <a:ext cx="5852160" cy="274320"/>
          </a:xfrm>
          <a:prstGeom prst="rect">
            <a:avLst/>
          </a:prstGeom>
          <a:noFill/>
          <a:ln/>
        </p:spPr>
        <p:txBody>
          <a:bodyPr wrap="square" lIns="0" tIns="0" rIns="0" bIns="0" rtlCol="0" anchor="ctr"/>
          <a:lstStyle/>
          <a:p>
            <a:pPr indent="0" marL="0">
              <a:buNone/>
            </a:pPr>
            <a:r>
              <a:rPr lang="en-US" sz="1200" b="1" dirty="0">
                <a:solidFill>
                  <a:schemeClr val="tx2"/>
                </a:solidFill>
              </a:rPr>
              <a:t>Disponibilité des équipements par commune (%)</a:t>
            </a:r>
            <a:endParaRPr lang="en-US" sz="1200" dirty="0"/>
          </a:p>
        </p:txBody>
      </p:sp>
      <p:sp>
        <p:nvSpPr>
          <p:cNvPr id="17" name="Shape 13"/>
          <p:cNvSpPr/>
          <p:nvPr/>
        </p:nvSpPr>
        <p:spPr>
          <a:xfrm>
            <a:off x="9098280" y="5532120"/>
            <a:ext cx="2377440" cy="274320"/>
          </a:xfrm>
          <a:prstGeom prst="roundRect">
            <a:avLst>
              <a:gd name="adj" fmla="val 50000"/>
            </a:avLst>
          </a:prstGeom>
          <a:solidFill>
            <a:schemeClr val="accent2"/>
          </a:solidFill>
          <a:ln/>
        </p:spPr>
      </p:sp>
      <p:sp>
        <p:nvSpPr>
          <p:cNvPr id="18" name="Text 14"/>
          <p:cNvSpPr txBox="1"/>
          <p:nvPr/>
        </p:nvSpPr>
        <p:spPr>
          <a:xfrm>
            <a:off x="9098280" y="5532120"/>
            <a:ext cx="2377440" cy="274320"/>
          </a:xfrm>
          <a:prstGeom prst="rect">
            <a:avLst/>
          </a:prstGeom>
          <a:noFill/>
          <a:ln/>
        </p:spPr>
        <p:txBody>
          <a:bodyPr wrap="square" lIns="0" tIns="0" rIns="0" bIns="0" rtlCol="0" anchor="ctr"/>
          <a:lstStyle/>
          <a:p>
            <a:pPr algn="ctr" indent="0" marL="0">
              <a:buNone/>
            </a:pPr>
            <a:r>
              <a:rPr lang="en-US" sz="1000" b="1" spc="100" kern="0" dirty="0">
                <a:solidFill>
                  <a:schemeClr val="tx2"/>
                </a:solidFill>
              </a:rPr>
              <a:t>DONNÉES FICTIVES</a:t>
            </a:r>
            <a:endParaRPr lang="en-US" sz="1000" dirty="0"/>
          </a:p>
        </p:txBody>
      </p:sp>
      <p:sp>
        <p:nvSpPr>
          <p:cNvPr id="19" name="Text 15"/>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9 et 56. Graphique : données fictives pour illustrer la forme du tableau de bord.</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INDICATEURS</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Sept indicateurs, chacun défini sans ambiguïté</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914400"/>
        </p:xfrm>
        <a:graphic>
          <a:graphicData uri="http://schemas.openxmlformats.org/drawingml/2006/table">
            <a:tbl>
              <a:tblPr/>
              <a:tblGrid>
                <a:gridCol w="2926080"/>
                <a:gridCol w="5029200"/>
                <a:gridCol w="3136392"/>
              </a:tblGrid>
              <a:tr h="347472">
                <a:tc>
                  <a:txBody>
                    <a:bodyPr/>
                    <a:lstStyle/>
                    <a:p>
                      <a:pPr indent="0" marL="0">
                        <a:buNone/>
                      </a:pPr>
                      <a:r>
                        <a:rPr lang="en-US" sz="1150" b="1" dirty="0">
                          <a:solidFill>
                            <a:schemeClr val="bg1"/>
                          </a:solidFill>
                        </a:rPr>
                        <a:t>Indicateur</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Définition</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Sert à</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502920">
                <a:tc>
                  <a:txBody>
                    <a:bodyPr/>
                    <a:lstStyle/>
                    <a:p>
                      <a:pPr indent="0" marL="0">
                        <a:buNone/>
                      </a:pPr>
                      <a:r>
                        <a:rPr lang="en-US" sz="1150" b="1" dirty="0">
                          <a:solidFill>
                            <a:schemeClr val="tx2"/>
                          </a:solidFill>
                        </a:rPr>
                        <a:t>Disponibilité</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Temps où l'ouvrage rend le service ÷ temps prévu</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Mesurer le service rendu</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02920">
                <a:tc>
                  <a:txBody>
                    <a:bodyPr/>
                    <a:lstStyle/>
                    <a:p>
                      <a:pPr indent="0" marL="0">
                        <a:buNone/>
                      </a:pPr>
                      <a:r>
                        <a:rPr lang="en-US" sz="1150" b="1" dirty="0">
                          <a:solidFill>
                            <a:schemeClr val="tx2"/>
                          </a:solidFill>
                        </a:rPr>
                        <a:t>Délai de remise en service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Du signalement à la clôture de l'intervention</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Comparer les communes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502920">
                <a:tc>
                  <a:txBody>
                    <a:bodyPr/>
                    <a:lstStyle/>
                    <a:p>
                      <a:pPr indent="0" marL="0">
                        <a:buNone/>
                      </a:pPr>
                      <a:r>
                        <a:rPr lang="en-US" sz="1150" b="1" dirty="0">
                          <a:solidFill>
                            <a:schemeClr val="tx2"/>
                          </a:solidFill>
                        </a:rPr>
                        <a:t>Préventif fait à temps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Tâches préventives faites dans le délai ÷ tâches prévues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Vérifier l'entretien</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02920">
                <a:tc>
                  <a:txBody>
                    <a:bodyPr/>
                    <a:lstStyle/>
                    <a:p>
                      <a:pPr indent="0" marL="0">
                        <a:buNone/>
                      </a:pPr>
                      <a:r>
                        <a:rPr lang="en-US" sz="1150" b="1" dirty="0">
                          <a:solidFill>
                            <a:schemeClr val="tx2"/>
                          </a:solidFill>
                        </a:rPr>
                        <a:t>Signalements traités dans le délai</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Tickets clos avant l'échéance ÷ tickets reçus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Mesurer la réactivité</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502920">
                <a:tc>
                  <a:txBody>
                    <a:bodyPr/>
                    <a:lstStyle/>
                    <a:p>
                      <a:pPr indent="0" marL="0">
                        <a:buNone/>
                      </a:pPr>
                      <a:r>
                        <a:rPr lang="en-US" sz="1150" b="1" dirty="0">
                          <a:solidFill>
                            <a:schemeClr val="tx2"/>
                          </a:solidFill>
                        </a:rPr>
                        <a:t>Coût d'entretien par ouvrage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Dépenses d'entretien et pièces, par ouvrage et par an</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Budgéter, arbitrer</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02920">
                <a:tc>
                  <a:txBody>
                    <a:bodyPr/>
                    <a:lstStyle/>
                    <a:p>
                      <a:pPr indent="0" marL="0">
                        <a:buNone/>
                      </a:pPr>
                      <a:r>
                        <a:rPr lang="en-US" sz="1150" b="1" dirty="0">
                          <a:solidFill>
                            <a:schemeClr val="tx2"/>
                          </a:solidFill>
                        </a:rPr>
                        <a:t>Âge moyen face à la durée de vie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Âge des pièces ÷ durée de vie attendue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Prévoir les renouvellements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502920">
                <a:tc>
                  <a:txBody>
                    <a:bodyPr/>
                    <a:lstStyle/>
                    <a:p>
                      <a:pPr indent="0" marL="0">
                        <a:buNone/>
                      </a:pPr>
                      <a:r>
                        <a:rPr lang="en-US" sz="1150" b="1" dirty="0">
                          <a:solidFill>
                            <a:schemeClr val="tx2"/>
                          </a:solidFill>
                        </a:rPr>
                        <a:t>Couverture du registre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Ouvrages inscrits ÷ ouvrages connus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Piloter le déploiement</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bl>
          </a:graphicData>
        </a:graphic>
      </p:graphicFrame>
      <p:sp>
        <p:nvSpPr>
          <p:cNvPr id="6" name="Text 2"/>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Définitions : conception de l'auteur. Indicateurs déjà fixés par le programme : p. 21, 25 et 56.</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DONNÉES ET SÉCURITÉ</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Données hébergées au Bénin, accès par rôle, tout est tracé</a:t>
            </a:r>
            <a:endParaRPr lang="en-US" sz="2800" dirty="0"/>
          </a:p>
        </p:txBody>
      </p:sp>
      <p:sp>
        <p:nvSpPr>
          <p:cNvPr id="5" name="Sécurité 1"/>
          <p:cNvSpPr/>
          <p:nvPr/>
        </p:nvSpPr>
        <p:spPr>
          <a:xfrm>
            <a:off x="548640" y="2011680"/>
            <a:ext cx="3611880" cy="1828800"/>
          </a:xfrm>
          <a:prstGeom prst="roundRect">
            <a:avLst>
              <a:gd name="adj" fmla="val 6000"/>
            </a:avLst>
          </a:prstGeom>
          <a:solidFill>
            <a:schemeClr val="bg2"/>
          </a:solidFill>
          <a:ln/>
        </p:spPr>
      </p:sp>
      <p:sp>
        <p:nvSpPr>
          <p:cNvPr id="6" name="Shape 3"/>
          <p:cNvSpPr/>
          <p:nvPr/>
        </p:nvSpPr>
        <p:spPr>
          <a:xfrm>
            <a:off x="777240" y="2212848"/>
            <a:ext cx="548640" cy="54864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925373" y="2360981"/>
            <a:ext cx="252374" cy="252374"/>
          </a:xfrm>
          <a:prstGeom prst="rect">
            <a:avLst/>
          </a:prstGeom>
        </p:spPr>
      </p:pic>
      <p:sp>
        <p:nvSpPr>
          <p:cNvPr id="8" name="Text 4"/>
          <p:cNvSpPr txBox="1"/>
          <p:nvPr/>
        </p:nvSpPr>
        <p:spPr>
          <a:xfrm>
            <a:off x="1463040" y="2212848"/>
            <a:ext cx="2560320" cy="548640"/>
          </a:xfrm>
          <a:prstGeom prst="rect">
            <a:avLst/>
          </a:prstGeom>
          <a:noFill/>
          <a:ln/>
        </p:spPr>
        <p:txBody>
          <a:bodyPr wrap="square" lIns="0" tIns="0" rIns="0" bIns="0" rtlCol="0" anchor="ctr"/>
          <a:lstStyle/>
          <a:p>
            <a:pPr indent="0" marL="0">
              <a:buNone/>
            </a:pPr>
            <a:r>
              <a:rPr lang="en-US" sz="1100" b="1" spc="100" kern="0" dirty="0">
                <a:solidFill>
                  <a:schemeClr val="tx2"/>
                </a:solidFill>
              </a:rPr>
              <a:t>HÉBERGEMENT LOCAL</a:t>
            </a:r>
            <a:endParaRPr lang="en-US" sz="1100" dirty="0"/>
          </a:p>
        </p:txBody>
      </p:sp>
      <p:sp>
        <p:nvSpPr>
          <p:cNvPr id="9" name="Text 5"/>
          <p:cNvSpPr txBox="1"/>
          <p:nvPr/>
        </p:nvSpPr>
        <p:spPr>
          <a:xfrm>
            <a:off x="777240" y="2907792"/>
            <a:ext cx="3200400" cy="868680"/>
          </a:xfrm>
          <a:prstGeom prst="rect">
            <a:avLst/>
          </a:prstGeom>
          <a:noFill/>
          <a:ln/>
        </p:spPr>
        <p:txBody>
          <a:bodyPr wrap="square" lIns="0" tIns="0" rIns="0" bIns="0" rtlCol="0" anchor="t"/>
          <a:lstStyle/>
          <a:p>
            <a:pPr indent="0" marL="0">
              <a:buNone/>
            </a:pPr>
            <a:r>
              <a:rPr lang="en-US" sz="1200" dirty="0">
                <a:solidFill>
                  <a:schemeClr val="tx1"/>
                </a:solidFill>
              </a:rPr>
              <a:t>Données hébergées au Bénin, sauvegardes sur un second site.</a:t>
            </a:r>
            <a:endParaRPr lang="en-US" sz="1200" dirty="0"/>
          </a:p>
        </p:txBody>
      </p:sp>
      <p:sp>
        <p:nvSpPr>
          <p:cNvPr id="10" name="Sécurité 2"/>
          <p:cNvSpPr/>
          <p:nvPr/>
        </p:nvSpPr>
        <p:spPr>
          <a:xfrm>
            <a:off x="4288536" y="2011680"/>
            <a:ext cx="3611880" cy="1828800"/>
          </a:xfrm>
          <a:prstGeom prst="roundRect">
            <a:avLst>
              <a:gd name="adj" fmla="val 6000"/>
            </a:avLst>
          </a:prstGeom>
          <a:solidFill>
            <a:schemeClr val="bg2"/>
          </a:solidFill>
          <a:ln/>
        </p:spPr>
      </p:sp>
      <p:sp>
        <p:nvSpPr>
          <p:cNvPr id="11" name="Shape 7"/>
          <p:cNvSpPr/>
          <p:nvPr/>
        </p:nvSpPr>
        <p:spPr>
          <a:xfrm>
            <a:off x="4517136" y="2212848"/>
            <a:ext cx="548640" cy="54864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4665269" y="2360981"/>
            <a:ext cx="252374" cy="252374"/>
          </a:xfrm>
          <a:prstGeom prst="rect">
            <a:avLst/>
          </a:prstGeom>
        </p:spPr>
      </p:pic>
      <p:sp>
        <p:nvSpPr>
          <p:cNvPr id="13" name="Text 8"/>
          <p:cNvSpPr txBox="1"/>
          <p:nvPr/>
        </p:nvSpPr>
        <p:spPr>
          <a:xfrm>
            <a:off x="5202936" y="2212848"/>
            <a:ext cx="2560320" cy="548640"/>
          </a:xfrm>
          <a:prstGeom prst="rect">
            <a:avLst/>
          </a:prstGeom>
          <a:noFill/>
          <a:ln/>
        </p:spPr>
        <p:txBody>
          <a:bodyPr wrap="square" lIns="0" tIns="0" rIns="0" bIns="0" rtlCol="0" anchor="ctr"/>
          <a:lstStyle/>
          <a:p>
            <a:pPr indent="0" marL="0">
              <a:buNone/>
            </a:pPr>
            <a:r>
              <a:rPr lang="en-US" sz="1100" b="1" spc="100" kern="0" dirty="0">
                <a:solidFill>
                  <a:schemeClr val="tx2"/>
                </a:solidFill>
              </a:rPr>
              <a:t>ACCÈS PAR RÔLE</a:t>
            </a:r>
            <a:endParaRPr lang="en-US" sz="1100" dirty="0"/>
          </a:p>
        </p:txBody>
      </p:sp>
      <p:sp>
        <p:nvSpPr>
          <p:cNvPr id="14" name="Text 9"/>
          <p:cNvSpPr txBox="1"/>
          <p:nvPr/>
        </p:nvSpPr>
        <p:spPr>
          <a:xfrm>
            <a:off x="4517136" y="2907792"/>
            <a:ext cx="3200400" cy="868680"/>
          </a:xfrm>
          <a:prstGeom prst="rect">
            <a:avLst/>
          </a:prstGeom>
          <a:noFill/>
          <a:ln/>
        </p:spPr>
        <p:txBody>
          <a:bodyPr wrap="square" lIns="0" tIns="0" rIns="0" bIns="0" rtlCol="0" anchor="t"/>
          <a:lstStyle/>
          <a:p>
            <a:pPr indent="0" marL="0">
              <a:buNone/>
            </a:pPr>
            <a:r>
              <a:rPr lang="en-US" sz="1200" dirty="0">
                <a:solidFill>
                  <a:schemeClr val="tx1"/>
                </a:solidFill>
              </a:rPr>
              <a:t>Chacun ne voit que son périmètre. Authentification renforcée pour les agents.</a:t>
            </a:r>
            <a:endParaRPr lang="en-US" sz="1200" dirty="0"/>
          </a:p>
        </p:txBody>
      </p:sp>
      <p:sp>
        <p:nvSpPr>
          <p:cNvPr id="15" name="Sécurité 3"/>
          <p:cNvSpPr/>
          <p:nvPr/>
        </p:nvSpPr>
        <p:spPr>
          <a:xfrm>
            <a:off x="8028432" y="2011680"/>
            <a:ext cx="3611880" cy="1828800"/>
          </a:xfrm>
          <a:prstGeom prst="roundRect">
            <a:avLst>
              <a:gd name="adj" fmla="val 6000"/>
            </a:avLst>
          </a:prstGeom>
          <a:solidFill>
            <a:schemeClr val="bg2"/>
          </a:solidFill>
          <a:ln/>
        </p:spPr>
      </p:sp>
      <p:sp>
        <p:nvSpPr>
          <p:cNvPr id="16" name="Shape 11"/>
          <p:cNvSpPr/>
          <p:nvPr/>
        </p:nvSpPr>
        <p:spPr>
          <a:xfrm>
            <a:off x="8257032" y="2212848"/>
            <a:ext cx="548640" cy="54864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8405165" y="2360981"/>
            <a:ext cx="252374" cy="252374"/>
          </a:xfrm>
          <a:prstGeom prst="rect">
            <a:avLst/>
          </a:prstGeom>
        </p:spPr>
      </p:pic>
      <p:sp>
        <p:nvSpPr>
          <p:cNvPr id="18" name="Text 12"/>
          <p:cNvSpPr txBox="1"/>
          <p:nvPr/>
        </p:nvSpPr>
        <p:spPr>
          <a:xfrm>
            <a:off x="8942832" y="2212848"/>
            <a:ext cx="2560320" cy="548640"/>
          </a:xfrm>
          <a:prstGeom prst="rect">
            <a:avLst/>
          </a:prstGeom>
          <a:noFill/>
          <a:ln/>
        </p:spPr>
        <p:txBody>
          <a:bodyPr wrap="square" lIns="0" tIns="0" rIns="0" bIns="0" rtlCol="0" anchor="ctr"/>
          <a:lstStyle/>
          <a:p>
            <a:pPr indent="0" marL="0">
              <a:buNone/>
            </a:pPr>
            <a:r>
              <a:rPr lang="en-US" sz="1100" b="1" spc="100" kern="0" dirty="0">
                <a:solidFill>
                  <a:schemeClr val="tx2"/>
                </a:solidFill>
              </a:rPr>
              <a:t>JOURNAL D'AUDIT</a:t>
            </a:r>
            <a:endParaRPr lang="en-US" sz="1100" dirty="0"/>
          </a:p>
        </p:txBody>
      </p:sp>
      <p:sp>
        <p:nvSpPr>
          <p:cNvPr id="19" name="Text 13"/>
          <p:cNvSpPr txBox="1"/>
          <p:nvPr/>
        </p:nvSpPr>
        <p:spPr>
          <a:xfrm>
            <a:off x="8257032" y="2907792"/>
            <a:ext cx="3200400" cy="868680"/>
          </a:xfrm>
          <a:prstGeom prst="rect">
            <a:avLst/>
          </a:prstGeom>
          <a:noFill/>
          <a:ln/>
        </p:spPr>
        <p:txBody>
          <a:bodyPr wrap="square" lIns="0" tIns="0" rIns="0" bIns="0" rtlCol="0" anchor="t"/>
          <a:lstStyle/>
          <a:p>
            <a:pPr indent="0" marL="0">
              <a:buNone/>
            </a:pPr>
            <a:r>
              <a:rPr lang="en-US" sz="1200" dirty="0">
                <a:solidFill>
                  <a:schemeClr val="tx1"/>
                </a:solidFill>
              </a:rPr>
              <a:t>Toute modification est datée et attribuée. Impossible d'effacer une intervention.</a:t>
            </a:r>
            <a:endParaRPr lang="en-US" sz="1200" dirty="0"/>
          </a:p>
        </p:txBody>
      </p:sp>
      <p:sp>
        <p:nvSpPr>
          <p:cNvPr id="20" name="Sécurité 4"/>
          <p:cNvSpPr/>
          <p:nvPr/>
        </p:nvSpPr>
        <p:spPr>
          <a:xfrm>
            <a:off x="548640" y="3977640"/>
            <a:ext cx="3611880" cy="1828800"/>
          </a:xfrm>
          <a:prstGeom prst="roundRect">
            <a:avLst>
              <a:gd name="adj" fmla="val 6000"/>
            </a:avLst>
          </a:prstGeom>
          <a:solidFill>
            <a:schemeClr val="bg2"/>
          </a:solidFill>
          <a:ln/>
        </p:spPr>
      </p:sp>
      <p:sp>
        <p:nvSpPr>
          <p:cNvPr id="21" name="Shape 15"/>
          <p:cNvSpPr/>
          <p:nvPr/>
        </p:nvSpPr>
        <p:spPr>
          <a:xfrm>
            <a:off x="777240" y="4178808"/>
            <a:ext cx="548640" cy="54864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925373" y="4326941"/>
            <a:ext cx="252374" cy="252374"/>
          </a:xfrm>
          <a:prstGeom prst="rect">
            <a:avLst/>
          </a:prstGeom>
        </p:spPr>
      </p:pic>
      <p:sp>
        <p:nvSpPr>
          <p:cNvPr id="23" name="Text 16"/>
          <p:cNvSpPr txBox="1"/>
          <p:nvPr/>
        </p:nvSpPr>
        <p:spPr>
          <a:xfrm>
            <a:off x="1463040" y="4178808"/>
            <a:ext cx="2560320" cy="548640"/>
          </a:xfrm>
          <a:prstGeom prst="rect">
            <a:avLst/>
          </a:prstGeom>
          <a:noFill/>
          <a:ln/>
        </p:spPr>
        <p:txBody>
          <a:bodyPr wrap="square" lIns="0" tIns="0" rIns="0" bIns="0" rtlCol="0" anchor="ctr"/>
          <a:lstStyle/>
          <a:p>
            <a:pPr indent="0" marL="0">
              <a:buNone/>
            </a:pPr>
            <a:r>
              <a:rPr lang="en-US" sz="1100" b="1" spc="100" kern="0" dirty="0">
                <a:solidFill>
                  <a:schemeClr val="tx2"/>
                </a:solidFill>
              </a:rPr>
              <a:t>DONNÉES MINIMALES</a:t>
            </a:r>
            <a:endParaRPr lang="en-US" sz="1100" dirty="0"/>
          </a:p>
        </p:txBody>
      </p:sp>
      <p:sp>
        <p:nvSpPr>
          <p:cNvPr id="24" name="Text 17"/>
          <p:cNvSpPr txBox="1"/>
          <p:nvPr/>
        </p:nvSpPr>
        <p:spPr>
          <a:xfrm>
            <a:off x="777240" y="4873752"/>
            <a:ext cx="3200400" cy="868680"/>
          </a:xfrm>
          <a:prstGeom prst="rect">
            <a:avLst/>
          </a:prstGeom>
          <a:noFill/>
          <a:ln/>
        </p:spPr>
        <p:txBody>
          <a:bodyPr wrap="square" lIns="0" tIns="0" rIns="0" bIns="0" rtlCol="0" anchor="t"/>
          <a:lstStyle/>
          <a:p>
            <a:pPr indent="0" marL="0">
              <a:buNone/>
            </a:pPr>
            <a:r>
              <a:rPr lang="en-US" sz="1200" dirty="0">
                <a:solidFill>
                  <a:schemeClr val="tx1"/>
                </a:solidFill>
              </a:rPr>
              <a:t>Pas de donnée personnelle superflue. Signalement anonyme possible.</a:t>
            </a:r>
            <a:endParaRPr lang="en-US" sz="1200" dirty="0"/>
          </a:p>
        </p:txBody>
      </p:sp>
      <p:sp>
        <p:nvSpPr>
          <p:cNvPr id="25" name="Sécurité 5"/>
          <p:cNvSpPr/>
          <p:nvPr/>
        </p:nvSpPr>
        <p:spPr>
          <a:xfrm>
            <a:off x="4288536" y="3977640"/>
            <a:ext cx="3611880" cy="1828800"/>
          </a:xfrm>
          <a:prstGeom prst="roundRect">
            <a:avLst>
              <a:gd name="adj" fmla="val 6000"/>
            </a:avLst>
          </a:prstGeom>
          <a:solidFill>
            <a:schemeClr val="bg2"/>
          </a:solidFill>
          <a:ln/>
        </p:spPr>
      </p:sp>
      <p:sp>
        <p:nvSpPr>
          <p:cNvPr id="26" name="Shape 19"/>
          <p:cNvSpPr/>
          <p:nvPr/>
        </p:nvSpPr>
        <p:spPr>
          <a:xfrm>
            <a:off x="4517136" y="4178808"/>
            <a:ext cx="548640" cy="548640"/>
          </a:xfrm>
          <a:prstGeom prst="ellipse">
            <a:avLst/>
          </a:prstGeom>
          <a:solidFill>
            <a:schemeClr val="accent1"/>
          </a:solidFill>
          <a:ln/>
        </p:spPr>
      </p:sp>
      <p:pic>
        <p:nvPicPr>
          <p:cNvPr id="27" name="Image 4" descr="preencoded.png">    </p:cNvPr>
          <p:cNvPicPr>
            <a:picLocks noChangeAspect="1"/>
          </p:cNvPicPr>
          <p:nvPr/>
        </p:nvPicPr>
        <p:blipFill>
          <a:blip r:embed="rId5"/>
          <a:stretch>
            <a:fillRect/>
          </a:stretch>
        </p:blipFill>
        <p:spPr>
          <a:xfrm>
            <a:off x="4665269" y="4326941"/>
            <a:ext cx="252374" cy="252374"/>
          </a:xfrm>
          <a:prstGeom prst="rect">
            <a:avLst/>
          </a:prstGeom>
        </p:spPr>
      </p:pic>
      <p:sp>
        <p:nvSpPr>
          <p:cNvPr id="28" name="Text 20"/>
          <p:cNvSpPr txBox="1"/>
          <p:nvPr/>
        </p:nvSpPr>
        <p:spPr>
          <a:xfrm>
            <a:off x="5202936" y="4178808"/>
            <a:ext cx="2560320" cy="548640"/>
          </a:xfrm>
          <a:prstGeom prst="rect">
            <a:avLst/>
          </a:prstGeom>
          <a:noFill/>
          <a:ln/>
        </p:spPr>
        <p:txBody>
          <a:bodyPr wrap="square" lIns="0" tIns="0" rIns="0" bIns="0" rtlCol="0" anchor="ctr"/>
          <a:lstStyle/>
          <a:p>
            <a:pPr indent="0" marL="0">
              <a:buNone/>
            </a:pPr>
            <a:r>
              <a:rPr lang="en-US" sz="1100" b="1" spc="100" kern="0" dirty="0">
                <a:solidFill>
                  <a:schemeClr val="tx2"/>
                </a:solidFill>
              </a:rPr>
              <a:t>FORMAT OUVERT</a:t>
            </a:r>
            <a:endParaRPr lang="en-US" sz="1100" dirty="0"/>
          </a:p>
        </p:txBody>
      </p:sp>
      <p:sp>
        <p:nvSpPr>
          <p:cNvPr id="29" name="Text 21"/>
          <p:cNvSpPr txBox="1"/>
          <p:nvPr/>
        </p:nvSpPr>
        <p:spPr>
          <a:xfrm>
            <a:off x="4517136" y="4873752"/>
            <a:ext cx="3200400" cy="868680"/>
          </a:xfrm>
          <a:prstGeom prst="rect">
            <a:avLst/>
          </a:prstGeom>
          <a:noFill/>
          <a:ln/>
        </p:spPr>
        <p:txBody>
          <a:bodyPr wrap="square" lIns="0" tIns="0" rIns="0" bIns="0" rtlCol="0" anchor="t"/>
          <a:lstStyle/>
          <a:p>
            <a:pPr indent="0" marL="0">
              <a:buNone/>
            </a:pPr>
            <a:r>
              <a:rPr lang="en-US" sz="1200" dirty="0">
                <a:solidFill>
                  <a:schemeClr val="tx1"/>
                </a:solidFill>
              </a:rPr>
              <a:t>Export à tout moment. L'État reste propriétaire de ses données.</a:t>
            </a:r>
            <a:endParaRPr lang="en-US" sz="1200" dirty="0"/>
          </a:p>
        </p:txBody>
      </p:sp>
      <p:sp>
        <p:nvSpPr>
          <p:cNvPr id="30" name="Sécurité 6"/>
          <p:cNvSpPr/>
          <p:nvPr/>
        </p:nvSpPr>
        <p:spPr>
          <a:xfrm>
            <a:off x="8028432" y="3977640"/>
            <a:ext cx="3611880" cy="1828800"/>
          </a:xfrm>
          <a:prstGeom prst="roundRect">
            <a:avLst>
              <a:gd name="adj" fmla="val 6000"/>
            </a:avLst>
          </a:prstGeom>
          <a:solidFill>
            <a:schemeClr val="bg2"/>
          </a:solidFill>
          <a:ln/>
        </p:spPr>
      </p:sp>
      <p:sp>
        <p:nvSpPr>
          <p:cNvPr id="31" name="Shape 23"/>
          <p:cNvSpPr/>
          <p:nvPr/>
        </p:nvSpPr>
        <p:spPr>
          <a:xfrm>
            <a:off x="8257032" y="4178808"/>
            <a:ext cx="548640" cy="548640"/>
          </a:xfrm>
          <a:prstGeom prst="ellipse">
            <a:avLst/>
          </a:prstGeom>
          <a:solidFill>
            <a:schemeClr val="accent1"/>
          </a:solidFill>
          <a:ln/>
        </p:spPr>
      </p:sp>
      <p:pic>
        <p:nvPicPr>
          <p:cNvPr id="32" name="Image 5" descr="preencoded.png">    </p:cNvPr>
          <p:cNvPicPr>
            <a:picLocks noChangeAspect="1"/>
          </p:cNvPicPr>
          <p:nvPr/>
        </p:nvPicPr>
        <p:blipFill>
          <a:blip r:embed="rId6"/>
          <a:stretch>
            <a:fillRect/>
          </a:stretch>
        </p:blipFill>
        <p:spPr>
          <a:xfrm>
            <a:off x="8405165" y="4326941"/>
            <a:ext cx="252374" cy="252374"/>
          </a:xfrm>
          <a:prstGeom prst="rect">
            <a:avLst/>
          </a:prstGeom>
        </p:spPr>
      </p:pic>
      <p:sp>
        <p:nvSpPr>
          <p:cNvPr id="33" name="Text 24"/>
          <p:cNvSpPr txBox="1"/>
          <p:nvPr/>
        </p:nvSpPr>
        <p:spPr>
          <a:xfrm>
            <a:off x="8942832" y="4178808"/>
            <a:ext cx="2560320" cy="548640"/>
          </a:xfrm>
          <a:prstGeom prst="rect">
            <a:avLst/>
          </a:prstGeom>
          <a:noFill/>
          <a:ln/>
        </p:spPr>
        <p:txBody>
          <a:bodyPr wrap="square" lIns="0" tIns="0" rIns="0" bIns="0" rtlCol="0" anchor="ctr"/>
          <a:lstStyle/>
          <a:p>
            <a:pPr indent="0" marL="0">
              <a:buNone/>
            </a:pPr>
            <a:r>
              <a:rPr lang="en-US" sz="1100" b="1" spc="100" kern="0" dirty="0">
                <a:solidFill>
                  <a:schemeClr val="tx2"/>
                </a:solidFill>
              </a:rPr>
              <a:t>TRANSPARENCE</a:t>
            </a:r>
            <a:endParaRPr lang="en-US" sz="1100" dirty="0"/>
          </a:p>
        </p:txBody>
      </p:sp>
      <p:sp>
        <p:nvSpPr>
          <p:cNvPr id="34" name="Text 25"/>
          <p:cNvSpPr txBox="1"/>
          <p:nvPr/>
        </p:nvSpPr>
        <p:spPr>
          <a:xfrm>
            <a:off x="8257032" y="4873752"/>
            <a:ext cx="3200400" cy="868680"/>
          </a:xfrm>
          <a:prstGeom prst="rect">
            <a:avLst/>
          </a:prstGeom>
          <a:noFill/>
          <a:ln/>
        </p:spPr>
        <p:txBody>
          <a:bodyPr wrap="square" lIns="0" tIns="0" rIns="0" bIns="0" rtlCol="0" anchor="t"/>
          <a:lstStyle/>
          <a:p>
            <a:pPr indent="0" marL="0">
              <a:buNone/>
            </a:pPr>
            <a:r>
              <a:rPr lang="en-US" sz="1200" dirty="0">
                <a:solidFill>
                  <a:schemeClr val="tx1"/>
                </a:solidFill>
              </a:rPr>
              <a:t>Indicateurs agrégés publiables, par commune.</a:t>
            </a:r>
            <a:endParaRPr lang="en-US" sz="1200" dirty="0"/>
          </a:p>
        </p:txBody>
      </p:sp>
      <p:sp>
        <p:nvSpPr>
          <p:cNvPr id="35" name="Text 26"/>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64 (localisation de la donnée, data centers, cybersécurité, protection des données). Mesures : conception de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USAGE SUR LE TERRAIN</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Conçu pour le terrain : hors connexion, SMS, langues locales</a:t>
            </a:r>
            <a:endParaRPr lang="en-US" sz="2800" dirty="0"/>
          </a:p>
        </p:txBody>
      </p:sp>
      <p:sp>
        <p:nvSpPr>
          <p:cNvPr id="5" name="Terrain 1"/>
          <p:cNvSpPr/>
          <p:nvPr/>
        </p:nvSpPr>
        <p:spPr>
          <a:xfrm>
            <a:off x="548640" y="2011680"/>
            <a:ext cx="2651760" cy="3108960"/>
          </a:xfrm>
          <a:prstGeom prst="roundRect">
            <a:avLst>
              <a:gd name="adj" fmla="val 4138"/>
            </a:avLst>
          </a:prstGeom>
          <a:solidFill>
            <a:schemeClr val="bg2"/>
          </a:solidFill>
          <a:ln/>
        </p:spPr>
      </p:sp>
      <p:sp>
        <p:nvSpPr>
          <p:cNvPr id="6" name="Shape 3"/>
          <p:cNvSpPr/>
          <p:nvPr/>
        </p:nvSpPr>
        <p:spPr>
          <a:xfrm>
            <a:off x="777240" y="2240280"/>
            <a:ext cx="640080" cy="64008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950062" y="2413102"/>
            <a:ext cx="294437" cy="294437"/>
          </a:xfrm>
          <a:prstGeom prst="rect">
            <a:avLst/>
          </a:prstGeom>
        </p:spPr>
      </p:pic>
      <p:sp>
        <p:nvSpPr>
          <p:cNvPr id="8" name="Text 4"/>
          <p:cNvSpPr txBox="1"/>
          <p:nvPr/>
        </p:nvSpPr>
        <p:spPr>
          <a:xfrm>
            <a:off x="777240" y="3017520"/>
            <a:ext cx="2240280" cy="320040"/>
          </a:xfrm>
          <a:prstGeom prst="rect">
            <a:avLst/>
          </a:prstGeom>
          <a:noFill/>
          <a:ln/>
        </p:spPr>
        <p:txBody>
          <a:bodyPr wrap="square" lIns="0" tIns="0" rIns="0" bIns="0" rtlCol="0" anchor="ctr"/>
          <a:lstStyle/>
          <a:p>
            <a:pPr indent="0" marL="0">
              <a:buNone/>
            </a:pPr>
            <a:r>
              <a:rPr lang="en-US" sz="1200" b="1" spc="100" kern="0" dirty="0">
                <a:solidFill>
                  <a:schemeClr val="tx2"/>
                </a:solidFill>
              </a:rPr>
              <a:t>HORS CONNEXION</a:t>
            </a:r>
            <a:endParaRPr lang="en-US" sz="1200" dirty="0"/>
          </a:p>
        </p:txBody>
      </p:sp>
      <p:sp>
        <p:nvSpPr>
          <p:cNvPr id="9" name="Text 5"/>
          <p:cNvSpPr txBox="1"/>
          <p:nvPr/>
        </p:nvSpPr>
        <p:spPr>
          <a:xfrm>
            <a:off x="777240" y="3429000"/>
            <a:ext cx="2240280" cy="1554480"/>
          </a:xfrm>
          <a:prstGeom prst="rect">
            <a:avLst/>
          </a:prstGeom>
          <a:noFill/>
          <a:ln/>
        </p:spPr>
        <p:txBody>
          <a:bodyPr wrap="square" lIns="0" tIns="0" rIns="0" bIns="0" rtlCol="0" anchor="t"/>
          <a:lstStyle/>
          <a:p>
            <a:pPr indent="0" marL="0">
              <a:buNone/>
            </a:pPr>
            <a:r>
              <a:rPr lang="en-US" sz="1250" dirty="0">
                <a:solidFill>
                  <a:schemeClr val="tx1"/>
                </a:solidFill>
              </a:rPr>
              <a:t>L'agent travaille sans réseau. Tout se synchronise au retour de la couverture.</a:t>
            </a:r>
            <a:endParaRPr lang="en-US" sz="1250" dirty="0"/>
          </a:p>
        </p:txBody>
      </p:sp>
      <p:sp>
        <p:nvSpPr>
          <p:cNvPr id="10" name="Terrain 2"/>
          <p:cNvSpPr/>
          <p:nvPr/>
        </p:nvSpPr>
        <p:spPr>
          <a:xfrm>
            <a:off x="3362249" y="2011680"/>
            <a:ext cx="2651760" cy="3108960"/>
          </a:xfrm>
          <a:prstGeom prst="roundRect">
            <a:avLst>
              <a:gd name="adj" fmla="val 4138"/>
            </a:avLst>
          </a:prstGeom>
          <a:solidFill>
            <a:schemeClr val="bg2"/>
          </a:solidFill>
          <a:ln/>
        </p:spPr>
      </p:sp>
      <p:sp>
        <p:nvSpPr>
          <p:cNvPr id="11" name="Shape 7"/>
          <p:cNvSpPr/>
          <p:nvPr/>
        </p:nvSpPr>
        <p:spPr>
          <a:xfrm>
            <a:off x="3590849" y="2240280"/>
            <a:ext cx="640080" cy="64008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3763670" y="2413102"/>
            <a:ext cx="294437" cy="294437"/>
          </a:xfrm>
          <a:prstGeom prst="rect">
            <a:avLst/>
          </a:prstGeom>
        </p:spPr>
      </p:pic>
      <p:sp>
        <p:nvSpPr>
          <p:cNvPr id="13" name="Text 8"/>
          <p:cNvSpPr txBox="1"/>
          <p:nvPr/>
        </p:nvSpPr>
        <p:spPr>
          <a:xfrm>
            <a:off x="3590849" y="3017520"/>
            <a:ext cx="2240280" cy="320040"/>
          </a:xfrm>
          <a:prstGeom prst="rect">
            <a:avLst/>
          </a:prstGeom>
          <a:noFill/>
          <a:ln/>
        </p:spPr>
        <p:txBody>
          <a:bodyPr wrap="square" lIns="0" tIns="0" rIns="0" bIns="0" rtlCol="0" anchor="ctr"/>
          <a:lstStyle/>
          <a:p>
            <a:pPr indent="0" marL="0">
              <a:buNone/>
            </a:pPr>
            <a:r>
              <a:rPr lang="en-US" sz="1200" b="1" spc="100" kern="0" dirty="0">
                <a:solidFill>
                  <a:schemeClr val="tx2"/>
                </a:solidFill>
              </a:rPr>
              <a:t>SMS ET APPEL</a:t>
            </a:r>
            <a:endParaRPr lang="en-US" sz="1200" dirty="0"/>
          </a:p>
        </p:txBody>
      </p:sp>
      <p:sp>
        <p:nvSpPr>
          <p:cNvPr id="14" name="Text 9"/>
          <p:cNvSpPr txBox="1"/>
          <p:nvPr/>
        </p:nvSpPr>
        <p:spPr>
          <a:xfrm>
            <a:off x="3590849" y="3429000"/>
            <a:ext cx="2240280" cy="1554480"/>
          </a:xfrm>
          <a:prstGeom prst="rect">
            <a:avLst/>
          </a:prstGeom>
          <a:noFill/>
          <a:ln/>
        </p:spPr>
        <p:txBody>
          <a:bodyPr wrap="square" lIns="0" tIns="0" rIns="0" bIns="0" rtlCol="0" anchor="t"/>
          <a:lstStyle/>
          <a:p>
            <a:pPr indent="0" marL="0">
              <a:buNone/>
            </a:pPr>
            <a:r>
              <a:rPr lang="en-US" sz="1250" dirty="0">
                <a:solidFill>
                  <a:schemeClr val="tx1"/>
                </a:solidFill>
              </a:rPr>
              <a:t>Le numéro gravé sur la plaque permet un signalement sans smartphone.</a:t>
            </a:r>
            <a:endParaRPr lang="en-US" sz="1250" dirty="0"/>
          </a:p>
        </p:txBody>
      </p:sp>
      <p:sp>
        <p:nvSpPr>
          <p:cNvPr id="15" name="Terrain 3"/>
          <p:cNvSpPr/>
          <p:nvPr/>
        </p:nvSpPr>
        <p:spPr>
          <a:xfrm>
            <a:off x="6175858" y="2011680"/>
            <a:ext cx="2651760" cy="3108960"/>
          </a:xfrm>
          <a:prstGeom prst="roundRect">
            <a:avLst>
              <a:gd name="adj" fmla="val 4138"/>
            </a:avLst>
          </a:prstGeom>
          <a:solidFill>
            <a:schemeClr val="bg2"/>
          </a:solidFill>
          <a:ln/>
        </p:spPr>
      </p:sp>
      <p:sp>
        <p:nvSpPr>
          <p:cNvPr id="16" name="Shape 11"/>
          <p:cNvSpPr/>
          <p:nvPr/>
        </p:nvSpPr>
        <p:spPr>
          <a:xfrm>
            <a:off x="6404458" y="2240280"/>
            <a:ext cx="640080" cy="64008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6577279" y="2413102"/>
            <a:ext cx="294437" cy="294437"/>
          </a:xfrm>
          <a:prstGeom prst="rect">
            <a:avLst/>
          </a:prstGeom>
        </p:spPr>
      </p:pic>
      <p:sp>
        <p:nvSpPr>
          <p:cNvPr id="18" name="Text 12"/>
          <p:cNvSpPr txBox="1"/>
          <p:nvPr/>
        </p:nvSpPr>
        <p:spPr>
          <a:xfrm>
            <a:off x="6404458" y="3017520"/>
            <a:ext cx="2240280" cy="320040"/>
          </a:xfrm>
          <a:prstGeom prst="rect">
            <a:avLst/>
          </a:prstGeom>
          <a:noFill/>
          <a:ln/>
        </p:spPr>
        <p:txBody>
          <a:bodyPr wrap="square" lIns="0" tIns="0" rIns="0" bIns="0" rtlCol="0" anchor="ctr"/>
          <a:lstStyle/>
          <a:p>
            <a:pPr indent="0" marL="0">
              <a:buNone/>
            </a:pPr>
            <a:r>
              <a:rPr lang="en-US" sz="1200" b="1" spc="100" kern="0" dirty="0">
                <a:solidFill>
                  <a:schemeClr val="tx2"/>
                </a:solidFill>
              </a:rPr>
              <a:t>LANGUES LOCALES</a:t>
            </a:r>
            <a:endParaRPr lang="en-US" sz="1200" dirty="0"/>
          </a:p>
        </p:txBody>
      </p:sp>
      <p:sp>
        <p:nvSpPr>
          <p:cNvPr id="19" name="Text 13"/>
          <p:cNvSpPr txBox="1"/>
          <p:nvPr/>
        </p:nvSpPr>
        <p:spPr>
          <a:xfrm>
            <a:off x="6404458" y="3429000"/>
            <a:ext cx="2240280" cy="1554480"/>
          </a:xfrm>
          <a:prstGeom prst="rect">
            <a:avLst/>
          </a:prstGeom>
          <a:noFill/>
          <a:ln/>
        </p:spPr>
        <p:txBody>
          <a:bodyPr wrap="square" lIns="0" tIns="0" rIns="0" bIns="0" rtlCol="0" anchor="t"/>
          <a:lstStyle/>
          <a:p>
            <a:pPr indent="0" marL="0">
              <a:buNone/>
            </a:pPr>
            <a:r>
              <a:rPr lang="en-US" sz="1250" dirty="0">
                <a:solidFill>
                  <a:schemeClr val="tx1"/>
                </a:solidFill>
              </a:rPr>
              <a:t>Interface en français et dans les langues locales, avec pictogrammes.</a:t>
            </a:r>
            <a:endParaRPr lang="en-US" sz="1250" dirty="0"/>
          </a:p>
        </p:txBody>
      </p:sp>
      <p:sp>
        <p:nvSpPr>
          <p:cNvPr id="20" name="Terrain 4"/>
          <p:cNvSpPr/>
          <p:nvPr/>
        </p:nvSpPr>
        <p:spPr>
          <a:xfrm>
            <a:off x="8989466" y="2011680"/>
            <a:ext cx="2651760" cy="3108960"/>
          </a:xfrm>
          <a:prstGeom prst="roundRect">
            <a:avLst>
              <a:gd name="adj" fmla="val 4138"/>
            </a:avLst>
          </a:prstGeom>
          <a:solidFill>
            <a:schemeClr val="bg2"/>
          </a:solidFill>
          <a:ln/>
        </p:spPr>
      </p:sp>
      <p:sp>
        <p:nvSpPr>
          <p:cNvPr id="21" name="Shape 15"/>
          <p:cNvSpPr/>
          <p:nvPr/>
        </p:nvSpPr>
        <p:spPr>
          <a:xfrm>
            <a:off x="9218066" y="2240280"/>
            <a:ext cx="640080" cy="64008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9390888" y="2413102"/>
            <a:ext cx="294437" cy="294437"/>
          </a:xfrm>
          <a:prstGeom prst="rect">
            <a:avLst/>
          </a:prstGeom>
        </p:spPr>
      </p:pic>
      <p:sp>
        <p:nvSpPr>
          <p:cNvPr id="23" name="Text 16"/>
          <p:cNvSpPr txBox="1"/>
          <p:nvPr/>
        </p:nvSpPr>
        <p:spPr>
          <a:xfrm>
            <a:off x="9218066" y="3017520"/>
            <a:ext cx="2240280" cy="320040"/>
          </a:xfrm>
          <a:prstGeom prst="rect">
            <a:avLst/>
          </a:prstGeom>
          <a:noFill/>
          <a:ln/>
        </p:spPr>
        <p:txBody>
          <a:bodyPr wrap="square" lIns="0" tIns="0" rIns="0" bIns="0" rtlCol="0" anchor="ctr"/>
          <a:lstStyle/>
          <a:p>
            <a:pPr indent="0" marL="0">
              <a:buNone/>
            </a:pPr>
            <a:r>
              <a:rPr lang="en-US" sz="1200" b="1" spc="100" kern="0" dirty="0">
                <a:solidFill>
                  <a:schemeClr val="tx2"/>
                </a:solidFill>
              </a:rPr>
              <a:t>RELAIS DIGITAUX</a:t>
            </a:r>
            <a:endParaRPr lang="en-US" sz="1200" dirty="0"/>
          </a:p>
        </p:txBody>
      </p:sp>
      <p:sp>
        <p:nvSpPr>
          <p:cNvPr id="24" name="Text 17"/>
          <p:cNvSpPr txBox="1"/>
          <p:nvPr/>
        </p:nvSpPr>
        <p:spPr>
          <a:xfrm>
            <a:off x="9218066" y="3429000"/>
            <a:ext cx="2240280" cy="1554480"/>
          </a:xfrm>
          <a:prstGeom prst="rect">
            <a:avLst/>
          </a:prstGeom>
          <a:noFill/>
          <a:ln/>
        </p:spPr>
        <p:txBody>
          <a:bodyPr wrap="square" lIns="0" tIns="0" rIns="0" bIns="0" rtlCol="0" anchor="t"/>
          <a:lstStyle/>
          <a:p>
            <a:pPr indent="0" marL="0">
              <a:buNone/>
            </a:pPr>
            <a:r>
              <a:rPr lang="en-US" sz="1250" dirty="0">
                <a:solidFill>
                  <a:schemeClr val="tx1"/>
                </a:solidFill>
              </a:rPr>
              <a:t>Un relais de la localité aide à signaler et à suivre.</a:t>
            </a:r>
            <a:endParaRPr lang="en-US" sz="1250" dirty="0"/>
          </a:p>
        </p:txBody>
      </p:sp>
      <p:sp>
        <p:nvSpPr>
          <p:cNvPr id="25" name="Bandeau principe"/>
          <p:cNvSpPr/>
          <p:nvPr/>
        </p:nvSpPr>
        <p:spPr>
          <a:xfrm>
            <a:off x="548640" y="5303520"/>
            <a:ext cx="11091672" cy="685800"/>
          </a:xfrm>
          <a:prstGeom prst="roundRect">
            <a:avLst>
              <a:gd name="adj" fmla="val 16000"/>
            </a:avLst>
          </a:prstGeom>
          <a:solidFill>
            <a:schemeClr val="accent2"/>
          </a:solidFill>
          <a:ln/>
        </p:spPr>
      </p:sp>
      <p:sp>
        <p:nvSpPr>
          <p:cNvPr id="26" name="Text 19"/>
          <p:cNvSpPr txBox="1"/>
          <p:nvPr/>
        </p:nvSpPr>
        <p:spPr>
          <a:xfrm>
            <a:off x="822960" y="5303520"/>
            <a:ext cx="10607040" cy="685800"/>
          </a:xfrm>
          <a:prstGeom prst="rect">
            <a:avLst/>
          </a:prstGeom>
          <a:noFill/>
          <a:ln/>
        </p:spPr>
        <p:txBody>
          <a:bodyPr wrap="square" lIns="0" tIns="0" rIns="0" bIns="0" rtlCol="0" anchor="ctr"/>
          <a:lstStyle/>
          <a:p>
            <a:pPr indent="0" marL="0">
              <a:buNone/>
            </a:pPr>
            <a:r>
              <a:rPr lang="en-US" sz="1400" b="1" dirty="0">
                <a:solidFill>
                  <a:schemeClr val="tx2"/>
                </a:solidFill>
              </a:rPr>
              <a:t>Principe : si l'outil n'est pas utilisable au pied de l'ouvrage, il ne sera pas utilisé.</a:t>
            </a:r>
            <a:endParaRPr lang="en-US" sz="1400" dirty="0"/>
          </a:p>
        </p:txBody>
      </p:sp>
      <p:sp>
        <p:nvSpPr>
          <p:cNvPr id="27" name="Text 20"/>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64 (4G, relais digitaux). Mesures : conception de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RACCORDEMENTS</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Ce que le registre emprunte aux dispositifs annoncés, et ce qu'il leur rend</a:t>
            </a:r>
            <a:endParaRPr lang="en-US" sz="2800" dirty="0"/>
          </a:p>
        </p:txBody>
      </p:sp>
      <p:sp>
        <p:nvSpPr>
          <p:cNvPr id="5" name="Shape 2"/>
          <p:cNvSpPr/>
          <p:nvPr/>
        </p:nvSpPr>
        <p:spPr>
          <a:xfrm>
            <a:off x="4480560" y="2880360"/>
            <a:ext cx="3200400" cy="2286000"/>
          </a:xfrm>
          <a:prstGeom prst="ellipse">
            <a:avLst/>
          </a:prstGeom>
          <a:solidFill>
            <a:schemeClr val="tx2"/>
          </a:solidFill>
          <a:ln/>
        </p:spPr>
      </p:sp>
      <p:sp>
        <p:nvSpPr>
          <p:cNvPr id="6" name="Text 3"/>
          <p:cNvSpPr txBox="1"/>
          <p:nvPr/>
        </p:nvSpPr>
        <p:spPr>
          <a:xfrm>
            <a:off x="4480560" y="3383280"/>
            <a:ext cx="3200400" cy="365760"/>
          </a:xfrm>
          <a:prstGeom prst="rect">
            <a:avLst/>
          </a:prstGeom>
          <a:noFill/>
          <a:ln/>
        </p:spPr>
        <p:txBody>
          <a:bodyPr wrap="square" lIns="0" tIns="0" rIns="0" bIns="0" rtlCol="0" anchor="ctr"/>
          <a:lstStyle/>
          <a:p>
            <a:pPr algn="ctr" indent="0" marL="0">
              <a:buNone/>
            </a:pPr>
            <a:r>
              <a:rPr lang="en-US" sz="1800" b="1" spc="300" kern="0" dirty="0">
                <a:solidFill>
                  <a:schemeClr val="accent2"/>
                </a:solidFill>
              </a:rPr>
              <a:t>REGISTRE</a:t>
            </a:r>
            <a:endParaRPr lang="en-US" sz="1800" dirty="0"/>
          </a:p>
        </p:txBody>
      </p:sp>
      <p:sp>
        <p:nvSpPr>
          <p:cNvPr id="7" name="Text 4"/>
          <p:cNvSpPr txBox="1"/>
          <p:nvPr/>
        </p:nvSpPr>
        <p:spPr>
          <a:xfrm>
            <a:off x="4754880" y="3794760"/>
            <a:ext cx="2651760" cy="731520"/>
          </a:xfrm>
          <a:prstGeom prst="rect">
            <a:avLst/>
          </a:prstGeom>
          <a:noFill/>
          <a:ln/>
        </p:spPr>
        <p:txBody>
          <a:bodyPr wrap="square" lIns="0" tIns="0" rIns="0" bIns="0" rtlCol="0" anchor="t"/>
          <a:lstStyle/>
          <a:p>
            <a:pPr algn="ctr" indent="0" marL="0">
              <a:buNone/>
            </a:pPr>
            <a:r>
              <a:rPr lang="en-US" sz="1200" dirty="0">
                <a:solidFill>
                  <a:schemeClr val="bg1"/>
                </a:solidFill>
              </a:rPr>
              <a:t>ouvrages, pièces, interventions</a:t>
            </a:r>
            <a:endParaRPr lang="en-US" sz="1200" dirty="0"/>
          </a:p>
        </p:txBody>
      </p:sp>
      <p:sp>
        <p:nvSpPr>
          <p:cNvPr id="8" name="Lien CADASTRE NUMÉRIQUE"/>
          <p:cNvSpPr/>
          <p:nvPr/>
        </p:nvSpPr>
        <p:spPr>
          <a:xfrm>
            <a:off x="548640" y="1965960"/>
            <a:ext cx="3639312" cy="1645920"/>
          </a:xfrm>
          <a:prstGeom prst="roundRect">
            <a:avLst>
              <a:gd name="adj" fmla="val 6667"/>
            </a:avLst>
          </a:prstGeom>
          <a:solidFill>
            <a:schemeClr val="bg2"/>
          </a:solidFill>
          <a:ln/>
        </p:spPr>
      </p:sp>
      <p:sp>
        <p:nvSpPr>
          <p:cNvPr id="9" name="Text 6"/>
          <p:cNvSpPr txBox="1"/>
          <p:nvPr/>
        </p:nvSpPr>
        <p:spPr>
          <a:xfrm>
            <a:off x="731520" y="2103120"/>
            <a:ext cx="3291840" cy="594360"/>
          </a:xfrm>
          <a:prstGeom prst="rect">
            <a:avLst/>
          </a:prstGeom>
          <a:noFill/>
          <a:ln/>
        </p:spPr>
        <p:txBody>
          <a:bodyPr wrap="square" lIns="0" tIns="0" rIns="0" bIns="0" rtlCol="0" anchor="t"/>
          <a:lstStyle/>
          <a:p>
            <a:pPr indent="0" marL="0">
              <a:buNone/>
            </a:pPr>
            <a:r>
              <a:rPr lang="en-US" sz="1100" b="1" dirty="0">
                <a:solidFill>
                  <a:schemeClr val="accent1"/>
                </a:solidFill>
              </a:rPr>
              <a:t>CADASTRE NUMÉRIQUE  ·  p. 23</a:t>
            </a:r>
            <a:endParaRPr lang="en-US" sz="1100" dirty="0"/>
          </a:p>
        </p:txBody>
      </p:sp>
      <p:sp>
        <p:nvSpPr>
          <p:cNvPr id="10" name="Text 7"/>
          <p:cNvSpPr txBox="1"/>
          <p:nvPr/>
        </p:nvSpPr>
        <p:spPr>
          <a:xfrm>
            <a:off x="731520" y="2788920"/>
            <a:ext cx="3291840" cy="731520"/>
          </a:xfrm>
          <a:prstGeom prst="rect">
            <a:avLst/>
          </a:prstGeom>
          <a:noFill/>
          <a:ln/>
        </p:spPr>
        <p:txBody>
          <a:bodyPr wrap="square" lIns="0" tIns="0" rIns="0" bIns="0" rtlCol="0" anchor="t"/>
          <a:lstStyle/>
          <a:p>
            <a:pPr indent="0" marL="0">
              <a:buNone/>
            </a:pPr>
            <a:r>
              <a:rPr lang="en-US" sz="1250" b="1" dirty="0">
                <a:solidFill>
                  <a:schemeClr val="tx2"/>
                </a:solidFill>
              </a:rPr>
              <a:t>Emprunte : parcelles et positions</a:t>
            </a:r>
            <a:endParaRPr lang="en-US" sz="1250" dirty="0"/>
          </a:p>
        </p:txBody>
      </p:sp>
      <p:sp>
        <p:nvSpPr>
          <p:cNvPr id="11" name="Lien PLATEFORME NATIONALE DE DONNÉES LOCALES"/>
          <p:cNvSpPr/>
          <p:nvPr/>
        </p:nvSpPr>
        <p:spPr>
          <a:xfrm>
            <a:off x="8001000" y="1965960"/>
            <a:ext cx="3639312" cy="1645920"/>
          </a:xfrm>
          <a:prstGeom prst="roundRect">
            <a:avLst>
              <a:gd name="adj" fmla="val 6667"/>
            </a:avLst>
          </a:prstGeom>
          <a:solidFill>
            <a:schemeClr val="bg2"/>
          </a:solidFill>
          <a:ln/>
        </p:spPr>
      </p:sp>
      <p:sp>
        <p:nvSpPr>
          <p:cNvPr id="12" name="Text 9"/>
          <p:cNvSpPr txBox="1"/>
          <p:nvPr/>
        </p:nvSpPr>
        <p:spPr>
          <a:xfrm>
            <a:off x="8183880" y="2103120"/>
            <a:ext cx="3291840" cy="594360"/>
          </a:xfrm>
          <a:prstGeom prst="rect">
            <a:avLst/>
          </a:prstGeom>
          <a:noFill/>
          <a:ln/>
        </p:spPr>
        <p:txBody>
          <a:bodyPr wrap="square" lIns="0" tIns="0" rIns="0" bIns="0" rtlCol="0" anchor="t"/>
          <a:lstStyle/>
          <a:p>
            <a:pPr indent="0" marL="0">
              <a:buNone/>
            </a:pPr>
            <a:r>
              <a:rPr lang="en-US" sz="1100" b="1" dirty="0">
                <a:solidFill>
                  <a:schemeClr val="accent1"/>
                </a:solidFill>
              </a:rPr>
              <a:t>PLATEFORME NATIONALE DE DONNÉES LOCALES  ·  p. 64</a:t>
            </a:r>
            <a:endParaRPr lang="en-US" sz="1100" dirty="0"/>
          </a:p>
        </p:txBody>
      </p:sp>
      <p:sp>
        <p:nvSpPr>
          <p:cNvPr id="13" name="Text 10"/>
          <p:cNvSpPr txBox="1"/>
          <p:nvPr/>
        </p:nvSpPr>
        <p:spPr>
          <a:xfrm>
            <a:off x="8183880" y="2788920"/>
            <a:ext cx="3291840" cy="731520"/>
          </a:xfrm>
          <a:prstGeom prst="rect">
            <a:avLst/>
          </a:prstGeom>
          <a:noFill/>
          <a:ln/>
        </p:spPr>
        <p:txBody>
          <a:bodyPr wrap="square" lIns="0" tIns="0" rIns="0" bIns="0" rtlCol="0" anchor="t"/>
          <a:lstStyle/>
          <a:p>
            <a:pPr indent="0" marL="0">
              <a:buNone/>
            </a:pPr>
            <a:r>
              <a:rPr lang="en-US" sz="1250" b="1" dirty="0">
                <a:solidFill>
                  <a:schemeClr val="tx2"/>
                </a:solidFill>
              </a:rPr>
              <a:t>Rend : données d'ouvrages agrégées</a:t>
            </a:r>
            <a:endParaRPr lang="en-US" sz="1250" dirty="0"/>
          </a:p>
        </p:txBody>
      </p:sp>
      <p:sp>
        <p:nvSpPr>
          <p:cNvPr id="14" name="Lien « DITES-LE-NOUS UNE FOIS »"/>
          <p:cNvSpPr/>
          <p:nvPr/>
        </p:nvSpPr>
        <p:spPr>
          <a:xfrm>
            <a:off x="548640" y="4343400"/>
            <a:ext cx="3639312" cy="1645920"/>
          </a:xfrm>
          <a:prstGeom prst="roundRect">
            <a:avLst>
              <a:gd name="adj" fmla="val 6667"/>
            </a:avLst>
          </a:prstGeom>
          <a:solidFill>
            <a:schemeClr val="bg2"/>
          </a:solidFill>
          <a:ln/>
        </p:spPr>
      </p:sp>
      <p:sp>
        <p:nvSpPr>
          <p:cNvPr id="15" name="Text 12"/>
          <p:cNvSpPr txBox="1"/>
          <p:nvPr/>
        </p:nvSpPr>
        <p:spPr>
          <a:xfrm>
            <a:off x="731520" y="4480560"/>
            <a:ext cx="3291840" cy="594360"/>
          </a:xfrm>
          <a:prstGeom prst="rect">
            <a:avLst/>
          </a:prstGeom>
          <a:noFill/>
          <a:ln/>
        </p:spPr>
        <p:txBody>
          <a:bodyPr wrap="square" lIns="0" tIns="0" rIns="0" bIns="0" rtlCol="0" anchor="t"/>
          <a:lstStyle/>
          <a:p>
            <a:pPr indent="0" marL="0">
              <a:buNone/>
            </a:pPr>
            <a:r>
              <a:rPr lang="en-US" sz="1100" b="1" dirty="0">
                <a:solidFill>
                  <a:schemeClr val="accent1"/>
                </a:solidFill>
              </a:rPr>
              <a:t>« DITES-LE-NOUS UNE FOIS »  ·  p. 55</a:t>
            </a:r>
            <a:endParaRPr lang="en-US" sz="1100" dirty="0"/>
          </a:p>
        </p:txBody>
      </p:sp>
      <p:sp>
        <p:nvSpPr>
          <p:cNvPr id="16" name="Text 13"/>
          <p:cNvSpPr txBox="1"/>
          <p:nvPr/>
        </p:nvSpPr>
        <p:spPr>
          <a:xfrm>
            <a:off x="731520" y="5166360"/>
            <a:ext cx="3291840" cy="731520"/>
          </a:xfrm>
          <a:prstGeom prst="rect">
            <a:avLst/>
          </a:prstGeom>
          <a:noFill/>
          <a:ln/>
        </p:spPr>
        <p:txBody>
          <a:bodyPr wrap="square" lIns="0" tIns="0" rIns="0" bIns="0" rtlCol="0" anchor="t"/>
          <a:lstStyle/>
          <a:p>
            <a:pPr indent="0" marL="0">
              <a:buNone/>
            </a:pPr>
            <a:r>
              <a:rPr lang="en-US" sz="1250" b="1" dirty="0">
                <a:solidFill>
                  <a:schemeClr val="tx2"/>
                </a:solidFill>
              </a:rPr>
              <a:t>Emprunte : identités déjà connues</a:t>
            </a:r>
            <a:endParaRPr lang="en-US" sz="1250" dirty="0"/>
          </a:p>
        </p:txBody>
      </p:sp>
      <p:sp>
        <p:nvSpPr>
          <p:cNvPr id="17" name="Lien SUIVI DES COMMUNES"/>
          <p:cNvSpPr/>
          <p:nvPr/>
        </p:nvSpPr>
        <p:spPr>
          <a:xfrm>
            <a:off x="8001000" y="4343400"/>
            <a:ext cx="3639312" cy="1645920"/>
          </a:xfrm>
          <a:prstGeom prst="roundRect">
            <a:avLst>
              <a:gd name="adj" fmla="val 6667"/>
            </a:avLst>
          </a:prstGeom>
          <a:solidFill>
            <a:schemeClr val="bg2"/>
          </a:solidFill>
          <a:ln/>
        </p:spPr>
      </p:sp>
      <p:sp>
        <p:nvSpPr>
          <p:cNvPr id="18" name="Text 15"/>
          <p:cNvSpPr txBox="1"/>
          <p:nvPr/>
        </p:nvSpPr>
        <p:spPr>
          <a:xfrm>
            <a:off x="8183880" y="4480560"/>
            <a:ext cx="3291840" cy="594360"/>
          </a:xfrm>
          <a:prstGeom prst="rect">
            <a:avLst/>
          </a:prstGeom>
          <a:noFill/>
          <a:ln/>
        </p:spPr>
        <p:txBody>
          <a:bodyPr wrap="square" lIns="0" tIns="0" rIns="0" bIns="0" rtlCol="0" anchor="t"/>
          <a:lstStyle/>
          <a:p>
            <a:pPr indent="0" marL="0">
              <a:buNone/>
            </a:pPr>
            <a:r>
              <a:rPr lang="en-US" sz="1100" b="1" dirty="0">
                <a:solidFill>
                  <a:schemeClr val="accent1"/>
                </a:solidFill>
              </a:rPr>
              <a:t>SUIVI DES COMMUNES  ·  p. 56</a:t>
            </a:r>
            <a:endParaRPr lang="en-US" sz="1100" dirty="0"/>
          </a:p>
        </p:txBody>
      </p:sp>
      <p:sp>
        <p:nvSpPr>
          <p:cNvPr id="19" name="Text 16"/>
          <p:cNvSpPr txBox="1"/>
          <p:nvPr/>
        </p:nvSpPr>
        <p:spPr>
          <a:xfrm>
            <a:off x="8183880" y="5166360"/>
            <a:ext cx="3291840" cy="731520"/>
          </a:xfrm>
          <a:prstGeom prst="rect">
            <a:avLst/>
          </a:prstGeom>
          <a:noFill/>
          <a:ln/>
        </p:spPr>
        <p:txBody>
          <a:bodyPr wrap="square" lIns="0" tIns="0" rIns="0" bIns="0" rtlCol="0" anchor="t"/>
          <a:lstStyle/>
          <a:p>
            <a:pPr indent="0" marL="0">
              <a:buNone/>
            </a:pPr>
            <a:r>
              <a:rPr lang="en-US" sz="1250" b="1" dirty="0">
                <a:solidFill>
                  <a:schemeClr val="tx2"/>
                </a:solidFill>
              </a:rPr>
              <a:t>Rend : indicateurs d'entretien</a:t>
            </a:r>
            <a:endParaRPr lang="en-US" sz="1250" dirty="0"/>
          </a:p>
        </p:txBody>
      </p:sp>
      <p:sp>
        <p:nvSpPr>
          <p:cNvPr id="20" name="Text 17"/>
          <p:cNvSpPr txBox="1"/>
          <p:nvPr/>
        </p:nvSpPr>
        <p:spPr>
          <a:xfrm>
            <a:off x="4023360" y="5486400"/>
            <a:ext cx="4114800" cy="457200"/>
          </a:xfrm>
          <a:prstGeom prst="rect">
            <a:avLst/>
          </a:prstGeom>
          <a:noFill/>
          <a:ln/>
        </p:spPr>
        <p:txBody>
          <a:bodyPr wrap="square" lIns="0" tIns="0" rIns="0" bIns="0" rtlCol="0" anchor="ctr"/>
          <a:lstStyle/>
          <a:p>
            <a:pPr algn="ctr" indent="0" marL="0">
              <a:buNone/>
            </a:pPr>
            <a:r>
              <a:rPr lang="en-US" sz="1100" i="1" dirty="0">
                <a:solidFill>
                  <a:schemeClr val="accent5"/>
                </a:solidFill>
              </a:rPr>
              <a:t>Raccordements envisagés, à confirmer avec les services concernés.</a:t>
            </a:r>
            <a:endParaRPr lang="en-US" sz="1100" dirty="0"/>
          </a:p>
        </p:txBody>
      </p:sp>
      <p:sp>
        <p:nvSpPr>
          <p:cNvPr id="21" name="Text 18"/>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23, 55, 56 et 64. Aucun accord ni raccordement n'existe à ce stade.</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FORMATION ET MÉTIERS</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Former ceux qui utiliseront et réparent : une chaîne déjà esquissée</a:t>
            </a:r>
            <a:endParaRPr lang="en-US" sz="2800" dirty="0"/>
          </a:p>
        </p:txBody>
      </p:sp>
      <p:sp>
        <p:nvSpPr>
          <p:cNvPr id="5" name="Public AGENTS COMMUNAUX"/>
          <p:cNvSpPr/>
          <p:nvPr/>
        </p:nvSpPr>
        <p:spPr>
          <a:xfrm>
            <a:off x="548640" y="2011680"/>
            <a:ext cx="11091672" cy="886968"/>
          </a:xfrm>
          <a:prstGeom prst="roundRect">
            <a:avLst>
              <a:gd name="adj" fmla="val 12371"/>
            </a:avLst>
          </a:prstGeom>
          <a:solidFill>
            <a:schemeClr val="bg2"/>
          </a:solidFill>
          <a:ln/>
        </p:spPr>
      </p:sp>
      <p:sp>
        <p:nvSpPr>
          <p:cNvPr id="6" name="Text 3"/>
          <p:cNvSpPr txBox="1"/>
          <p:nvPr/>
        </p:nvSpPr>
        <p:spPr>
          <a:xfrm>
            <a:off x="777240" y="2011680"/>
            <a:ext cx="2468880" cy="886968"/>
          </a:xfrm>
          <a:prstGeom prst="rect">
            <a:avLst/>
          </a:prstGeom>
          <a:noFill/>
          <a:ln/>
        </p:spPr>
        <p:txBody>
          <a:bodyPr wrap="square" lIns="0" tIns="0" rIns="0" bIns="0" rtlCol="0" anchor="ctr"/>
          <a:lstStyle/>
          <a:p>
            <a:pPr indent="0" marL="0">
              <a:buNone/>
            </a:pPr>
            <a:r>
              <a:rPr lang="en-US" sz="1200" b="1" spc="100" kern="0" dirty="0">
                <a:solidFill>
                  <a:schemeClr val="accent1"/>
                </a:solidFill>
              </a:rPr>
              <a:t>AGENTS COMMUNAUX</a:t>
            </a:r>
            <a:endParaRPr lang="en-US" sz="1200" dirty="0"/>
          </a:p>
        </p:txBody>
      </p:sp>
      <p:sp>
        <p:nvSpPr>
          <p:cNvPr id="7" name="Text 4"/>
          <p:cNvSpPr txBox="1"/>
          <p:nvPr/>
        </p:nvSpPr>
        <p:spPr>
          <a:xfrm>
            <a:off x="3291840" y="2011680"/>
            <a:ext cx="3840480" cy="886968"/>
          </a:xfrm>
          <a:prstGeom prst="rect">
            <a:avLst/>
          </a:prstGeom>
          <a:noFill/>
          <a:ln/>
        </p:spPr>
        <p:txBody>
          <a:bodyPr wrap="square" lIns="0" tIns="0" rIns="0" bIns="0" rtlCol="0" anchor="ctr"/>
          <a:lstStyle/>
          <a:p>
            <a:pPr indent="0" marL="0">
              <a:buNone/>
            </a:pPr>
            <a:r>
              <a:rPr lang="en-US" sz="1250" b="1" dirty="0">
                <a:solidFill>
                  <a:schemeClr val="tx2"/>
                </a:solidFill>
              </a:rPr>
              <a:t>Utiliser le registre, prioriser, rendre compte</a:t>
            </a:r>
            <a:endParaRPr lang="en-US" sz="1250" dirty="0"/>
          </a:p>
        </p:txBody>
      </p:sp>
      <p:sp>
        <p:nvSpPr>
          <p:cNvPr id="8" name="Text 5"/>
          <p:cNvSpPr txBox="1"/>
          <p:nvPr/>
        </p:nvSpPr>
        <p:spPr>
          <a:xfrm>
            <a:off x="7269480" y="2011680"/>
            <a:ext cx="4206240" cy="886968"/>
          </a:xfrm>
          <a:prstGeom prst="rect">
            <a:avLst/>
          </a:prstGeom>
          <a:noFill/>
          <a:ln/>
        </p:spPr>
        <p:txBody>
          <a:bodyPr wrap="square" lIns="0" tIns="0" rIns="0" bIns="0" rtlCol="0" anchor="ctr"/>
          <a:lstStyle/>
          <a:p>
            <a:pPr indent="0" marL="0">
              <a:buNone/>
            </a:pPr>
            <a:r>
              <a:rPr lang="en-US" sz="1150" dirty="0">
                <a:solidFill>
                  <a:schemeClr val="tx1"/>
                </a:solidFill>
              </a:rPr>
              <a:t>Appui : CeFAL, agents spécialisés (p. 56)</a:t>
            </a:r>
            <a:endParaRPr lang="en-US" sz="1150" dirty="0"/>
          </a:p>
        </p:txBody>
      </p:sp>
      <p:sp>
        <p:nvSpPr>
          <p:cNvPr id="9" name="Public TECHNICIENS"/>
          <p:cNvSpPr/>
          <p:nvPr/>
        </p:nvSpPr>
        <p:spPr>
          <a:xfrm>
            <a:off x="548640" y="2990088"/>
            <a:ext cx="11091672" cy="886968"/>
          </a:xfrm>
          <a:prstGeom prst="roundRect">
            <a:avLst>
              <a:gd name="adj" fmla="val 12371"/>
            </a:avLst>
          </a:prstGeom>
          <a:solidFill>
            <a:schemeClr val="bg2"/>
          </a:solidFill>
          <a:ln/>
        </p:spPr>
      </p:sp>
      <p:sp>
        <p:nvSpPr>
          <p:cNvPr id="10" name="Text 7"/>
          <p:cNvSpPr txBox="1"/>
          <p:nvPr/>
        </p:nvSpPr>
        <p:spPr>
          <a:xfrm>
            <a:off x="777240" y="2990088"/>
            <a:ext cx="2468880" cy="886968"/>
          </a:xfrm>
          <a:prstGeom prst="rect">
            <a:avLst/>
          </a:prstGeom>
          <a:noFill/>
          <a:ln/>
        </p:spPr>
        <p:txBody>
          <a:bodyPr wrap="square" lIns="0" tIns="0" rIns="0" bIns="0" rtlCol="0" anchor="ctr"/>
          <a:lstStyle/>
          <a:p>
            <a:pPr indent="0" marL="0">
              <a:buNone/>
            </a:pPr>
            <a:r>
              <a:rPr lang="en-US" sz="1200" b="1" spc="100" kern="0" dirty="0">
                <a:solidFill>
                  <a:schemeClr val="accent1"/>
                </a:solidFill>
              </a:rPr>
              <a:t>TECHNICIENS</a:t>
            </a:r>
            <a:endParaRPr lang="en-US" sz="1200" dirty="0"/>
          </a:p>
        </p:txBody>
      </p:sp>
      <p:sp>
        <p:nvSpPr>
          <p:cNvPr id="11" name="Text 8"/>
          <p:cNvSpPr txBox="1"/>
          <p:nvPr/>
        </p:nvSpPr>
        <p:spPr>
          <a:xfrm>
            <a:off x="3291840" y="2990088"/>
            <a:ext cx="3840480" cy="886968"/>
          </a:xfrm>
          <a:prstGeom prst="rect">
            <a:avLst/>
          </a:prstGeom>
          <a:noFill/>
          <a:ln/>
        </p:spPr>
        <p:txBody>
          <a:bodyPr wrap="square" lIns="0" tIns="0" rIns="0" bIns="0" rtlCol="0" anchor="ctr"/>
          <a:lstStyle/>
          <a:p>
            <a:pPr indent="0" marL="0">
              <a:buNone/>
            </a:pPr>
            <a:r>
              <a:rPr lang="en-US" sz="1250" b="1" dirty="0">
                <a:solidFill>
                  <a:schemeClr val="tx2"/>
                </a:solidFill>
              </a:rPr>
              <a:t>Diagnostiquer, entretenir, documenter une intervention</a:t>
            </a:r>
            <a:endParaRPr lang="en-US" sz="1250" dirty="0"/>
          </a:p>
        </p:txBody>
      </p:sp>
      <p:sp>
        <p:nvSpPr>
          <p:cNvPr id="12" name="Text 9"/>
          <p:cNvSpPr txBox="1"/>
          <p:nvPr/>
        </p:nvSpPr>
        <p:spPr>
          <a:xfrm>
            <a:off x="7269480" y="2990088"/>
            <a:ext cx="4206240" cy="886968"/>
          </a:xfrm>
          <a:prstGeom prst="rect">
            <a:avLst/>
          </a:prstGeom>
          <a:noFill/>
          <a:ln/>
        </p:spPr>
        <p:txBody>
          <a:bodyPr wrap="square" lIns="0" tIns="0" rIns="0" bIns="0" rtlCol="0" anchor="ctr"/>
          <a:lstStyle/>
          <a:p>
            <a:pPr indent="0" marL="0">
              <a:buNone/>
            </a:pPr>
            <a:r>
              <a:rPr lang="en-US" sz="1150" dirty="0">
                <a:solidFill>
                  <a:schemeClr val="tx1"/>
                </a:solidFill>
              </a:rPr>
              <a:t>Appui : écoles de métiers de référence (p. 17), École des Métiers de l'Énergie (p. 33)</a:t>
            </a:r>
            <a:endParaRPr lang="en-US" sz="1150" dirty="0"/>
          </a:p>
        </p:txBody>
      </p:sp>
      <p:sp>
        <p:nvSpPr>
          <p:cNvPr id="13" name="Public RELAIS DIGITAUX"/>
          <p:cNvSpPr/>
          <p:nvPr/>
        </p:nvSpPr>
        <p:spPr>
          <a:xfrm>
            <a:off x="548640" y="3968496"/>
            <a:ext cx="11091672" cy="886968"/>
          </a:xfrm>
          <a:prstGeom prst="roundRect">
            <a:avLst>
              <a:gd name="adj" fmla="val 12371"/>
            </a:avLst>
          </a:prstGeom>
          <a:solidFill>
            <a:schemeClr val="bg2"/>
          </a:solidFill>
          <a:ln/>
        </p:spPr>
      </p:sp>
      <p:sp>
        <p:nvSpPr>
          <p:cNvPr id="14" name="Text 11"/>
          <p:cNvSpPr txBox="1"/>
          <p:nvPr/>
        </p:nvSpPr>
        <p:spPr>
          <a:xfrm>
            <a:off x="777240" y="3968496"/>
            <a:ext cx="2468880" cy="886968"/>
          </a:xfrm>
          <a:prstGeom prst="rect">
            <a:avLst/>
          </a:prstGeom>
          <a:noFill/>
          <a:ln/>
        </p:spPr>
        <p:txBody>
          <a:bodyPr wrap="square" lIns="0" tIns="0" rIns="0" bIns="0" rtlCol="0" anchor="ctr"/>
          <a:lstStyle/>
          <a:p>
            <a:pPr indent="0" marL="0">
              <a:buNone/>
            </a:pPr>
            <a:r>
              <a:rPr lang="en-US" sz="1200" b="1" spc="100" kern="0" dirty="0">
                <a:solidFill>
                  <a:schemeClr val="accent1"/>
                </a:solidFill>
              </a:rPr>
              <a:t>RELAIS DIGITAUX</a:t>
            </a:r>
            <a:endParaRPr lang="en-US" sz="1200" dirty="0"/>
          </a:p>
        </p:txBody>
      </p:sp>
      <p:sp>
        <p:nvSpPr>
          <p:cNvPr id="15" name="Text 12"/>
          <p:cNvSpPr txBox="1"/>
          <p:nvPr/>
        </p:nvSpPr>
        <p:spPr>
          <a:xfrm>
            <a:off x="3291840" y="3968496"/>
            <a:ext cx="3840480" cy="886968"/>
          </a:xfrm>
          <a:prstGeom prst="rect">
            <a:avLst/>
          </a:prstGeom>
          <a:noFill/>
          <a:ln/>
        </p:spPr>
        <p:txBody>
          <a:bodyPr wrap="square" lIns="0" tIns="0" rIns="0" bIns="0" rtlCol="0" anchor="ctr"/>
          <a:lstStyle/>
          <a:p>
            <a:pPr indent="0" marL="0">
              <a:buNone/>
            </a:pPr>
            <a:r>
              <a:rPr lang="en-US" sz="1250" b="1" dirty="0">
                <a:solidFill>
                  <a:schemeClr val="tx2"/>
                </a:solidFill>
              </a:rPr>
              <a:t>Aider les habitants à signaler et suivre</a:t>
            </a:r>
            <a:endParaRPr lang="en-US" sz="1250" dirty="0"/>
          </a:p>
        </p:txBody>
      </p:sp>
      <p:sp>
        <p:nvSpPr>
          <p:cNvPr id="16" name="Text 13"/>
          <p:cNvSpPr txBox="1"/>
          <p:nvPr/>
        </p:nvSpPr>
        <p:spPr>
          <a:xfrm>
            <a:off x="7269480" y="3968496"/>
            <a:ext cx="4206240" cy="886968"/>
          </a:xfrm>
          <a:prstGeom prst="rect">
            <a:avLst/>
          </a:prstGeom>
          <a:noFill/>
          <a:ln/>
        </p:spPr>
        <p:txBody>
          <a:bodyPr wrap="square" lIns="0" tIns="0" rIns="0" bIns="0" rtlCol="0" anchor="ctr"/>
          <a:lstStyle/>
          <a:p>
            <a:pPr indent="0" marL="0">
              <a:buNone/>
            </a:pPr>
            <a:r>
              <a:rPr lang="en-US" sz="1150" dirty="0">
                <a:solidFill>
                  <a:schemeClr val="tx1"/>
                </a:solidFill>
              </a:rPr>
              <a:t>Appui : relais communautaires de chaque localité (p. 64)</a:t>
            </a:r>
            <a:endParaRPr lang="en-US" sz="1150" dirty="0"/>
          </a:p>
        </p:txBody>
      </p:sp>
      <p:sp>
        <p:nvSpPr>
          <p:cNvPr id="17" name="Public OPÉRATEURS PRIVÉS"/>
          <p:cNvSpPr/>
          <p:nvPr/>
        </p:nvSpPr>
        <p:spPr>
          <a:xfrm>
            <a:off x="548640" y="4946904"/>
            <a:ext cx="11091672" cy="886968"/>
          </a:xfrm>
          <a:prstGeom prst="roundRect">
            <a:avLst>
              <a:gd name="adj" fmla="val 12371"/>
            </a:avLst>
          </a:prstGeom>
          <a:solidFill>
            <a:schemeClr val="bg2"/>
          </a:solidFill>
          <a:ln/>
        </p:spPr>
      </p:sp>
      <p:sp>
        <p:nvSpPr>
          <p:cNvPr id="18" name="Text 15"/>
          <p:cNvSpPr txBox="1"/>
          <p:nvPr/>
        </p:nvSpPr>
        <p:spPr>
          <a:xfrm>
            <a:off x="777240" y="4946904"/>
            <a:ext cx="2468880" cy="886968"/>
          </a:xfrm>
          <a:prstGeom prst="rect">
            <a:avLst/>
          </a:prstGeom>
          <a:noFill/>
          <a:ln/>
        </p:spPr>
        <p:txBody>
          <a:bodyPr wrap="square" lIns="0" tIns="0" rIns="0" bIns="0" rtlCol="0" anchor="ctr"/>
          <a:lstStyle/>
          <a:p>
            <a:pPr indent="0" marL="0">
              <a:buNone/>
            </a:pPr>
            <a:r>
              <a:rPr lang="en-US" sz="1200" b="1" spc="100" kern="0" dirty="0">
                <a:solidFill>
                  <a:schemeClr val="accent1"/>
                </a:solidFill>
              </a:rPr>
              <a:t>OPÉRATEURS PRIVÉS</a:t>
            </a:r>
            <a:endParaRPr lang="en-US" sz="1200" dirty="0"/>
          </a:p>
        </p:txBody>
      </p:sp>
      <p:sp>
        <p:nvSpPr>
          <p:cNvPr id="19" name="Text 16"/>
          <p:cNvSpPr txBox="1"/>
          <p:nvPr/>
        </p:nvSpPr>
        <p:spPr>
          <a:xfrm>
            <a:off x="3291840" y="4946904"/>
            <a:ext cx="3840480" cy="886968"/>
          </a:xfrm>
          <a:prstGeom prst="rect">
            <a:avLst/>
          </a:prstGeom>
          <a:noFill/>
          <a:ln/>
        </p:spPr>
        <p:txBody>
          <a:bodyPr wrap="square" lIns="0" tIns="0" rIns="0" bIns="0" rtlCol="0" anchor="ctr"/>
          <a:lstStyle/>
          <a:p>
            <a:pPr indent="0" marL="0">
              <a:buNone/>
            </a:pPr>
            <a:r>
              <a:rPr lang="en-US" sz="1250" b="1" dirty="0">
                <a:solidFill>
                  <a:schemeClr val="tx2"/>
                </a:solidFill>
              </a:rPr>
              <a:t>Tenir les plans d'entretien et les preuves</a:t>
            </a:r>
            <a:endParaRPr lang="en-US" sz="1250" dirty="0"/>
          </a:p>
        </p:txBody>
      </p:sp>
      <p:sp>
        <p:nvSpPr>
          <p:cNvPr id="20" name="Text 17"/>
          <p:cNvSpPr txBox="1"/>
          <p:nvPr/>
        </p:nvSpPr>
        <p:spPr>
          <a:xfrm>
            <a:off x="7269480" y="4946904"/>
            <a:ext cx="4206240" cy="886968"/>
          </a:xfrm>
          <a:prstGeom prst="rect">
            <a:avLst/>
          </a:prstGeom>
          <a:noFill/>
          <a:ln/>
        </p:spPr>
        <p:txBody>
          <a:bodyPr wrap="square" lIns="0" tIns="0" rIns="0" bIns="0" rtlCol="0" anchor="ctr"/>
          <a:lstStyle/>
          <a:p>
            <a:pPr indent="0" marL="0">
              <a:buNone/>
            </a:pPr>
            <a:r>
              <a:rPr lang="en-US" sz="1150" dirty="0">
                <a:solidFill>
                  <a:schemeClr val="tx1"/>
                </a:solidFill>
              </a:rPr>
              <a:t>Appui : cahier des charges des bases d'appui (p. 41)</a:t>
            </a:r>
            <a:endParaRPr lang="en-US" sz="1150" dirty="0"/>
          </a:p>
        </p:txBody>
      </p:sp>
      <p:sp>
        <p:nvSpPr>
          <p:cNvPr id="21" name="Text 18"/>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17, 33, 41, 56 et 64. Contenu des formations : conception de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ÉLÉMENTS AJOUTÉS</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Huit sujets que le registre doit aussi couvrir</a:t>
            </a:r>
            <a:endParaRPr lang="en-US" sz="2800" dirty="0"/>
          </a:p>
        </p:txBody>
      </p:sp>
      <p:sp>
        <p:nvSpPr>
          <p:cNvPr id="5" name="Ajout 1"/>
          <p:cNvSpPr/>
          <p:nvPr/>
        </p:nvSpPr>
        <p:spPr>
          <a:xfrm>
            <a:off x="548640" y="2011680"/>
            <a:ext cx="2651760" cy="1874520"/>
          </a:xfrm>
          <a:prstGeom prst="roundRect">
            <a:avLst>
              <a:gd name="adj" fmla="val 5854"/>
            </a:avLst>
          </a:prstGeom>
          <a:solidFill>
            <a:schemeClr val="bg2"/>
          </a:solidFill>
          <a:ln/>
        </p:spPr>
      </p:sp>
      <p:sp>
        <p:nvSpPr>
          <p:cNvPr id="6" name="Shape 3"/>
          <p:cNvSpPr/>
          <p:nvPr/>
        </p:nvSpPr>
        <p:spPr>
          <a:xfrm>
            <a:off x="731520" y="2176272"/>
            <a:ext cx="457200" cy="45720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854964" y="2299716"/>
            <a:ext cx="210312" cy="210312"/>
          </a:xfrm>
          <a:prstGeom prst="rect">
            <a:avLst/>
          </a:prstGeom>
        </p:spPr>
      </p:pic>
      <p:sp>
        <p:nvSpPr>
          <p:cNvPr id="8" name="Text 4"/>
          <p:cNvSpPr txBox="1"/>
          <p:nvPr/>
        </p:nvSpPr>
        <p:spPr>
          <a:xfrm>
            <a:off x="1280160" y="2176272"/>
            <a:ext cx="1828800" cy="457200"/>
          </a:xfrm>
          <a:prstGeom prst="rect">
            <a:avLst/>
          </a:prstGeom>
          <a:noFill/>
          <a:ln/>
        </p:spPr>
        <p:txBody>
          <a:bodyPr wrap="square" lIns="0" tIns="0" rIns="0" bIns="0" rtlCol="0" anchor="ctr"/>
          <a:lstStyle/>
          <a:p>
            <a:pPr indent="0" marL="0">
              <a:buNone/>
            </a:pPr>
            <a:r>
              <a:rPr lang="en-US" sz="1000" b="1" spc="100" kern="0" dirty="0">
                <a:solidFill>
                  <a:schemeClr val="tx2"/>
                </a:solidFill>
              </a:rPr>
              <a:t>PIÈCES DE RECHANGE</a:t>
            </a:r>
            <a:endParaRPr lang="en-US" sz="1000" dirty="0"/>
          </a:p>
        </p:txBody>
      </p:sp>
      <p:sp>
        <p:nvSpPr>
          <p:cNvPr id="9" name="Text 5"/>
          <p:cNvSpPr txBox="1"/>
          <p:nvPr/>
        </p:nvSpPr>
        <p:spPr>
          <a:xfrm>
            <a:off x="731520" y="2788920"/>
            <a:ext cx="2331720" cy="1051560"/>
          </a:xfrm>
          <a:prstGeom prst="rect">
            <a:avLst/>
          </a:prstGeom>
          <a:noFill/>
          <a:ln/>
        </p:spPr>
        <p:txBody>
          <a:bodyPr wrap="square" lIns="0" tIns="0" rIns="0" bIns="0" rtlCol="0" anchor="t"/>
          <a:lstStyle/>
          <a:p>
            <a:pPr indent="0" marL="0">
              <a:buNone/>
            </a:pPr>
            <a:r>
              <a:rPr lang="en-US" sz="1150" dirty="0">
                <a:solidFill>
                  <a:schemeClr val="tx1"/>
                </a:solidFill>
              </a:rPr>
              <a:t>Stocks, délais, demandes. Le programme prévoit une filière locale de pièces (p. 31).</a:t>
            </a:r>
            <a:endParaRPr lang="en-US" sz="1150" dirty="0"/>
          </a:p>
        </p:txBody>
      </p:sp>
      <p:sp>
        <p:nvSpPr>
          <p:cNvPr id="10" name="Ajout 2"/>
          <p:cNvSpPr/>
          <p:nvPr/>
        </p:nvSpPr>
        <p:spPr>
          <a:xfrm>
            <a:off x="3362249" y="2011680"/>
            <a:ext cx="2651760" cy="1874520"/>
          </a:xfrm>
          <a:prstGeom prst="roundRect">
            <a:avLst>
              <a:gd name="adj" fmla="val 5854"/>
            </a:avLst>
          </a:prstGeom>
          <a:solidFill>
            <a:schemeClr val="bg2"/>
          </a:solidFill>
          <a:ln/>
        </p:spPr>
      </p:sp>
      <p:sp>
        <p:nvSpPr>
          <p:cNvPr id="11" name="Shape 7"/>
          <p:cNvSpPr/>
          <p:nvPr/>
        </p:nvSpPr>
        <p:spPr>
          <a:xfrm>
            <a:off x="3545129" y="2176272"/>
            <a:ext cx="457200" cy="45720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3668573" y="2299716"/>
            <a:ext cx="210312" cy="210312"/>
          </a:xfrm>
          <a:prstGeom prst="rect">
            <a:avLst/>
          </a:prstGeom>
        </p:spPr>
      </p:pic>
      <p:sp>
        <p:nvSpPr>
          <p:cNvPr id="13" name="Text 8"/>
          <p:cNvSpPr txBox="1"/>
          <p:nvPr/>
        </p:nvSpPr>
        <p:spPr>
          <a:xfrm>
            <a:off x="4093769" y="2176272"/>
            <a:ext cx="1828800" cy="457200"/>
          </a:xfrm>
          <a:prstGeom prst="rect">
            <a:avLst/>
          </a:prstGeom>
          <a:noFill/>
          <a:ln/>
        </p:spPr>
        <p:txBody>
          <a:bodyPr wrap="square" lIns="0" tIns="0" rIns="0" bIns="0" rtlCol="0" anchor="ctr"/>
          <a:lstStyle/>
          <a:p>
            <a:pPr indent="0" marL="0">
              <a:buNone/>
            </a:pPr>
            <a:r>
              <a:rPr lang="en-US" sz="1000" b="1" spc="100" kern="0" dirty="0">
                <a:solidFill>
                  <a:schemeClr val="tx2"/>
                </a:solidFill>
              </a:rPr>
              <a:t>GARANTIES ET CONTRATS</a:t>
            </a:r>
            <a:endParaRPr lang="en-US" sz="1000" dirty="0"/>
          </a:p>
        </p:txBody>
      </p:sp>
      <p:sp>
        <p:nvSpPr>
          <p:cNvPr id="14" name="Text 9"/>
          <p:cNvSpPr txBox="1"/>
          <p:nvPr/>
        </p:nvSpPr>
        <p:spPr>
          <a:xfrm>
            <a:off x="3545129" y="2788920"/>
            <a:ext cx="2331720" cy="1051560"/>
          </a:xfrm>
          <a:prstGeom prst="rect">
            <a:avLst/>
          </a:prstGeom>
          <a:noFill/>
          <a:ln/>
        </p:spPr>
        <p:txBody>
          <a:bodyPr wrap="square" lIns="0" tIns="0" rIns="0" bIns="0" rtlCol="0" anchor="t"/>
          <a:lstStyle/>
          <a:p>
            <a:pPr indent="0" marL="0">
              <a:buNone/>
            </a:pPr>
            <a:r>
              <a:rPr lang="en-US" sz="1150" dirty="0">
                <a:solidFill>
                  <a:schemeClr val="tx1"/>
                </a:solidFill>
              </a:rPr>
              <a:t>Alerte avant la fin de garantie, réclamation à l'entreprise.</a:t>
            </a:r>
            <a:endParaRPr lang="en-US" sz="1150" dirty="0"/>
          </a:p>
        </p:txBody>
      </p:sp>
      <p:sp>
        <p:nvSpPr>
          <p:cNvPr id="15" name="Ajout 3"/>
          <p:cNvSpPr/>
          <p:nvPr/>
        </p:nvSpPr>
        <p:spPr>
          <a:xfrm>
            <a:off x="6175858" y="2011680"/>
            <a:ext cx="2651760" cy="1874520"/>
          </a:xfrm>
          <a:prstGeom prst="roundRect">
            <a:avLst>
              <a:gd name="adj" fmla="val 5854"/>
            </a:avLst>
          </a:prstGeom>
          <a:solidFill>
            <a:schemeClr val="bg2"/>
          </a:solidFill>
          <a:ln/>
        </p:spPr>
      </p:sp>
      <p:sp>
        <p:nvSpPr>
          <p:cNvPr id="16" name="Shape 11"/>
          <p:cNvSpPr/>
          <p:nvPr/>
        </p:nvSpPr>
        <p:spPr>
          <a:xfrm>
            <a:off x="6358738" y="2176272"/>
            <a:ext cx="457200" cy="45720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6482182" y="2299716"/>
            <a:ext cx="210312" cy="210312"/>
          </a:xfrm>
          <a:prstGeom prst="rect">
            <a:avLst/>
          </a:prstGeom>
        </p:spPr>
      </p:pic>
      <p:sp>
        <p:nvSpPr>
          <p:cNvPr id="18" name="Text 12"/>
          <p:cNvSpPr txBox="1"/>
          <p:nvPr/>
        </p:nvSpPr>
        <p:spPr>
          <a:xfrm>
            <a:off x="6907378" y="2176272"/>
            <a:ext cx="1828800" cy="457200"/>
          </a:xfrm>
          <a:prstGeom prst="rect">
            <a:avLst/>
          </a:prstGeom>
          <a:noFill/>
          <a:ln/>
        </p:spPr>
        <p:txBody>
          <a:bodyPr wrap="square" lIns="0" tIns="0" rIns="0" bIns="0" rtlCol="0" anchor="ctr"/>
          <a:lstStyle/>
          <a:p>
            <a:pPr indent="0" marL="0">
              <a:buNone/>
            </a:pPr>
            <a:r>
              <a:rPr lang="en-US" sz="1000" b="1" spc="100" kern="0" dirty="0">
                <a:solidFill>
                  <a:schemeClr val="tx2"/>
                </a:solidFill>
              </a:rPr>
              <a:t>COÛT DU CYCLE DE VIE</a:t>
            </a:r>
            <a:endParaRPr lang="en-US" sz="1000" dirty="0"/>
          </a:p>
        </p:txBody>
      </p:sp>
      <p:sp>
        <p:nvSpPr>
          <p:cNvPr id="19" name="Text 13"/>
          <p:cNvSpPr txBox="1"/>
          <p:nvPr/>
        </p:nvSpPr>
        <p:spPr>
          <a:xfrm>
            <a:off x="6358738" y="2788920"/>
            <a:ext cx="2331720" cy="1051560"/>
          </a:xfrm>
          <a:prstGeom prst="rect">
            <a:avLst/>
          </a:prstGeom>
          <a:noFill/>
          <a:ln/>
        </p:spPr>
        <p:txBody>
          <a:bodyPr wrap="square" lIns="0" tIns="0" rIns="0" bIns="0" rtlCol="0" anchor="t"/>
          <a:lstStyle/>
          <a:p>
            <a:pPr indent="0" marL="0">
              <a:buNone/>
            </a:pPr>
            <a:r>
              <a:rPr lang="en-US" sz="1150" dirty="0">
                <a:solidFill>
                  <a:schemeClr val="tx1"/>
                </a:solidFill>
              </a:rPr>
              <a:t>Coût total d'un ouvrage sur sa durée, pour choisir mieux.</a:t>
            </a:r>
            <a:endParaRPr lang="en-US" sz="1150" dirty="0"/>
          </a:p>
        </p:txBody>
      </p:sp>
      <p:sp>
        <p:nvSpPr>
          <p:cNvPr id="20" name="Ajout 4"/>
          <p:cNvSpPr/>
          <p:nvPr/>
        </p:nvSpPr>
        <p:spPr>
          <a:xfrm>
            <a:off x="8989466" y="2011680"/>
            <a:ext cx="2651760" cy="1874520"/>
          </a:xfrm>
          <a:prstGeom prst="roundRect">
            <a:avLst>
              <a:gd name="adj" fmla="val 5854"/>
            </a:avLst>
          </a:prstGeom>
          <a:solidFill>
            <a:schemeClr val="bg2"/>
          </a:solidFill>
          <a:ln/>
        </p:spPr>
      </p:sp>
      <p:sp>
        <p:nvSpPr>
          <p:cNvPr id="21" name="Shape 15"/>
          <p:cNvSpPr/>
          <p:nvPr/>
        </p:nvSpPr>
        <p:spPr>
          <a:xfrm>
            <a:off x="9172346" y="2176272"/>
            <a:ext cx="457200" cy="457200"/>
          </a:xfrm>
          <a:prstGeom prst="ellipse">
            <a:avLst/>
          </a:prstGeom>
          <a:solidFill>
            <a:schemeClr val="accent1"/>
          </a:solidFill>
          <a:ln/>
        </p:spPr>
      </p:sp>
      <p:pic>
        <p:nvPicPr>
          <p:cNvPr id="22" name="Image 3" descr="preencoded.png">    </p:cNvPr>
          <p:cNvPicPr>
            <a:picLocks noChangeAspect="1"/>
          </p:cNvPicPr>
          <p:nvPr/>
        </p:nvPicPr>
        <p:blipFill>
          <a:blip r:embed="rId4"/>
          <a:stretch>
            <a:fillRect/>
          </a:stretch>
        </p:blipFill>
        <p:spPr>
          <a:xfrm>
            <a:off x="9295790" y="2299716"/>
            <a:ext cx="210312" cy="210312"/>
          </a:xfrm>
          <a:prstGeom prst="rect">
            <a:avLst/>
          </a:prstGeom>
        </p:spPr>
      </p:pic>
      <p:sp>
        <p:nvSpPr>
          <p:cNvPr id="23" name="Text 16"/>
          <p:cNvSpPr txBox="1"/>
          <p:nvPr/>
        </p:nvSpPr>
        <p:spPr>
          <a:xfrm>
            <a:off x="9720986" y="2176272"/>
            <a:ext cx="1828800" cy="457200"/>
          </a:xfrm>
          <a:prstGeom prst="rect">
            <a:avLst/>
          </a:prstGeom>
          <a:noFill/>
          <a:ln/>
        </p:spPr>
        <p:txBody>
          <a:bodyPr wrap="square" lIns="0" tIns="0" rIns="0" bIns="0" rtlCol="0" anchor="ctr"/>
          <a:lstStyle/>
          <a:p>
            <a:pPr indent="0" marL="0">
              <a:buNone/>
            </a:pPr>
            <a:r>
              <a:rPr lang="en-US" sz="1000" b="1" spc="100" kern="0" dirty="0">
                <a:solidFill>
                  <a:schemeClr val="tx2"/>
                </a:solidFill>
              </a:rPr>
              <a:t>SÉCURITÉ DES INTERVENANTS</a:t>
            </a:r>
            <a:endParaRPr lang="en-US" sz="1000" dirty="0"/>
          </a:p>
        </p:txBody>
      </p:sp>
      <p:sp>
        <p:nvSpPr>
          <p:cNvPr id="24" name="Text 17"/>
          <p:cNvSpPr txBox="1"/>
          <p:nvPr/>
        </p:nvSpPr>
        <p:spPr>
          <a:xfrm>
            <a:off x="9172346" y="2788920"/>
            <a:ext cx="2331720" cy="1051560"/>
          </a:xfrm>
          <a:prstGeom prst="rect">
            <a:avLst/>
          </a:prstGeom>
          <a:noFill/>
          <a:ln/>
        </p:spPr>
        <p:txBody>
          <a:bodyPr wrap="square" lIns="0" tIns="0" rIns="0" bIns="0" rtlCol="0" anchor="t"/>
          <a:lstStyle/>
          <a:p>
            <a:pPr indent="0" marL="0">
              <a:buNone/>
            </a:pPr>
            <a:r>
              <a:rPr lang="en-US" sz="1150" dirty="0">
                <a:solidFill>
                  <a:schemeClr val="tx1"/>
                </a:solidFill>
              </a:rPr>
              <a:t>Travail en hauteur, électricité : consignes dans la checklist.</a:t>
            </a:r>
            <a:endParaRPr lang="en-US" sz="1150" dirty="0"/>
          </a:p>
        </p:txBody>
      </p:sp>
      <p:sp>
        <p:nvSpPr>
          <p:cNvPr id="25" name="Ajout 5"/>
          <p:cNvSpPr/>
          <p:nvPr/>
        </p:nvSpPr>
        <p:spPr>
          <a:xfrm>
            <a:off x="548640" y="4023360"/>
            <a:ext cx="2651760" cy="1874520"/>
          </a:xfrm>
          <a:prstGeom prst="roundRect">
            <a:avLst>
              <a:gd name="adj" fmla="val 5854"/>
            </a:avLst>
          </a:prstGeom>
          <a:solidFill>
            <a:schemeClr val="bg2"/>
          </a:solidFill>
          <a:ln/>
        </p:spPr>
      </p:sp>
      <p:sp>
        <p:nvSpPr>
          <p:cNvPr id="26" name="Shape 19"/>
          <p:cNvSpPr/>
          <p:nvPr/>
        </p:nvSpPr>
        <p:spPr>
          <a:xfrm>
            <a:off x="731520" y="4187952"/>
            <a:ext cx="457200" cy="457200"/>
          </a:xfrm>
          <a:prstGeom prst="ellipse">
            <a:avLst/>
          </a:prstGeom>
          <a:solidFill>
            <a:schemeClr val="accent1"/>
          </a:solidFill>
          <a:ln/>
        </p:spPr>
      </p:sp>
      <p:pic>
        <p:nvPicPr>
          <p:cNvPr id="27" name="Image 4" descr="preencoded.png">    </p:cNvPr>
          <p:cNvPicPr>
            <a:picLocks noChangeAspect="1"/>
          </p:cNvPicPr>
          <p:nvPr/>
        </p:nvPicPr>
        <p:blipFill>
          <a:blip r:embed="rId5"/>
          <a:stretch>
            <a:fillRect/>
          </a:stretch>
        </p:blipFill>
        <p:spPr>
          <a:xfrm>
            <a:off x="854964" y="4311396"/>
            <a:ext cx="210312" cy="210312"/>
          </a:xfrm>
          <a:prstGeom prst="rect">
            <a:avLst/>
          </a:prstGeom>
        </p:spPr>
      </p:pic>
      <p:sp>
        <p:nvSpPr>
          <p:cNvPr id="28" name="Text 20"/>
          <p:cNvSpPr txBox="1"/>
          <p:nvPr/>
        </p:nvSpPr>
        <p:spPr>
          <a:xfrm>
            <a:off x="1280160" y="4187952"/>
            <a:ext cx="1828800" cy="457200"/>
          </a:xfrm>
          <a:prstGeom prst="rect">
            <a:avLst/>
          </a:prstGeom>
          <a:noFill/>
          <a:ln/>
        </p:spPr>
        <p:txBody>
          <a:bodyPr wrap="square" lIns="0" tIns="0" rIns="0" bIns="0" rtlCol="0" anchor="ctr"/>
          <a:lstStyle/>
          <a:p>
            <a:pPr indent="0" marL="0">
              <a:buNone/>
            </a:pPr>
            <a:r>
              <a:rPr lang="en-US" sz="1000" b="1" spc="100" kern="0" dirty="0">
                <a:solidFill>
                  <a:schemeClr val="tx2"/>
                </a:solidFill>
              </a:rPr>
              <a:t>FIN DE VIE</a:t>
            </a:r>
            <a:endParaRPr lang="en-US" sz="1000" dirty="0"/>
          </a:p>
        </p:txBody>
      </p:sp>
      <p:sp>
        <p:nvSpPr>
          <p:cNvPr id="29" name="Text 21"/>
          <p:cNvSpPr txBox="1"/>
          <p:nvPr/>
        </p:nvSpPr>
        <p:spPr>
          <a:xfrm>
            <a:off x="731520" y="4800600"/>
            <a:ext cx="2331720" cy="1051560"/>
          </a:xfrm>
          <a:prstGeom prst="rect">
            <a:avLst/>
          </a:prstGeom>
          <a:noFill/>
          <a:ln/>
        </p:spPr>
        <p:txBody>
          <a:bodyPr wrap="square" lIns="0" tIns="0" rIns="0" bIns="0" rtlCol="0" anchor="t"/>
          <a:lstStyle/>
          <a:p>
            <a:pPr indent="0" marL="0">
              <a:buNone/>
            </a:pPr>
            <a:r>
              <a:rPr lang="en-US" sz="1150" dirty="0">
                <a:solidFill>
                  <a:schemeClr val="tx1"/>
                </a:solidFill>
              </a:rPr>
              <a:t>Batteries et panneaux : filière de reprise et de recyclage.</a:t>
            </a:r>
            <a:endParaRPr lang="en-US" sz="1150" dirty="0"/>
          </a:p>
        </p:txBody>
      </p:sp>
      <p:sp>
        <p:nvSpPr>
          <p:cNvPr id="30" name="Ajout 6"/>
          <p:cNvSpPr/>
          <p:nvPr/>
        </p:nvSpPr>
        <p:spPr>
          <a:xfrm>
            <a:off x="3362249" y="4023360"/>
            <a:ext cx="2651760" cy="1874520"/>
          </a:xfrm>
          <a:prstGeom prst="roundRect">
            <a:avLst>
              <a:gd name="adj" fmla="val 5854"/>
            </a:avLst>
          </a:prstGeom>
          <a:solidFill>
            <a:schemeClr val="bg2"/>
          </a:solidFill>
          <a:ln/>
        </p:spPr>
      </p:sp>
      <p:sp>
        <p:nvSpPr>
          <p:cNvPr id="31" name="Shape 23"/>
          <p:cNvSpPr/>
          <p:nvPr/>
        </p:nvSpPr>
        <p:spPr>
          <a:xfrm>
            <a:off x="3545129" y="4187952"/>
            <a:ext cx="457200" cy="457200"/>
          </a:xfrm>
          <a:prstGeom prst="ellipse">
            <a:avLst/>
          </a:prstGeom>
          <a:solidFill>
            <a:schemeClr val="accent1"/>
          </a:solidFill>
          <a:ln/>
        </p:spPr>
      </p:sp>
      <p:pic>
        <p:nvPicPr>
          <p:cNvPr id="32" name="Image 5" descr="preencoded.png">    </p:cNvPr>
          <p:cNvPicPr>
            <a:picLocks noChangeAspect="1"/>
          </p:cNvPicPr>
          <p:nvPr/>
        </p:nvPicPr>
        <p:blipFill>
          <a:blip r:embed="rId6"/>
          <a:stretch>
            <a:fillRect/>
          </a:stretch>
        </p:blipFill>
        <p:spPr>
          <a:xfrm>
            <a:off x="3668573" y="4311396"/>
            <a:ext cx="210312" cy="210312"/>
          </a:xfrm>
          <a:prstGeom prst="rect">
            <a:avLst/>
          </a:prstGeom>
        </p:spPr>
      </p:pic>
      <p:sp>
        <p:nvSpPr>
          <p:cNvPr id="33" name="Text 24"/>
          <p:cNvSpPr txBox="1"/>
          <p:nvPr/>
        </p:nvSpPr>
        <p:spPr>
          <a:xfrm>
            <a:off x="4093769" y="4187952"/>
            <a:ext cx="1828800" cy="457200"/>
          </a:xfrm>
          <a:prstGeom prst="rect">
            <a:avLst/>
          </a:prstGeom>
          <a:noFill/>
          <a:ln/>
        </p:spPr>
        <p:txBody>
          <a:bodyPr wrap="square" lIns="0" tIns="0" rIns="0" bIns="0" rtlCol="0" anchor="ctr"/>
          <a:lstStyle/>
          <a:p>
            <a:pPr indent="0" marL="0">
              <a:buNone/>
            </a:pPr>
            <a:r>
              <a:rPr lang="en-US" sz="1000" b="1" spc="100" kern="0" dirty="0">
                <a:solidFill>
                  <a:schemeClr val="tx2"/>
                </a:solidFill>
              </a:rPr>
              <a:t>PREUVE ET ANTI-FRAUDE</a:t>
            </a:r>
            <a:endParaRPr lang="en-US" sz="1000" dirty="0"/>
          </a:p>
        </p:txBody>
      </p:sp>
      <p:sp>
        <p:nvSpPr>
          <p:cNvPr id="34" name="Text 25"/>
          <p:cNvSpPr txBox="1"/>
          <p:nvPr/>
        </p:nvSpPr>
        <p:spPr>
          <a:xfrm>
            <a:off x="3545129" y="4800600"/>
            <a:ext cx="2331720" cy="1051560"/>
          </a:xfrm>
          <a:prstGeom prst="rect">
            <a:avLst/>
          </a:prstGeom>
          <a:noFill/>
          <a:ln/>
        </p:spPr>
        <p:txBody>
          <a:bodyPr wrap="square" lIns="0" tIns="0" rIns="0" bIns="0" rtlCol="0" anchor="t"/>
          <a:lstStyle/>
          <a:p>
            <a:pPr indent="0" marL="0">
              <a:buNone/>
            </a:pPr>
            <a:r>
              <a:rPr lang="en-US" sz="1150" dirty="0">
                <a:solidFill>
                  <a:schemeClr val="tx1"/>
                </a:solidFill>
              </a:rPr>
              <a:t>Photos horodatées et géolocalisées, intervention vérifiable.</a:t>
            </a:r>
            <a:endParaRPr lang="en-US" sz="1150" dirty="0"/>
          </a:p>
        </p:txBody>
      </p:sp>
      <p:sp>
        <p:nvSpPr>
          <p:cNvPr id="35" name="Ajout 7"/>
          <p:cNvSpPr/>
          <p:nvPr/>
        </p:nvSpPr>
        <p:spPr>
          <a:xfrm>
            <a:off x="6175858" y="4023360"/>
            <a:ext cx="2651760" cy="1874520"/>
          </a:xfrm>
          <a:prstGeom prst="roundRect">
            <a:avLst>
              <a:gd name="adj" fmla="val 5854"/>
            </a:avLst>
          </a:prstGeom>
          <a:solidFill>
            <a:schemeClr val="bg2"/>
          </a:solidFill>
          <a:ln/>
        </p:spPr>
      </p:sp>
      <p:sp>
        <p:nvSpPr>
          <p:cNvPr id="36" name="Shape 27"/>
          <p:cNvSpPr/>
          <p:nvPr/>
        </p:nvSpPr>
        <p:spPr>
          <a:xfrm>
            <a:off x="6358738" y="4187952"/>
            <a:ext cx="457200" cy="457200"/>
          </a:xfrm>
          <a:prstGeom prst="ellipse">
            <a:avLst/>
          </a:prstGeom>
          <a:solidFill>
            <a:schemeClr val="accent1"/>
          </a:solidFill>
          <a:ln/>
        </p:spPr>
      </p:sp>
      <p:pic>
        <p:nvPicPr>
          <p:cNvPr id="37" name="Image 6" descr="preencoded.png">    </p:cNvPr>
          <p:cNvPicPr>
            <a:picLocks noChangeAspect="1"/>
          </p:cNvPicPr>
          <p:nvPr/>
        </p:nvPicPr>
        <p:blipFill>
          <a:blip r:embed="rId7"/>
          <a:stretch>
            <a:fillRect/>
          </a:stretch>
        </p:blipFill>
        <p:spPr>
          <a:xfrm>
            <a:off x="6482182" y="4311396"/>
            <a:ext cx="210312" cy="210312"/>
          </a:xfrm>
          <a:prstGeom prst="rect">
            <a:avLst/>
          </a:prstGeom>
        </p:spPr>
      </p:pic>
      <p:sp>
        <p:nvSpPr>
          <p:cNvPr id="38" name="Text 28"/>
          <p:cNvSpPr txBox="1"/>
          <p:nvPr/>
        </p:nvSpPr>
        <p:spPr>
          <a:xfrm>
            <a:off x="6907378" y="4187952"/>
            <a:ext cx="1828800" cy="457200"/>
          </a:xfrm>
          <a:prstGeom prst="rect">
            <a:avLst/>
          </a:prstGeom>
          <a:noFill/>
          <a:ln/>
        </p:spPr>
        <p:txBody>
          <a:bodyPr wrap="square" lIns="0" tIns="0" rIns="0" bIns="0" rtlCol="0" anchor="ctr"/>
          <a:lstStyle/>
          <a:p>
            <a:pPr indent="0" marL="0">
              <a:buNone/>
            </a:pPr>
            <a:r>
              <a:rPr lang="en-US" sz="1000" b="1" spc="100" kern="0" dirty="0">
                <a:solidFill>
                  <a:schemeClr val="tx2"/>
                </a:solidFill>
              </a:rPr>
              <a:t>CONTINUITÉ DE SERVICE</a:t>
            </a:r>
            <a:endParaRPr lang="en-US" sz="1000" dirty="0"/>
          </a:p>
        </p:txBody>
      </p:sp>
      <p:sp>
        <p:nvSpPr>
          <p:cNvPr id="39" name="Text 29"/>
          <p:cNvSpPr txBox="1"/>
          <p:nvPr/>
        </p:nvSpPr>
        <p:spPr>
          <a:xfrm>
            <a:off x="6358738" y="4800600"/>
            <a:ext cx="2331720" cy="1051560"/>
          </a:xfrm>
          <a:prstGeom prst="rect">
            <a:avLst/>
          </a:prstGeom>
          <a:noFill/>
          <a:ln/>
        </p:spPr>
        <p:txBody>
          <a:bodyPr wrap="square" lIns="0" tIns="0" rIns="0" bIns="0" rtlCol="0" anchor="t"/>
          <a:lstStyle/>
          <a:p>
            <a:pPr indent="0" marL="0">
              <a:buNone/>
            </a:pPr>
            <a:r>
              <a:rPr lang="en-US" sz="1150" dirty="0">
                <a:solidFill>
                  <a:schemeClr val="tx1"/>
                </a:solidFill>
              </a:rPr>
              <a:t>Solution de secours si un point d'eau tombe en panne.</a:t>
            </a:r>
            <a:endParaRPr lang="en-US" sz="1150" dirty="0"/>
          </a:p>
        </p:txBody>
      </p:sp>
      <p:sp>
        <p:nvSpPr>
          <p:cNvPr id="40" name="Ajout 8"/>
          <p:cNvSpPr/>
          <p:nvPr/>
        </p:nvSpPr>
        <p:spPr>
          <a:xfrm>
            <a:off x="8989466" y="4023360"/>
            <a:ext cx="2651760" cy="1874520"/>
          </a:xfrm>
          <a:prstGeom prst="roundRect">
            <a:avLst>
              <a:gd name="adj" fmla="val 5854"/>
            </a:avLst>
          </a:prstGeom>
          <a:solidFill>
            <a:schemeClr val="bg2"/>
          </a:solidFill>
          <a:ln/>
        </p:spPr>
      </p:sp>
      <p:sp>
        <p:nvSpPr>
          <p:cNvPr id="41" name="Shape 31"/>
          <p:cNvSpPr/>
          <p:nvPr/>
        </p:nvSpPr>
        <p:spPr>
          <a:xfrm>
            <a:off x="9172346" y="4187952"/>
            <a:ext cx="457200" cy="457200"/>
          </a:xfrm>
          <a:prstGeom prst="ellipse">
            <a:avLst/>
          </a:prstGeom>
          <a:solidFill>
            <a:schemeClr val="accent1"/>
          </a:solidFill>
          <a:ln/>
        </p:spPr>
      </p:sp>
      <p:pic>
        <p:nvPicPr>
          <p:cNvPr id="42" name="Image 7" descr="preencoded.png">    </p:cNvPr>
          <p:cNvPicPr>
            <a:picLocks noChangeAspect="1"/>
          </p:cNvPicPr>
          <p:nvPr/>
        </p:nvPicPr>
        <p:blipFill>
          <a:blip r:embed="rId8"/>
          <a:stretch>
            <a:fillRect/>
          </a:stretch>
        </p:blipFill>
        <p:spPr>
          <a:xfrm>
            <a:off x="9295790" y="4311396"/>
            <a:ext cx="210312" cy="210312"/>
          </a:xfrm>
          <a:prstGeom prst="rect">
            <a:avLst/>
          </a:prstGeom>
        </p:spPr>
      </p:pic>
      <p:sp>
        <p:nvSpPr>
          <p:cNvPr id="43" name="Text 32"/>
          <p:cNvSpPr txBox="1"/>
          <p:nvPr/>
        </p:nvSpPr>
        <p:spPr>
          <a:xfrm>
            <a:off x="9720986" y="4187952"/>
            <a:ext cx="1828800" cy="457200"/>
          </a:xfrm>
          <a:prstGeom prst="rect">
            <a:avLst/>
          </a:prstGeom>
          <a:noFill/>
          <a:ln/>
        </p:spPr>
        <p:txBody>
          <a:bodyPr wrap="square" lIns="0" tIns="0" rIns="0" bIns="0" rtlCol="0" anchor="ctr"/>
          <a:lstStyle/>
          <a:p>
            <a:pPr indent="0" marL="0">
              <a:buNone/>
            </a:pPr>
            <a:r>
              <a:rPr lang="en-US" sz="1000" b="1" spc="100" kern="0" dirty="0">
                <a:solidFill>
                  <a:schemeClr val="tx2"/>
                </a:solidFill>
              </a:rPr>
              <a:t>ACCESSIBILITÉ</a:t>
            </a:r>
            <a:endParaRPr lang="en-US" sz="1000" dirty="0"/>
          </a:p>
        </p:txBody>
      </p:sp>
      <p:sp>
        <p:nvSpPr>
          <p:cNvPr id="44" name="Text 33"/>
          <p:cNvSpPr txBox="1"/>
          <p:nvPr/>
        </p:nvSpPr>
        <p:spPr>
          <a:xfrm>
            <a:off x="9172346" y="4800600"/>
            <a:ext cx="2331720" cy="1051560"/>
          </a:xfrm>
          <a:prstGeom prst="rect">
            <a:avLst/>
          </a:prstGeom>
          <a:noFill/>
          <a:ln/>
        </p:spPr>
        <p:txBody>
          <a:bodyPr wrap="square" lIns="0" tIns="0" rIns="0" bIns="0" rtlCol="0" anchor="t"/>
          <a:lstStyle/>
          <a:p>
            <a:pPr indent="0" marL="0">
              <a:buNone/>
            </a:pPr>
            <a:r>
              <a:rPr lang="en-US" sz="1150" dirty="0">
                <a:solidFill>
                  <a:schemeClr val="tx1"/>
                </a:solidFill>
              </a:rPr>
              <a:t>Accès des personnes handicapées aux équipements et aux outils.</a:t>
            </a:r>
            <a:endParaRPr lang="en-US" sz="1150" dirty="0"/>
          </a:p>
        </p:txBody>
      </p:sp>
      <p:sp>
        <p:nvSpPr>
          <p:cNvPr id="45" name="Text 34"/>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31 (pièces de rechange). Autres sujets : conception de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FEUILLE DE ROUTE</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Un pilote de 90 jours, puis extension par étapes</a:t>
            </a:r>
            <a:endParaRPr lang="en-US" sz="2800" dirty="0"/>
          </a:p>
        </p:txBody>
      </p:sp>
      <p:sp>
        <p:nvSpPr>
          <p:cNvPr id="5" name="Étape CADRAGE"/>
          <p:cNvSpPr/>
          <p:nvPr/>
        </p:nvSpPr>
        <p:spPr>
          <a:xfrm>
            <a:off x="548640" y="2011680"/>
            <a:ext cx="2651760" cy="3657600"/>
          </a:xfrm>
          <a:prstGeom prst="roundRect">
            <a:avLst>
              <a:gd name="adj" fmla="val 4138"/>
            </a:avLst>
          </a:prstGeom>
          <a:solidFill>
            <a:schemeClr val="bg2"/>
          </a:solidFill>
          <a:ln/>
        </p:spPr>
      </p:sp>
      <p:sp>
        <p:nvSpPr>
          <p:cNvPr id="6" name="Text 3"/>
          <p:cNvSpPr txBox="1"/>
          <p:nvPr/>
        </p:nvSpPr>
        <p:spPr>
          <a:xfrm>
            <a:off x="777240" y="2194560"/>
            <a:ext cx="219456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CADRAGE</a:t>
            </a:r>
            <a:endParaRPr lang="en-US" sz="1200" dirty="0"/>
          </a:p>
        </p:txBody>
      </p:sp>
      <p:sp>
        <p:nvSpPr>
          <p:cNvPr id="7" name="Text 4"/>
          <p:cNvSpPr txBox="1"/>
          <p:nvPr/>
        </p:nvSpPr>
        <p:spPr>
          <a:xfrm>
            <a:off x="777240" y="2514600"/>
            <a:ext cx="2194560" cy="457200"/>
          </a:xfrm>
          <a:prstGeom prst="rect">
            <a:avLst/>
          </a:prstGeom>
          <a:noFill/>
          <a:ln/>
        </p:spPr>
        <p:txBody>
          <a:bodyPr wrap="square" lIns="0" tIns="0" rIns="0" bIns="0" rtlCol="0" anchor="ctr"/>
          <a:lstStyle/>
          <a:p>
            <a:pPr indent="0" marL="0">
              <a:buNone/>
            </a:pPr>
            <a:r>
              <a:rPr lang="en-US" sz="2200" b="1" dirty="0">
                <a:solidFill>
                  <a:schemeClr val="tx2"/>
                </a:solidFill>
              </a:rPr>
              <a:t>4 semaines</a:t>
            </a:r>
            <a:endParaRPr lang="en-US" sz="2200" dirty="0"/>
          </a:p>
        </p:txBody>
      </p:sp>
      <p:sp>
        <p:nvSpPr>
          <p:cNvPr id="8" name="Shape 5"/>
          <p:cNvSpPr/>
          <p:nvPr/>
        </p:nvSpPr>
        <p:spPr>
          <a:xfrm>
            <a:off x="777240" y="3264408"/>
            <a:ext cx="128016" cy="128016"/>
          </a:xfrm>
          <a:prstGeom prst="ellipse">
            <a:avLst/>
          </a:prstGeom>
          <a:solidFill>
            <a:schemeClr val="accent2"/>
          </a:solidFill>
          <a:ln/>
        </p:spPr>
      </p:sp>
      <p:sp>
        <p:nvSpPr>
          <p:cNvPr id="9" name="Text 6"/>
          <p:cNvSpPr txBox="1"/>
          <p:nvPr/>
        </p:nvSpPr>
        <p:spPr>
          <a:xfrm>
            <a:off x="1033272" y="3200400"/>
            <a:ext cx="1984248" cy="713232"/>
          </a:xfrm>
          <a:prstGeom prst="rect">
            <a:avLst/>
          </a:prstGeom>
          <a:noFill/>
          <a:ln/>
        </p:spPr>
        <p:txBody>
          <a:bodyPr wrap="square" lIns="0" tIns="0" rIns="0" bIns="0" rtlCol="0" anchor="t"/>
          <a:lstStyle/>
          <a:p>
            <a:pPr indent="0" marL="0">
              <a:buNone/>
            </a:pPr>
            <a:r>
              <a:rPr lang="en-US" sz="1200" dirty="0">
                <a:solidFill>
                  <a:schemeClr val="tx1"/>
                </a:solidFill>
              </a:rPr>
              <a:t>Choisir la commune et la famille d'ouvrages</a:t>
            </a:r>
            <a:endParaRPr lang="en-US" sz="1200" dirty="0"/>
          </a:p>
        </p:txBody>
      </p:sp>
      <p:sp>
        <p:nvSpPr>
          <p:cNvPr id="10" name="Shape 7"/>
          <p:cNvSpPr/>
          <p:nvPr/>
        </p:nvSpPr>
        <p:spPr>
          <a:xfrm>
            <a:off x="777240" y="4014216"/>
            <a:ext cx="128016" cy="128016"/>
          </a:xfrm>
          <a:prstGeom prst="ellipse">
            <a:avLst/>
          </a:prstGeom>
          <a:solidFill>
            <a:schemeClr val="accent2"/>
          </a:solidFill>
          <a:ln/>
        </p:spPr>
      </p:sp>
      <p:sp>
        <p:nvSpPr>
          <p:cNvPr id="11" name="Text 8"/>
          <p:cNvSpPr txBox="1"/>
          <p:nvPr/>
        </p:nvSpPr>
        <p:spPr>
          <a:xfrm>
            <a:off x="1033272" y="3950208"/>
            <a:ext cx="1984248" cy="713232"/>
          </a:xfrm>
          <a:prstGeom prst="rect">
            <a:avLst/>
          </a:prstGeom>
          <a:noFill/>
          <a:ln/>
        </p:spPr>
        <p:txBody>
          <a:bodyPr wrap="square" lIns="0" tIns="0" rIns="0" bIns="0" rtlCol="0" anchor="t"/>
          <a:lstStyle/>
          <a:p>
            <a:pPr indent="0" marL="0">
              <a:buNone/>
            </a:pPr>
            <a:r>
              <a:rPr lang="en-US" sz="1200" dirty="0">
                <a:solidFill>
                  <a:schemeClr val="tx1"/>
                </a:solidFill>
              </a:rPr>
              <a:t>Inventorier les ouvrages du pilote</a:t>
            </a:r>
            <a:endParaRPr lang="en-US" sz="1200" dirty="0"/>
          </a:p>
        </p:txBody>
      </p:sp>
      <p:sp>
        <p:nvSpPr>
          <p:cNvPr id="12" name="Shape 9"/>
          <p:cNvSpPr/>
          <p:nvPr/>
        </p:nvSpPr>
        <p:spPr>
          <a:xfrm>
            <a:off x="777240" y="4764024"/>
            <a:ext cx="128016" cy="128016"/>
          </a:xfrm>
          <a:prstGeom prst="ellipse">
            <a:avLst/>
          </a:prstGeom>
          <a:solidFill>
            <a:schemeClr val="accent2"/>
          </a:solidFill>
          <a:ln/>
        </p:spPr>
      </p:sp>
      <p:sp>
        <p:nvSpPr>
          <p:cNvPr id="13" name="Text 10"/>
          <p:cNvSpPr txBox="1"/>
          <p:nvPr/>
        </p:nvSpPr>
        <p:spPr>
          <a:xfrm>
            <a:off x="1033272" y="4700016"/>
            <a:ext cx="1984248" cy="713232"/>
          </a:xfrm>
          <a:prstGeom prst="rect">
            <a:avLst/>
          </a:prstGeom>
          <a:noFill/>
          <a:ln/>
        </p:spPr>
        <p:txBody>
          <a:bodyPr wrap="square" lIns="0" tIns="0" rIns="0" bIns="0" rtlCol="0" anchor="t"/>
          <a:lstStyle/>
          <a:p>
            <a:pPr indent="0" marL="0">
              <a:buNone/>
            </a:pPr>
            <a:r>
              <a:rPr lang="en-US" sz="1200" dirty="0">
                <a:solidFill>
                  <a:schemeClr val="tx1"/>
                </a:solidFill>
              </a:rPr>
              <a:t>Fixer les plans d'entretien</a:t>
            </a:r>
            <a:endParaRPr lang="en-US" sz="1200" dirty="0"/>
          </a:p>
        </p:txBody>
      </p:sp>
      <p:sp>
        <p:nvSpPr>
          <p:cNvPr id="14" name="Shape 11"/>
          <p:cNvSpPr/>
          <p:nvPr/>
        </p:nvSpPr>
        <p:spPr>
          <a:xfrm>
            <a:off x="3218688" y="3200400"/>
            <a:ext cx="128016" cy="237744"/>
          </a:xfrm>
          <a:prstGeom prst="rightArrow">
            <a:avLst/>
          </a:prstGeom>
          <a:solidFill>
            <a:schemeClr val="accent2"/>
          </a:solidFill>
          <a:ln/>
        </p:spPr>
      </p:sp>
      <p:sp>
        <p:nvSpPr>
          <p:cNvPr id="15" name="Étape PILOTE"/>
          <p:cNvSpPr/>
          <p:nvPr/>
        </p:nvSpPr>
        <p:spPr>
          <a:xfrm>
            <a:off x="3362249" y="2011680"/>
            <a:ext cx="2651760" cy="3657600"/>
          </a:xfrm>
          <a:prstGeom prst="roundRect">
            <a:avLst>
              <a:gd name="adj" fmla="val 4138"/>
            </a:avLst>
          </a:prstGeom>
          <a:solidFill>
            <a:schemeClr val="accent1"/>
          </a:solidFill>
          <a:ln/>
        </p:spPr>
      </p:sp>
      <p:sp>
        <p:nvSpPr>
          <p:cNvPr id="16" name="Text 13"/>
          <p:cNvSpPr txBox="1"/>
          <p:nvPr/>
        </p:nvSpPr>
        <p:spPr>
          <a:xfrm>
            <a:off x="3590849" y="2194560"/>
            <a:ext cx="219456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PILOTE</a:t>
            </a:r>
            <a:endParaRPr lang="en-US" sz="1200" dirty="0"/>
          </a:p>
        </p:txBody>
      </p:sp>
      <p:sp>
        <p:nvSpPr>
          <p:cNvPr id="17" name="Text 14"/>
          <p:cNvSpPr txBox="1"/>
          <p:nvPr/>
        </p:nvSpPr>
        <p:spPr>
          <a:xfrm>
            <a:off x="3590849" y="2514600"/>
            <a:ext cx="2194560" cy="457200"/>
          </a:xfrm>
          <a:prstGeom prst="rect">
            <a:avLst/>
          </a:prstGeom>
          <a:noFill/>
          <a:ln/>
        </p:spPr>
        <p:txBody>
          <a:bodyPr wrap="square" lIns="0" tIns="0" rIns="0" bIns="0" rtlCol="0" anchor="ctr"/>
          <a:lstStyle/>
          <a:p>
            <a:pPr indent="0" marL="0">
              <a:buNone/>
            </a:pPr>
            <a:r>
              <a:rPr lang="en-US" sz="2200" b="1" dirty="0">
                <a:solidFill>
                  <a:schemeClr val="bg1"/>
                </a:solidFill>
              </a:rPr>
              <a:t>90 jours</a:t>
            </a:r>
            <a:endParaRPr lang="en-US" sz="2200" dirty="0"/>
          </a:p>
        </p:txBody>
      </p:sp>
      <p:sp>
        <p:nvSpPr>
          <p:cNvPr id="18" name="Shape 15"/>
          <p:cNvSpPr/>
          <p:nvPr/>
        </p:nvSpPr>
        <p:spPr>
          <a:xfrm>
            <a:off x="3590849" y="3264408"/>
            <a:ext cx="128016" cy="128016"/>
          </a:xfrm>
          <a:prstGeom prst="ellipse">
            <a:avLst/>
          </a:prstGeom>
          <a:solidFill>
            <a:schemeClr val="accent2"/>
          </a:solidFill>
          <a:ln/>
        </p:spPr>
      </p:sp>
      <p:sp>
        <p:nvSpPr>
          <p:cNvPr id="19" name="Text 16"/>
          <p:cNvSpPr txBox="1"/>
          <p:nvPr/>
        </p:nvSpPr>
        <p:spPr>
          <a:xfrm>
            <a:off x="3846881" y="3200400"/>
            <a:ext cx="1984248" cy="713232"/>
          </a:xfrm>
          <a:prstGeom prst="rect">
            <a:avLst/>
          </a:prstGeom>
          <a:noFill/>
          <a:ln/>
        </p:spPr>
        <p:txBody>
          <a:bodyPr wrap="square" lIns="0" tIns="0" rIns="0" bIns="0" rtlCol="0" anchor="t"/>
          <a:lstStyle/>
          <a:p>
            <a:pPr indent="0" marL="0">
              <a:buNone/>
            </a:pPr>
            <a:r>
              <a:rPr lang="en-US" sz="1200" dirty="0">
                <a:solidFill>
                  <a:schemeClr val="bg1"/>
                </a:solidFill>
              </a:rPr>
              <a:t>Poser les plaques, former les agents</a:t>
            </a:r>
            <a:endParaRPr lang="en-US" sz="1200" dirty="0"/>
          </a:p>
        </p:txBody>
      </p:sp>
      <p:sp>
        <p:nvSpPr>
          <p:cNvPr id="20" name="Shape 17"/>
          <p:cNvSpPr/>
          <p:nvPr/>
        </p:nvSpPr>
        <p:spPr>
          <a:xfrm>
            <a:off x="3590849" y="4014216"/>
            <a:ext cx="128016" cy="128016"/>
          </a:xfrm>
          <a:prstGeom prst="ellipse">
            <a:avLst/>
          </a:prstGeom>
          <a:solidFill>
            <a:schemeClr val="accent2"/>
          </a:solidFill>
          <a:ln/>
        </p:spPr>
      </p:sp>
      <p:sp>
        <p:nvSpPr>
          <p:cNvPr id="21" name="Text 18"/>
          <p:cNvSpPr txBox="1"/>
          <p:nvPr/>
        </p:nvSpPr>
        <p:spPr>
          <a:xfrm>
            <a:off x="3846881" y="3950208"/>
            <a:ext cx="1984248" cy="713232"/>
          </a:xfrm>
          <a:prstGeom prst="rect">
            <a:avLst/>
          </a:prstGeom>
          <a:noFill/>
          <a:ln/>
        </p:spPr>
        <p:txBody>
          <a:bodyPr wrap="square" lIns="0" tIns="0" rIns="0" bIns="0" rtlCol="0" anchor="t"/>
          <a:lstStyle/>
          <a:p>
            <a:pPr indent="0" marL="0">
              <a:buNone/>
            </a:pPr>
            <a:r>
              <a:rPr lang="en-US" sz="1200" dirty="0">
                <a:solidFill>
                  <a:schemeClr val="bg1"/>
                </a:solidFill>
              </a:rPr>
              <a:t>Faire vivre signalements et entretien</a:t>
            </a:r>
            <a:endParaRPr lang="en-US" sz="1200" dirty="0"/>
          </a:p>
        </p:txBody>
      </p:sp>
      <p:sp>
        <p:nvSpPr>
          <p:cNvPr id="22" name="Shape 19"/>
          <p:cNvSpPr/>
          <p:nvPr/>
        </p:nvSpPr>
        <p:spPr>
          <a:xfrm>
            <a:off x="3590849" y="4764024"/>
            <a:ext cx="128016" cy="128016"/>
          </a:xfrm>
          <a:prstGeom prst="ellipse">
            <a:avLst/>
          </a:prstGeom>
          <a:solidFill>
            <a:schemeClr val="accent2"/>
          </a:solidFill>
          <a:ln/>
        </p:spPr>
      </p:sp>
      <p:sp>
        <p:nvSpPr>
          <p:cNvPr id="23" name="Text 20"/>
          <p:cNvSpPr txBox="1"/>
          <p:nvPr/>
        </p:nvSpPr>
        <p:spPr>
          <a:xfrm>
            <a:off x="3846881" y="4700016"/>
            <a:ext cx="1984248" cy="713232"/>
          </a:xfrm>
          <a:prstGeom prst="rect">
            <a:avLst/>
          </a:prstGeom>
          <a:noFill/>
          <a:ln/>
        </p:spPr>
        <p:txBody>
          <a:bodyPr wrap="square" lIns="0" tIns="0" rIns="0" bIns="0" rtlCol="0" anchor="t"/>
          <a:lstStyle/>
          <a:p>
            <a:pPr indent="0" marL="0">
              <a:buNone/>
            </a:pPr>
            <a:r>
              <a:rPr lang="en-US" sz="1200" dirty="0">
                <a:solidFill>
                  <a:schemeClr val="bg1"/>
                </a:solidFill>
              </a:rPr>
              <a:t>Mesurer les indicateurs</a:t>
            </a:r>
            <a:endParaRPr lang="en-US" sz="1200" dirty="0"/>
          </a:p>
        </p:txBody>
      </p:sp>
      <p:sp>
        <p:nvSpPr>
          <p:cNvPr id="24" name="Shape 21"/>
          <p:cNvSpPr/>
          <p:nvPr/>
        </p:nvSpPr>
        <p:spPr>
          <a:xfrm>
            <a:off x="6032297" y="3200400"/>
            <a:ext cx="128016" cy="237744"/>
          </a:xfrm>
          <a:prstGeom prst="rightArrow">
            <a:avLst/>
          </a:prstGeom>
          <a:solidFill>
            <a:schemeClr val="accent2"/>
          </a:solidFill>
          <a:ln/>
        </p:spPr>
      </p:sp>
      <p:sp>
        <p:nvSpPr>
          <p:cNvPr id="25" name="Étape BILAN"/>
          <p:cNvSpPr/>
          <p:nvPr/>
        </p:nvSpPr>
        <p:spPr>
          <a:xfrm>
            <a:off x="6175858" y="2011680"/>
            <a:ext cx="2651760" cy="3657600"/>
          </a:xfrm>
          <a:prstGeom prst="roundRect">
            <a:avLst>
              <a:gd name="adj" fmla="val 4138"/>
            </a:avLst>
          </a:prstGeom>
          <a:solidFill>
            <a:schemeClr val="bg2"/>
          </a:solidFill>
          <a:ln/>
        </p:spPr>
      </p:sp>
      <p:sp>
        <p:nvSpPr>
          <p:cNvPr id="26" name="Text 23"/>
          <p:cNvSpPr txBox="1"/>
          <p:nvPr/>
        </p:nvSpPr>
        <p:spPr>
          <a:xfrm>
            <a:off x="6404458" y="2194560"/>
            <a:ext cx="219456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BILAN</a:t>
            </a:r>
            <a:endParaRPr lang="en-US" sz="1200" dirty="0"/>
          </a:p>
        </p:txBody>
      </p:sp>
      <p:sp>
        <p:nvSpPr>
          <p:cNvPr id="27" name="Text 24"/>
          <p:cNvSpPr txBox="1"/>
          <p:nvPr/>
        </p:nvSpPr>
        <p:spPr>
          <a:xfrm>
            <a:off x="6404458" y="2514600"/>
            <a:ext cx="2194560" cy="457200"/>
          </a:xfrm>
          <a:prstGeom prst="rect">
            <a:avLst/>
          </a:prstGeom>
          <a:noFill/>
          <a:ln/>
        </p:spPr>
        <p:txBody>
          <a:bodyPr wrap="square" lIns="0" tIns="0" rIns="0" bIns="0" rtlCol="0" anchor="ctr"/>
          <a:lstStyle/>
          <a:p>
            <a:pPr indent="0" marL="0">
              <a:buNone/>
            </a:pPr>
            <a:r>
              <a:rPr lang="en-US" sz="2200" b="1" dirty="0">
                <a:solidFill>
                  <a:schemeClr val="tx2"/>
                </a:solidFill>
              </a:rPr>
              <a:t>4 semaines</a:t>
            </a:r>
            <a:endParaRPr lang="en-US" sz="2200" dirty="0"/>
          </a:p>
        </p:txBody>
      </p:sp>
      <p:sp>
        <p:nvSpPr>
          <p:cNvPr id="28" name="Shape 25"/>
          <p:cNvSpPr/>
          <p:nvPr/>
        </p:nvSpPr>
        <p:spPr>
          <a:xfrm>
            <a:off x="6404458" y="3264408"/>
            <a:ext cx="128016" cy="128016"/>
          </a:xfrm>
          <a:prstGeom prst="ellipse">
            <a:avLst/>
          </a:prstGeom>
          <a:solidFill>
            <a:schemeClr val="accent2"/>
          </a:solidFill>
          <a:ln/>
        </p:spPr>
      </p:sp>
      <p:sp>
        <p:nvSpPr>
          <p:cNvPr id="29" name="Text 26"/>
          <p:cNvSpPr txBox="1"/>
          <p:nvPr/>
        </p:nvSpPr>
        <p:spPr>
          <a:xfrm>
            <a:off x="6660490" y="3200400"/>
            <a:ext cx="1984248" cy="713232"/>
          </a:xfrm>
          <a:prstGeom prst="rect">
            <a:avLst/>
          </a:prstGeom>
          <a:noFill/>
          <a:ln/>
        </p:spPr>
        <p:txBody>
          <a:bodyPr wrap="square" lIns="0" tIns="0" rIns="0" bIns="0" rtlCol="0" anchor="t"/>
          <a:lstStyle/>
          <a:p>
            <a:pPr indent="0" marL="0">
              <a:buNone/>
            </a:pPr>
            <a:r>
              <a:rPr lang="en-US" sz="1200" dirty="0">
                <a:solidFill>
                  <a:schemeClr val="tx1"/>
                </a:solidFill>
              </a:rPr>
              <a:t>Retour des agents et des habitants</a:t>
            </a:r>
            <a:endParaRPr lang="en-US" sz="1200" dirty="0"/>
          </a:p>
        </p:txBody>
      </p:sp>
      <p:sp>
        <p:nvSpPr>
          <p:cNvPr id="30" name="Shape 27"/>
          <p:cNvSpPr/>
          <p:nvPr/>
        </p:nvSpPr>
        <p:spPr>
          <a:xfrm>
            <a:off x="6404458" y="4014216"/>
            <a:ext cx="128016" cy="128016"/>
          </a:xfrm>
          <a:prstGeom prst="ellipse">
            <a:avLst/>
          </a:prstGeom>
          <a:solidFill>
            <a:schemeClr val="accent2"/>
          </a:solidFill>
          <a:ln/>
        </p:spPr>
      </p:sp>
      <p:sp>
        <p:nvSpPr>
          <p:cNvPr id="31" name="Text 28"/>
          <p:cNvSpPr txBox="1"/>
          <p:nvPr/>
        </p:nvSpPr>
        <p:spPr>
          <a:xfrm>
            <a:off x="6660490" y="3950208"/>
            <a:ext cx="1984248" cy="713232"/>
          </a:xfrm>
          <a:prstGeom prst="rect">
            <a:avLst/>
          </a:prstGeom>
          <a:noFill/>
          <a:ln/>
        </p:spPr>
        <p:txBody>
          <a:bodyPr wrap="square" lIns="0" tIns="0" rIns="0" bIns="0" rtlCol="0" anchor="t"/>
          <a:lstStyle/>
          <a:p>
            <a:pPr indent="0" marL="0">
              <a:buNone/>
            </a:pPr>
            <a:r>
              <a:rPr lang="en-US" sz="1200" dirty="0">
                <a:solidFill>
                  <a:schemeClr val="tx1"/>
                </a:solidFill>
              </a:rPr>
              <a:t>Ajuster l'outil</a:t>
            </a:r>
            <a:endParaRPr lang="en-US" sz="1200" dirty="0"/>
          </a:p>
        </p:txBody>
      </p:sp>
      <p:sp>
        <p:nvSpPr>
          <p:cNvPr id="32" name="Shape 29"/>
          <p:cNvSpPr/>
          <p:nvPr/>
        </p:nvSpPr>
        <p:spPr>
          <a:xfrm>
            <a:off x="6404458" y="4764024"/>
            <a:ext cx="128016" cy="128016"/>
          </a:xfrm>
          <a:prstGeom prst="ellipse">
            <a:avLst/>
          </a:prstGeom>
          <a:solidFill>
            <a:schemeClr val="accent2"/>
          </a:solidFill>
          <a:ln/>
        </p:spPr>
      </p:sp>
      <p:sp>
        <p:nvSpPr>
          <p:cNvPr id="33" name="Text 30"/>
          <p:cNvSpPr txBox="1"/>
          <p:nvPr/>
        </p:nvSpPr>
        <p:spPr>
          <a:xfrm>
            <a:off x="6660490" y="4700016"/>
            <a:ext cx="1984248" cy="713232"/>
          </a:xfrm>
          <a:prstGeom prst="rect">
            <a:avLst/>
          </a:prstGeom>
          <a:noFill/>
          <a:ln/>
        </p:spPr>
        <p:txBody>
          <a:bodyPr wrap="square" lIns="0" tIns="0" rIns="0" bIns="0" rtlCol="0" anchor="t"/>
          <a:lstStyle/>
          <a:p>
            <a:pPr indent="0" marL="0">
              <a:buNone/>
            </a:pPr>
            <a:r>
              <a:rPr lang="en-US" sz="1200" dirty="0">
                <a:solidFill>
                  <a:schemeClr val="tx1"/>
                </a:solidFill>
              </a:rPr>
              <a:t>Décider de l'extension</a:t>
            </a:r>
            <a:endParaRPr lang="en-US" sz="1200" dirty="0"/>
          </a:p>
        </p:txBody>
      </p:sp>
      <p:sp>
        <p:nvSpPr>
          <p:cNvPr id="34" name="Shape 31"/>
          <p:cNvSpPr/>
          <p:nvPr/>
        </p:nvSpPr>
        <p:spPr>
          <a:xfrm>
            <a:off x="8845906" y="3200400"/>
            <a:ext cx="128016" cy="237744"/>
          </a:xfrm>
          <a:prstGeom prst="rightArrow">
            <a:avLst/>
          </a:prstGeom>
          <a:solidFill>
            <a:schemeClr val="accent2"/>
          </a:solidFill>
          <a:ln/>
        </p:spPr>
      </p:sp>
      <p:sp>
        <p:nvSpPr>
          <p:cNvPr id="35" name="Étape EXTENSION"/>
          <p:cNvSpPr/>
          <p:nvPr/>
        </p:nvSpPr>
        <p:spPr>
          <a:xfrm>
            <a:off x="8989466" y="2011680"/>
            <a:ext cx="2651760" cy="3657600"/>
          </a:xfrm>
          <a:prstGeom prst="roundRect">
            <a:avLst>
              <a:gd name="adj" fmla="val 4138"/>
            </a:avLst>
          </a:prstGeom>
          <a:solidFill>
            <a:schemeClr val="bg2"/>
          </a:solidFill>
          <a:ln/>
        </p:spPr>
      </p:sp>
      <p:sp>
        <p:nvSpPr>
          <p:cNvPr id="36" name="Text 33"/>
          <p:cNvSpPr txBox="1"/>
          <p:nvPr/>
        </p:nvSpPr>
        <p:spPr>
          <a:xfrm>
            <a:off x="9218066" y="2194560"/>
            <a:ext cx="219456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EXTENSION</a:t>
            </a:r>
            <a:endParaRPr lang="en-US" sz="1200" dirty="0"/>
          </a:p>
        </p:txBody>
      </p:sp>
      <p:sp>
        <p:nvSpPr>
          <p:cNvPr id="37" name="Text 34"/>
          <p:cNvSpPr txBox="1"/>
          <p:nvPr/>
        </p:nvSpPr>
        <p:spPr>
          <a:xfrm>
            <a:off x="9218066" y="2514600"/>
            <a:ext cx="2194560" cy="457200"/>
          </a:xfrm>
          <a:prstGeom prst="rect">
            <a:avLst/>
          </a:prstGeom>
          <a:noFill/>
          <a:ln/>
        </p:spPr>
        <p:txBody>
          <a:bodyPr wrap="square" lIns="0" tIns="0" rIns="0" bIns="0" rtlCol="0" anchor="ctr"/>
          <a:lstStyle/>
          <a:p>
            <a:pPr indent="0" marL="0">
              <a:buNone/>
            </a:pPr>
            <a:r>
              <a:rPr lang="en-US" sz="2200" b="1" dirty="0">
                <a:solidFill>
                  <a:schemeClr val="tx2"/>
                </a:solidFill>
              </a:rPr>
              <a:t>par étapes</a:t>
            </a:r>
            <a:endParaRPr lang="en-US" sz="2200" dirty="0"/>
          </a:p>
        </p:txBody>
      </p:sp>
      <p:sp>
        <p:nvSpPr>
          <p:cNvPr id="38" name="Shape 35"/>
          <p:cNvSpPr/>
          <p:nvPr/>
        </p:nvSpPr>
        <p:spPr>
          <a:xfrm>
            <a:off x="9218066" y="3264408"/>
            <a:ext cx="128016" cy="128016"/>
          </a:xfrm>
          <a:prstGeom prst="ellipse">
            <a:avLst/>
          </a:prstGeom>
          <a:solidFill>
            <a:schemeClr val="accent2"/>
          </a:solidFill>
          <a:ln/>
        </p:spPr>
      </p:sp>
      <p:sp>
        <p:nvSpPr>
          <p:cNvPr id="39" name="Text 36"/>
          <p:cNvSpPr txBox="1"/>
          <p:nvPr/>
        </p:nvSpPr>
        <p:spPr>
          <a:xfrm>
            <a:off x="9474098" y="3200400"/>
            <a:ext cx="1984248" cy="713232"/>
          </a:xfrm>
          <a:prstGeom prst="rect">
            <a:avLst/>
          </a:prstGeom>
          <a:noFill/>
          <a:ln/>
        </p:spPr>
        <p:txBody>
          <a:bodyPr wrap="square" lIns="0" tIns="0" rIns="0" bIns="0" rtlCol="0" anchor="t"/>
          <a:lstStyle/>
          <a:p>
            <a:pPr indent="0" marL="0">
              <a:buNone/>
            </a:pPr>
            <a:r>
              <a:rPr lang="en-US" sz="1200" dirty="0">
                <a:solidFill>
                  <a:schemeClr val="tx1"/>
                </a:solidFill>
              </a:rPr>
              <a:t>Autres familles d'ouvrages</a:t>
            </a:r>
            <a:endParaRPr lang="en-US" sz="1200" dirty="0"/>
          </a:p>
        </p:txBody>
      </p:sp>
      <p:sp>
        <p:nvSpPr>
          <p:cNvPr id="40" name="Shape 37"/>
          <p:cNvSpPr/>
          <p:nvPr/>
        </p:nvSpPr>
        <p:spPr>
          <a:xfrm>
            <a:off x="9218066" y="4014216"/>
            <a:ext cx="128016" cy="128016"/>
          </a:xfrm>
          <a:prstGeom prst="ellipse">
            <a:avLst/>
          </a:prstGeom>
          <a:solidFill>
            <a:schemeClr val="accent2"/>
          </a:solidFill>
          <a:ln/>
        </p:spPr>
      </p:sp>
      <p:sp>
        <p:nvSpPr>
          <p:cNvPr id="41" name="Text 38"/>
          <p:cNvSpPr txBox="1"/>
          <p:nvPr/>
        </p:nvSpPr>
        <p:spPr>
          <a:xfrm>
            <a:off x="9474098" y="3950208"/>
            <a:ext cx="1984248" cy="713232"/>
          </a:xfrm>
          <a:prstGeom prst="rect">
            <a:avLst/>
          </a:prstGeom>
          <a:noFill/>
          <a:ln/>
        </p:spPr>
        <p:txBody>
          <a:bodyPr wrap="square" lIns="0" tIns="0" rIns="0" bIns="0" rtlCol="0" anchor="t"/>
          <a:lstStyle/>
          <a:p>
            <a:pPr indent="0" marL="0">
              <a:buNone/>
            </a:pPr>
            <a:r>
              <a:rPr lang="en-US" sz="1200" dirty="0">
                <a:solidFill>
                  <a:schemeClr val="tx1"/>
                </a:solidFill>
              </a:rPr>
              <a:t>Autres communes d'un pôle</a:t>
            </a:r>
            <a:endParaRPr lang="en-US" sz="1200" dirty="0"/>
          </a:p>
        </p:txBody>
      </p:sp>
      <p:sp>
        <p:nvSpPr>
          <p:cNvPr id="42" name="Shape 39"/>
          <p:cNvSpPr/>
          <p:nvPr/>
        </p:nvSpPr>
        <p:spPr>
          <a:xfrm>
            <a:off x="9218066" y="4764024"/>
            <a:ext cx="128016" cy="128016"/>
          </a:xfrm>
          <a:prstGeom prst="ellipse">
            <a:avLst/>
          </a:prstGeom>
          <a:solidFill>
            <a:schemeClr val="accent2"/>
          </a:solidFill>
          <a:ln/>
        </p:spPr>
      </p:sp>
      <p:sp>
        <p:nvSpPr>
          <p:cNvPr id="43" name="Text 40"/>
          <p:cNvSpPr txBox="1"/>
          <p:nvPr/>
        </p:nvSpPr>
        <p:spPr>
          <a:xfrm>
            <a:off x="9474098" y="4700016"/>
            <a:ext cx="1984248" cy="713232"/>
          </a:xfrm>
          <a:prstGeom prst="rect">
            <a:avLst/>
          </a:prstGeom>
          <a:noFill/>
          <a:ln/>
        </p:spPr>
        <p:txBody>
          <a:bodyPr wrap="square" lIns="0" tIns="0" rIns="0" bIns="0" rtlCol="0" anchor="t"/>
          <a:lstStyle/>
          <a:p>
            <a:pPr indent="0" marL="0">
              <a:buNone/>
            </a:pPr>
            <a:r>
              <a:rPr lang="en-US" sz="1200" dirty="0">
                <a:solidFill>
                  <a:schemeClr val="tx1"/>
                </a:solidFill>
              </a:rPr>
              <a:t>Viser le label national (p. 65)</a:t>
            </a:r>
            <a:endParaRPr lang="en-US" sz="1200" dirty="0"/>
          </a:p>
        </p:txBody>
      </p:sp>
      <p:sp>
        <p:nvSpPr>
          <p:cNvPr id="44" name="Text 41"/>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Source : programme 2026-2033, p. 65 (label national). Calendrier et contenu : proposition de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0" y="201168"/>
            <a:ext cx="12191695" cy="384048"/>
          </a:xfrm>
          <a:prstGeom prst="rect">
            <a:avLst/>
          </a:prstGeom>
          <a:noFill/>
          <a:ln/>
        </p:spPr>
        <p:txBody>
          <a:bodyPr wrap="square" lIns="0" tIns="0" rIns="0" bIns="0" rtlCol="0" anchor="ctr"/>
          <a:lstStyle/>
          <a:p>
            <a:pPr algn="ctr" indent="0" marL="0">
              <a:buNone/>
            </a:pPr>
            <a:r>
              <a:rPr lang="en-US" sz="1400" b="1" spc="200" kern="0" dirty="0">
                <a:solidFill>
                  <a:schemeClr val="bg1"/>
                </a:solidFill>
              </a:rPr>
              <a:t>RISQUES</a:t>
            </a:r>
            <a:endParaRPr lang="en-US" sz="1400" dirty="0"/>
          </a:p>
        </p:txBody>
      </p:sp>
      <p:sp>
        <p:nvSpPr>
          <p:cNvPr id="3" name="Text 2"/>
          <p:cNvSpPr/>
          <p:nvPr>
            <p:ph idx="103" type="title" hasCustomPrompt="1"/>
          </p:nvPr>
        </p:nvSpPr>
        <p:spPr>
          <a:xfrm>
            <a:off x="548640" y="960120"/>
            <a:ext cx="11091672" cy="914400"/>
          </a:xfrm>
          <a:prstGeom prst="rect">
            <a:avLst/>
          </a:prstGeom>
          <a:noFill/>
          <a:ln/>
        </p:spPr>
        <p:txBody>
          <a:bodyPr wrap="square" lIns="0" tIns="0" rIns="0" bIns="0" rtlCol="0" anchor="t"/>
          <a:lstStyle/>
          <a:p>
            <a:pPr algn="l" indent="0" marL="0">
              <a:buNone/>
            </a:pPr>
            <a:r>
              <a:rPr lang="en-US" sz="2800" b="1" dirty="0">
                <a:solidFill>
                  <a:schemeClr val="tx2"/>
                </a:solidFill>
              </a:rPr>
              <a:t>Les risques identifiés et la parade prévue pour chacun</a:t>
            </a:r>
            <a:endParaRPr lang="en-US" sz="2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914400"/>
        </p:xfrm>
        <a:graphic>
          <a:graphicData uri="http://schemas.openxmlformats.org/drawingml/2006/table">
            <a:tbl>
              <a:tblPr/>
              <a:tblGrid>
                <a:gridCol w="2926080"/>
                <a:gridCol w="4023360"/>
                <a:gridCol w="4142232"/>
              </a:tblGrid>
              <a:tr h="347472">
                <a:tc>
                  <a:txBody>
                    <a:bodyPr/>
                    <a:lstStyle/>
                    <a:p>
                      <a:pPr indent="0" marL="0">
                        <a:buNone/>
                      </a:pPr>
                      <a:r>
                        <a:rPr lang="en-US" sz="1150" b="1" dirty="0">
                          <a:solidFill>
                            <a:schemeClr val="bg1"/>
                          </a:solidFill>
                        </a:rPr>
                        <a:t>Risque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Pourquoi</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Parade prévue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566928">
                <a:tc>
                  <a:txBody>
                    <a:bodyPr/>
                    <a:lstStyle/>
                    <a:p>
                      <a:pPr indent="0" marL="0">
                        <a:buNone/>
                      </a:pPr>
                      <a:r>
                        <a:rPr lang="en-US" sz="1150" b="1" dirty="0">
                          <a:solidFill>
                            <a:schemeClr val="tx2"/>
                          </a:solidFill>
                        </a:rPr>
                        <a:t>Adoption faible par les agents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Outil perçu comme un contrôle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Interface minimale, formation, relais, bénéfice visible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66928">
                <a:tc>
                  <a:txBody>
                    <a:bodyPr/>
                    <a:lstStyle/>
                    <a:p>
                      <a:pPr indent="0" marL="0">
                        <a:buNone/>
                      </a:pPr>
                      <a:r>
                        <a:rPr lang="en-US" sz="1150" b="1" dirty="0">
                          <a:solidFill>
                            <a:schemeClr val="tx2"/>
                          </a:solidFill>
                        </a:rPr>
                        <a:t>Données de départ incomplètes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Inventaire inexistant ou dispersé</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Inventaire progressif, priorité aux ouvrages critiques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566928">
                <a:tc>
                  <a:txBody>
                    <a:bodyPr/>
                    <a:lstStyle/>
                    <a:p>
                      <a:pPr indent="0" marL="0">
                        <a:buNone/>
                      </a:pPr>
                      <a:r>
                        <a:rPr lang="en-US" sz="1150" b="1" dirty="0">
                          <a:solidFill>
                            <a:schemeClr val="tx2"/>
                          </a:solidFill>
                        </a:rPr>
                        <a:t>Plaques arrachées ou illisibles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Vandalisme, usure, intempéries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Plaque durable, numéro gravé, position GPS en secours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66928">
                <a:tc>
                  <a:txBody>
                    <a:bodyPr/>
                    <a:lstStyle/>
                    <a:p>
                      <a:pPr indent="0" marL="0">
                        <a:buNone/>
                      </a:pPr>
                      <a:r>
                        <a:rPr lang="en-US" sz="1150" b="1" dirty="0">
                          <a:solidFill>
                            <a:schemeClr val="tx2"/>
                          </a:solidFill>
                        </a:rPr>
                        <a:t>Absence de réseau</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Zones non couvertes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Mode hors connexion, SMS, appel</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r h="566928">
                <a:tc>
                  <a:txBody>
                    <a:bodyPr/>
                    <a:lstStyle/>
                    <a:p>
                      <a:pPr indent="0" marL="0">
                        <a:buNone/>
                      </a:pPr>
                      <a:r>
                        <a:rPr lang="en-US" sz="1150" b="1" dirty="0">
                          <a:solidFill>
                            <a:schemeClr val="tx2"/>
                          </a:solidFill>
                        </a:rPr>
                        <a:t>Dépendance à un fournisseur</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Données enfermées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Formats ouverts, export, données propriété de l'État</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r>
              <a:tr h="566928">
                <a:tc>
                  <a:txBody>
                    <a:bodyPr/>
                    <a:lstStyle/>
                    <a:p>
                      <a:pPr indent="0" marL="0">
                        <a:buNone/>
                      </a:pPr>
                      <a:r>
                        <a:rPr lang="en-US" sz="1150" b="1" dirty="0">
                          <a:solidFill>
                            <a:schemeClr val="tx2"/>
                          </a:solidFill>
                        </a:rPr>
                        <a:t>Financement du registre</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Coût récurrent d'exploitation</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Adosser au budget d'entretien, mesurer les économies</a:t>
                      </a:r>
                      <a:endParaRPr lang="en-US" sz="1150" dirty="0"/>
                    </a:p>
                  </a:txBody>
                  <a:tcPr marL="91440" marR="9144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6108192"/>
            <a:ext cx="10424160" cy="256032"/>
          </a:xfrm>
          <a:prstGeom prst="rect">
            <a:avLst/>
          </a:prstGeom>
          <a:noFill/>
          <a:ln/>
        </p:spPr>
        <p:txBody>
          <a:bodyPr wrap="square" lIns="0" tIns="0" rIns="0" bIns="0" rtlCol="0" anchor="ctr"/>
          <a:lstStyle/>
          <a:p>
            <a:pPr indent="0" marL="0">
              <a:buNone/>
            </a:pPr>
            <a:r>
              <a:rPr lang="en-US" sz="1000" dirty="0">
                <a:solidFill>
                  <a:schemeClr val="accent5"/>
                </a:solidFill>
              </a:rPr>
              <a:t>Analyse de risques : conception de l'auteur.</a:t>
            </a:r>
            <a:endParaRPr lang="en-US" sz="1000" dirty="0"/>
          </a:p>
        </p:txBody>
      </p:sp>
      <p:sp>
        <p:nvSpPr>
          <p:cNvPr id="9999" name="Slide Number Placeholder 0"/>
          <p:cNvSpPr>
            <a:spLocks noGrp="1"/>
          </p:cNvSpPr>
          <p:nvPr>
            <p:ph type="sldNum" sz="quarter" idx="4294967295"/>
          </p:nvPr>
        </p:nvSpPr>
        <p:spPr>
          <a:xfrm>
            <a:off x="11292840" y="6291072"/>
            <a:ext cx="502920" cy="5029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53970"/>
                </a:solidFill>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1371600" y="2743200"/>
            <a:ext cx="9445752" cy="1554480"/>
          </a:xfrm>
          <a:prstGeom prst="rect">
            <a:avLst/>
          </a:prstGeom>
          <a:noFill/>
          <a:ln/>
        </p:spPr>
        <p:txBody>
          <a:bodyPr wrap="square" lIns="0" tIns="0" rIns="0" bIns="0" rtlCol="0" anchor="t"/>
          <a:lstStyle/>
          <a:p>
            <a:pPr algn="ctr" indent="0" marL="0">
              <a:buNone/>
            </a:pPr>
            <a:r>
              <a:rPr lang="en-US" sz="3600" b="1" dirty="0">
                <a:solidFill>
                  <a:schemeClr val="accent2"/>
                </a:solidFill>
              </a:rPr>
              <a:t>CHAQUE OUVRAGE</a:t>
            </a:r>
            <a:endParaRPr lang="en-US" sz="3600" dirty="0"/>
          </a:p>
          <a:p>
            <a:pPr algn="ctr" indent="0" marL="0">
              <a:buNone/>
            </a:pPr>
            <a:r>
              <a:rPr lang="en-US" sz="3600" b="1" dirty="0">
                <a:solidFill>
                  <a:schemeClr val="bg1"/>
                </a:solidFill>
              </a:rPr>
              <a:t>A UNE HISTOIRE</a:t>
            </a:r>
            <a:endParaRPr lang="en-US" sz="3600" dirty="0"/>
          </a:p>
        </p:txBody>
      </p:sp>
      <p:sp>
        <p:nvSpPr>
          <p:cNvPr id="3" name="Text 1"/>
          <p:cNvSpPr txBox="1"/>
          <p:nvPr/>
        </p:nvSpPr>
        <p:spPr>
          <a:xfrm>
            <a:off x="1371600" y="4663440"/>
            <a:ext cx="9445752" cy="365760"/>
          </a:xfrm>
          <a:prstGeom prst="rect">
            <a:avLst/>
          </a:prstGeom>
          <a:noFill/>
          <a:ln/>
        </p:spPr>
        <p:txBody>
          <a:bodyPr wrap="square" lIns="0" tIns="0" rIns="0" bIns="0" rtlCol="0" anchor="ctr"/>
          <a:lstStyle/>
          <a:p>
            <a:pPr algn="ctr" indent="0" marL="0">
              <a:buNone/>
            </a:pPr>
            <a:r>
              <a:rPr lang="en-US" sz="1600" dirty="0">
                <a:solidFill>
                  <a:schemeClr val="accent3"/>
                </a:solidFill>
              </a:rPr>
              <a:t>Prochain document : la démonstration du prototype</a:t>
            </a:r>
            <a:endParaRPr lang="en-US" sz="1600" dirty="0"/>
          </a:p>
        </p:txBody>
      </p:sp>
      <p:sp>
        <p:nvSpPr>
          <p:cNvPr id="4" name="Text 2"/>
          <p:cNvSpPr txBox="1"/>
          <p:nvPr/>
        </p:nvSpPr>
        <p:spPr>
          <a:xfrm>
            <a:off x="1371600" y="5257800"/>
            <a:ext cx="9445752" cy="274320"/>
          </a:xfrm>
          <a:prstGeom prst="rect">
            <a:avLst/>
          </a:prstGeom>
          <a:noFill/>
          <a:ln/>
        </p:spPr>
        <p:txBody>
          <a:bodyPr wrap="square" lIns="0" tIns="0" rIns="0" bIns="0" rtlCol="0" anchor="ctr"/>
          <a:lstStyle/>
          <a:p>
            <a:pPr algn="ctr" indent="0" marL="0">
              <a:buNone/>
            </a:pPr>
            <a:r>
              <a:rPr lang="en-US" sz="1100" b="1" spc="200" kern="0" dirty="0">
                <a:solidFill>
                  <a:schemeClr val="bg1"/>
                </a:solidFill>
              </a:rPr>
              <a:t>ESPOIR ADOUWEKONOU  ·  INGÉNIEUR INDUSTRIE 4.0 ET PLM</a:t>
            </a:r>
            <a:endParaRPr lang="en-US" sz="1100" dirty="0"/>
          </a:p>
        </p:txBody>
      </p:sp>
    </p:spTree>
  </p:cSld>
  <p:clrMapOvr>
    <a:masterClrMapping/>
  </p:clrMapOvr>
</p:sld>
</file>

<file path=ppt/theme/theme1.xml><?xml version="1.0" encoding="utf-8"?>
<a:theme xmlns:a="http://schemas.openxmlformats.org/drawingml/2006/main" name="Contribution programme 2026-2033">
  <a:themeElements>
    <a:clrScheme name="Contribution programme 2026-2033">
      <a:dk1>
        <a:srgbClr val="1E2433"/>
      </a:dk1>
      <a:lt1>
        <a:srgbClr val="FFFFFF"/>
      </a:lt1>
      <a:dk2>
        <a:srgbClr val="253970"/>
      </a:dk2>
      <a:lt2>
        <a:srgbClr val="E3E6F5"/>
      </a:lt2>
      <a:accent1>
        <a:srgbClr val="496DBE"/>
      </a:accent1>
      <a:accent2>
        <a:srgbClr val="F2B134"/>
      </a:accent2>
      <a:accent3>
        <a:srgbClr val="C7DDED"/>
      </a:accent3>
      <a:accent4>
        <a:srgbClr val="ECE2CE"/>
      </a:accent4>
      <a:accent5>
        <a:srgbClr val="5D6683"/>
      </a:accent5>
      <a:accent6>
        <a:srgbClr val="8E9CCB"/>
      </a:accent6>
      <a:hlink>
        <a:srgbClr val="496DBE"/>
      </a:hlink>
      <a:folHlink>
        <a:srgbClr val="253970"/>
      </a:folHlink>
    </a:clrScheme>
    <a:fontScheme name="Contribution programme 2026-2033">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Registre du cycle de vie - la solution en détail</dc:title>
  <dc:subject>PptxGenJS Presentation</dc:subject>
  <dc:creator>Espoir Adouwekonou</dc:creator>
  <cp:lastModifiedBy>Espoir Adouwekonou</cp:lastModifiedBy>
  <cp:revision>1</cp:revision>
  <dcterms:created xsi:type="dcterms:W3CDTF">2026-10-05T14:29:21Z</dcterms:created>
  <dcterms:modified xsi:type="dcterms:W3CDTF">2026-10-05T14:29:21Z</dcterms:modified>
</cp:coreProperties>
</file>