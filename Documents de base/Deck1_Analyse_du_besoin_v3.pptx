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b77382b-d5c5-cc7a-6755-c21d480d050c}">
          <p14:sldIdLst>
            <p14:sldId id="256"/>
            <p14:sldId id="257"/>
          </p14:sldIdLst>
        </p14:section>
        <p14:section name="Lecture du programme" id="{a8741d8d-1a30-1f15-ef87-c71a450ceb70}">
          <p14:sldIdLst>
            <p14:sldId id="258"/>
            <p14:sldId id="259"/>
            <p14:sldId id="260"/>
          </p14:sldIdLst>
        </p14:section>
        <p14:section name="Analyse du besoin" id="{7036865f-d2a5-cda7-58ea-5caf02890aef}">
          <p14:sldIdLst>
            <p14:sldId id="261"/>
            <p14:sldId id="262"/>
            <p14:sldId id="263"/>
          </p14:sldIdLst>
        </p14:section>
        <p14:section name="Ancrage et axe" id="{b2744325-7bd6-c582-0993-6e620842f578}">
          <p14:sldIdLst>
            <p14:sldId id="264"/>
            <p14:sldId id="265"/>
            <p14:sldId id="266"/>
            <p14:sldId id="267"/>
          </p14:sldIdLst>
        </p14:section>
        <p14:section name="Suite" id="{96a6b7b7-5af1-1a61-b07f-e6165c0f9eb9}">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indépendant, rédigé à partir du programme présidentiel 2026-2033. Ce deck montre que le besoin a été analysé dans le texte du programme avant toute proposition de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centrale : après dix ans de construction, la question change. Il ne s'agit plus seulement de bâtir mais d'entretenir, de suivre et de rendre compte. Rappeler que le PAG n'est pas encore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2016-2026 : croissance nationale et fondamentaux. Dès maintenant : développement des territoires via 6 pôles, chacun avec un socle commun (infrastructures digitales et physiques, capital humain, PME locales, incitations) et une agence régionale qui suit l'exécution (p.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tirés des sections « chemin parcouru » du programme : routes p. 6, salles de classe p. 16, eau p. 20, stades p. 24, éclairage p. 32. Le but : montrer l'ampleur de ce qu'il faut maintenant faire durer.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Ouvrages annoncés dans les « nouveaux projets » : 314 systèmes d'eau multivillages (p. 21), un espace sportif par arrondissement, soit 546 (p. 25), une base d'appui artisanat par commune d'ici 2033, soit 77 communes (p. 41 et 56), 1 000 quartiers et villages à rénover (p. 23). Le programme annonce aussi 100 MW supplémentaires tous les deux ans (p. 33) : non retenu ici car hors périmètre du registre. La lecture « chaque ouvrage est à entretenir » est notre analyse, pas une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Colonne « Le programme annonce » : paraphrase fidèle du texte, avec la page. Colonne « Notre lecture » : les questions que le texte laisse ouvertes, formulées par nous. Limite à dire à l'oral : nous n'avons lu que le programme présidentiel ; des détails opérationnels peuvent figurer dans le PAG 2026-2033, pas encore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transversale. Pour chaque besoin (notre lecture), un dispositif que le programme prévoit déjà : cadastre numérique (p. 23), maintenance préventive (p. 25 et 41), retours usagers (p. 47), suivi de performance des communes (p.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crée une entité de pilotage nationale, des agences régionales dans chaque pôle (p. 9) et un suivi de performance des communes (p. 56). Ces niveaux ont besoin d'une donnée de terrain fiable : c'est la place du registre.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leviers sont ceux de la page 64. Les écoles de métiers sont citées p. 17. La colonne « Notre ancrage » est ce que la solution apporte à chaque levier.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prévoit un label national des solutions technologiques, délivré sur critères : développement sur le territoire, données locales, adaptation au contexte béninois, équipes béninoises. Il ouvre l'accès à la commande publique prioritaire, aux fonds d'amorçage et à la visibilité internationale (p. 65). Nous visons ces critères, nous ne prétendons pas les avoir déjà obtenus.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L'axe : faire durer et piloter les ouvrages du programme. Il touche la priorité 1 (eau, cadre de vie, sports), la priorité 2 (énergie, infrastructures, artisanat, industrie) et la priorité 3 (administration, décentralisation, participation citoyenne). La technologie est le levier transversal.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 indicateurs et objectifs déjà fixés par le programme. À droite : indicateurs que nous proposons d'ajouter, clairement signalés comme proposés. Aucun résultat chiffré n'est revendiqué à ce stade.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documents se suivent : analyse du besoin (ce document), solution détaillée, démonstration du prototype. Le pilote proposé est volontairement petit : une commune, un type d'équipement, 90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1.png"/><Relationship Id="rId3" Type="http://schemas.openxmlformats.org/officeDocument/2006/relationships/image" Target="../media/image-1003-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Shape 1"/>
          <p:cNvSpPr/>
          <p:nvPr/>
        </p:nvSpPr>
        <p:spPr>
          <a:xfrm>
            <a:off x="0" y="5212080"/>
            <a:ext cx="12191695" cy="1645920"/>
          </a:xfrm>
          <a:prstGeom prst="rect">
            <a:avLst/>
          </a:prstGeom>
          <a:solidFill>
            <a:schemeClr val="bg1"/>
          </a:solidFill>
          <a:ln/>
        </p:spPr>
      </p:sp>
      <p:pic>
        <p:nvPicPr>
          <p:cNvPr id="4" name="Image 0" descr="Rendu 3D d'une commune avec ses ouvrages publics">    </p:cNvPr>
          <p:cNvPicPr>
            <a:picLocks noChangeAspect="1"/>
          </p:cNvPicPr>
          <p:nvPr/>
        </p:nvPicPr>
        <p:blipFill>
          <a:blip r:embed="rId1"/>
          <a:stretch>
            <a:fillRect/>
          </a:stretch>
        </p:blipFill>
        <p:spPr>
          <a:xfrm>
            <a:off x="5669280" y="0"/>
            <a:ext cx="6522415" cy="5212080"/>
          </a:xfrm>
          <a:prstGeom prst="rect">
            <a:avLst/>
          </a:prstGeom>
        </p:spPr>
      </p:pic>
      <p:pic>
        <p:nvPicPr>
          <p:cNvPr id="5" name="Image 1" descr="/home/claude/work/assets/sun_gold.png">    </p:cNvPr>
          <p:cNvPicPr>
            <a:picLocks noChangeAspect="1"/>
          </p:cNvPicPr>
          <p:nvPr/>
        </p:nvPicPr>
        <p:blipFill>
          <a:blip r:embed="rId2"/>
          <a:stretch>
            <a:fillRect/>
          </a:stretch>
        </p:blipFill>
        <p:spPr>
          <a:xfrm>
            <a:off x="685800" y="502920"/>
            <a:ext cx="1005840" cy="1005840"/>
          </a:xfrm>
          <a:prstGeom prst="rect">
            <a:avLst/>
          </a:prstGeom>
        </p:spPr>
      </p:pic>
      <p:sp>
        <p:nvSpPr>
          <p:cNvPr id="6" name="Text 2"/>
          <p:cNvSpPr/>
          <p:nvPr>
            <p:ph idx="104" type="title" hasCustomPrompt="1"/>
          </p:nvPr>
        </p:nvSpPr>
        <p:spPr>
          <a:xfrm>
            <a:off x="685800" y="1783080"/>
            <a:ext cx="5120640" cy="1188720"/>
          </a:xfrm>
          <a:prstGeom prst="rect">
            <a:avLst/>
          </a:prstGeom>
          <a:noFill/>
          <a:ln/>
        </p:spPr>
        <p:txBody>
          <a:bodyPr wrap="square" rtlCol="0"/>
          <a:lstStyle>
            <a:lvl1pPr algn="l" indent="0" marL="0">
              <a:buNone/>
              <a:defRPr lang="en-US" sz="3200" b="1" dirty="0">
                <a:solidFill>
                  <a:schemeClr val="accent2"/>
                </a:solidFill>
              </a:defRPr>
            </a:lvl1pPr>
          </a:lstStyle>
          <a:p>
            <a:pPr algn="l" indent="0" marL="0">
              <a:buNone/>
            </a:pPr>
            <a:r>
              <a:rPr lang="en-US" sz="3200" b="1" dirty="0">
                <a:solidFill>
                  <a:schemeClr val="accent2"/>
                </a:solidFill>
              </a:rPr>
              <a:t>Titre</a:t>
            </a: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HESIS">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1"/>
          </a:solidFill>
          <a:ln/>
        </p:spPr>
      </p:sp>
      <p:pic>
        <p:nvPicPr>
          <p:cNvPr id="3" name="Image 0" descr="/home/claude/work/assets/sun_grey.png">    </p:cNvPr>
          <p:cNvPicPr>
            <a:picLocks noChangeAspect="1"/>
          </p:cNvPicPr>
          <p:nvPr/>
        </p:nvPicPr>
        <p:blipFill>
          <a:blip r:embed="rId1">
            <a:alphaModFix amt="65000"/>
          </a:blip>
          <a:stretch>
            <a:fillRect/>
          </a:stretch>
        </p:blipFill>
        <p:spPr>
          <a:xfrm>
            <a:off x="9784080" y="-822960"/>
            <a:ext cx="3108960" cy="3108960"/>
          </a:xfrm>
          <a:prstGeom prst="rect">
            <a:avLst/>
          </a:prstGeom>
        </p:spPr>
      </p:pic>
      <p:pic>
        <p:nvPicPr>
          <p:cNvPr id="4" name="Image 1" descr="/home/claude/work/assets/sun_grey.png">    </p:cNvPr>
          <p:cNvPicPr>
            <a:picLocks noChangeAspect="1"/>
          </p:cNvPicPr>
          <p:nvPr/>
        </p:nvPicPr>
        <p:blipFill>
          <a:blip r:embed="rId2">
            <a:alphaModFix amt="65000"/>
          </a:blip>
          <a:stretch>
            <a:fillRect/>
          </a:stretch>
        </p:blipFill>
        <p:spPr>
          <a:xfrm>
            <a:off x="9784080" y="1554480"/>
            <a:ext cx="3108960" cy="3108960"/>
          </a:xfrm>
          <a:prstGeom prst="rect">
            <a:avLst/>
          </a:prstGeom>
        </p:spPr>
      </p:pic>
      <p:pic>
        <p:nvPicPr>
          <p:cNvPr id="5" name="Image 2" descr="/home/claude/work/assets/sun_grey.png">    </p:cNvPr>
          <p:cNvPicPr>
            <a:picLocks noChangeAspect="1"/>
          </p:cNvPicPr>
          <p:nvPr/>
        </p:nvPicPr>
        <p:blipFill>
          <a:blip r:embed="rId3">
            <a:alphaModFix amt="65000"/>
          </a:blip>
          <a:stretch>
            <a:fillRect/>
          </a:stretch>
        </p:blipFill>
        <p:spPr>
          <a:xfrm>
            <a:off x="9784080" y="3931920"/>
            <a:ext cx="3108960" cy="3108960"/>
          </a:xfrm>
          <a:prstGeom prst="rect">
            <a:avLst/>
          </a:prstGeom>
        </p:spPr>
      </p:pic>
      <p:sp>
        <p:nvSpPr>
          <p:cNvPr id="6" name="Text 1"/>
          <p:cNvSpPr txBox="1"/>
          <p:nvPr/>
        </p:nvSpPr>
        <p:spPr>
          <a:xfrm>
            <a:off x="640080" y="2011680"/>
            <a:ext cx="914400" cy="1188720"/>
          </a:xfrm>
          <a:prstGeom prst="rect">
            <a:avLst/>
          </a:prstGeom>
          <a:noFill/>
          <a:ln/>
        </p:spPr>
        <p:txBody>
          <a:bodyPr wrap="square" lIns="0" tIns="0" rIns="0" bIns="0" rtlCol="0" anchor="ctr"/>
          <a:lstStyle/>
          <a:p>
            <a:pPr indent="0" marL="0">
              <a:buNone/>
            </a:pPr>
            <a:r>
              <a:rPr lang="en-US" sz="9600" b="1" dirty="0">
                <a:solidFill>
                  <a:schemeClr val="accent2"/>
                </a:solidFill>
                <a:latin typeface="Rockwell" pitchFamily="34" charset="0"/>
                <a:ea typeface="Rockwell" pitchFamily="34" charset="-122"/>
                <a:cs typeface="Rockwell" pitchFamily="34" charset="-120"/>
              </a:rPr>
              <a:t>“</a:t>
            </a:r>
            <a:endParaRPr lang="en-US" sz="9600" dirty="0"/>
          </a:p>
        </p:txBody>
      </p:sp>
      <p:sp>
        <p:nvSpPr>
          <p:cNvPr id="7" name="Text 2"/>
          <p:cNvSpPr/>
          <p:nvPr>
            <p:ph idx="105" type="title" hasCustomPrompt="1"/>
          </p:nvPr>
        </p:nvSpPr>
        <p:spPr>
          <a:xfrm>
            <a:off x="1554480" y="2286000"/>
            <a:ext cx="7680960" cy="2468880"/>
          </a:xfrm>
          <a:prstGeom prst="rect">
            <a:avLst/>
          </a:prstGeom>
          <a:noFill/>
          <a:ln/>
        </p:spPr>
        <p:txBody>
          <a:bodyPr wrap="square" rtlCol="0"/>
          <a:lstStyle>
            <a:lvl1pPr algn="l" indent="0" marL="0">
              <a:buNone/>
              <a:defRPr lang="en-US" sz="3200" dirty="0">
                <a:solidFill>
                  <a:schemeClr val="bg1"/>
                </a:solidFill>
                <a:latin typeface="Rockwell" pitchFamily="34" charset="0"/>
                <a:ea typeface="Rockwell" pitchFamily="34" charset="-122"/>
                <a:cs typeface="Rockwell" pitchFamily="34" charset="-120"/>
              </a:defRPr>
            </a:lvl1pPr>
          </a:lstStyle>
          <a:p>
            <a:pPr algn="l" indent="0" marL="0">
              <a:buNone/>
            </a:pPr>
            <a:r>
              <a:rPr lang="en-US" sz="3200" dirty="0">
                <a:solidFill>
                  <a:schemeClr val="bg1"/>
                </a:solidFill>
                <a:latin typeface="Rockwell" pitchFamily="34" charset="0"/>
                <a:ea typeface="Rockwell" pitchFamily="34" charset="-122"/>
                <a:cs typeface="Rockwell" pitchFamily="34" charset="-120"/>
              </a:rPr>
              <a:t>Citation</a:t>
            </a: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chemeClr val="accent1"/>
          </a:solidFill>
          <a:ln/>
        </p:spPr>
      </p:sp>
      <p:sp>
        <p:nvSpPr>
          <p:cNvPr id="3" name="Text 1"/>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Contribution au programme 2026-2033  ·  Espoir Adouwekonou</a:t>
            </a:r>
            <a:endParaRPr lang="en-US" sz="1000" dirty="0"/>
          </a:p>
        </p:txBody>
      </p:sp>
      <p:pic>
        <p:nvPicPr>
          <p:cNvPr id="4" name="Image 0" descr="/home/claude/work/assets/sun_gold.png">    </p:cNvPr>
          <p:cNvPicPr>
            <a:picLocks noChangeAspect="1"/>
          </p:cNvPicPr>
          <p:nvPr/>
        </p:nvPicPr>
        <p:blipFill>
          <a:blip r:embed="rId1"/>
          <a:stretch>
            <a:fillRect/>
          </a:stretch>
        </p:blipFill>
        <p:spPr>
          <a:xfrm>
            <a:off x="11292840" y="6291072"/>
            <a:ext cx="502920" cy="502920"/>
          </a:xfrm>
          <a:prstGeom prst="rect">
            <a:avLst/>
          </a:prstGeom>
        </p:spPr>
      </p:pic>
      <p:sp>
        <p:nvSpPr>
          <p:cNvPr id="5" name="Text 2"/>
          <p:cNvSpPr/>
          <p:nvPr>
            <p:ph idx="103" type="title" hasCustomPrompt="1"/>
          </p:nvPr>
        </p:nvSpPr>
        <p:spPr>
          <a:xfrm>
            <a:off x="548640" y="960120"/>
            <a:ext cx="11091672"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Titre</a:t>
            </a:r>
            <a:endParaRPr lang="en-US" sz="2800" dirty="0"/>
          </a:p>
        </p:txBody>
      </p:sp>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pic>
        <p:nvPicPr>
          <p:cNvPr id="3" name="Image 0" descr="/home/claude/work/assets/sun_gold.png">    </p:cNvPr>
          <p:cNvPicPr>
            <a:picLocks noChangeAspect="1"/>
          </p:cNvPicPr>
          <p:nvPr/>
        </p:nvPicPr>
        <p:blipFill>
          <a:blip r:embed="rId1"/>
          <a:stretch>
            <a:fillRect/>
          </a:stretch>
        </p:blipFill>
        <p:spPr>
          <a:xfrm>
            <a:off x="5394960" y="822960"/>
            <a:ext cx="1417320" cy="1417320"/>
          </a:xfrm>
          <a:prstGeom prst="rect">
            <a:avLst/>
          </a:prstGeom>
        </p:spPr>
      </p:pic>
      <p:sp>
        <p:nvSpPr>
          <p:cNvPr id="4" name="Text 1"/>
          <p:cNvSpPr/>
          <p:nvPr>
            <p:ph idx="102" type="title" hasCustomPrompt="1"/>
          </p:nvPr>
        </p:nvSpPr>
        <p:spPr>
          <a:xfrm>
            <a:off x="1371600" y="2743200"/>
            <a:ext cx="9445752" cy="1554480"/>
          </a:xfrm>
          <a:prstGeom prst="rect">
            <a:avLst/>
          </a:prstGeom>
          <a:noFill/>
          <a:ln/>
        </p:spPr>
        <p:txBody>
          <a:bodyPr wrap="square" rtlCol="0"/>
          <a:lstStyle>
            <a:lvl1pPr algn="ctr" indent="0" marL="0">
              <a:buNone/>
              <a:defRPr lang="en-US" sz="3600" b="1" dirty="0">
                <a:solidFill>
                  <a:schemeClr val="accent2"/>
                </a:solidFill>
              </a:defRPr>
            </a:lvl1pPr>
          </a:lstStyle>
          <a:p>
            <a:pPr algn="ctr" indent="0" marL="0">
              <a:buNone/>
            </a:pPr>
            <a:r>
              <a:rPr lang="en-US" sz="3600" b="1" dirty="0">
                <a:solidFill>
                  <a:schemeClr val="accent2"/>
                </a:solidFill>
              </a:rPr>
              <a:t>Titre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4.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685800" y="1783080"/>
            <a:ext cx="5120640" cy="1188720"/>
          </a:xfrm>
          <a:prstGeom prst="rect">
            <a:avLst/>
          </a:prstGeom>
          <a:noFill/>
          <a:ln/>
        </p:spPr>
        <p:txBody>
          <a:bodyPr wrap="square" lIns="0" tIns="0" rIns="0" bIns="0" rtlCol="0" anchor="t"/>
          <a:lstStyle/>
          <a:p>
            <a:pPr algn="l" indent="0" marL="0">
              <a:buNone/>
            </a:pPr>
            <a:r>
              <a:rPr lang="en-US" sz="3200" b="1" dirty="0">
                <a:solidFill>
                  <a:schemeClr val="accent2"/>
                </a:solidFill>
              </a:rPr>
              <a:t>FAIRE DURER</a:t>
            </a:r>
            <a:endParaRPr lang="en-US" sz="3200" dirty="0"/>
          </a:p>
          <a:p>
            <a:pPr algn="l" indent="0" marL="0">
              <a:buNone/>
            </a:pPr>
            <a:r>
              <a:rPr lang="en-US" sz="3200" b="1" dirty="0">
                <a:solidFill>
                  <a:schemeClr val="bg1"/>
                </a:solidFill>
              </a:rPr>
              <a:t>CE QUI A ÉTÉ BÂTI</a:t>
            </a:r>
            <a:endParaRPr lang="en-US" sz="3200" dirty="0"/>
          </a:p>
        </p:txBody>
      </p:sp>
      <p:sp>
        <p:nvSpPr>
          <p:cNvPr id="3" name="Text 1"/>
          <p:cNvSpPr txBox="1"/>
          <p:nvPr/>
        </p:nvSpPr>
        <p:spPr>
          <a:xfrm>
            <a:off x="685800" y="3154680"/>
            <a:ext cx="4572000" cy="320040"/>
          </a:xfrm>
          <a:prstGeom prst="rect">
            <a:avLst/>
          </a:prstGeom>
          <a:noFill/>
          <a:ln/>
        </p:spPr>
        <p:txBody>
          <a:bodyPr wrap="square" lIns="0" tIns="0" rIns="0" bIns="0" rtlCol="0" anchor="ctr"/>
          <a:lstStyle/>
          <a:p>
            <a:pPr indent="0" marL="0">
              <a:buNone/>
            </a:pPr>
            <a:r>
              <a:rPr lang="en-US" sz="1100" b="1" spc="200" kern="0" dirty="0">
                <a:solidFill>
                  <a:schemeClr val="accent2"/>
                </a:solidFill>
              </a:rPr>
              <a:t>DOCUMENT 1 SUR 3  ·  ANALYSE DU BESOIN</a:t>
            </a:r>
            <a:endParaRPr lang="en-US" sz="1100" dirty="0"/>
          </a:p>
        </p:txBody>
      </p:sp>
      <p:sp>
        <p:nvSpPr>
          <p:cNvPr id="4" name="Text 2"/>
          <p:cNvSpPr txBox="1"/>
          <p:nvPr/>
        </p:nvSpPr>
        <p:spPr>
          <a:xfrm>
            <a:off x="685800" y="3566160"/>
            <a:ext cx="4480560" cy="1097280"/>
          </a:xfrm>
          <a:prstGeom prst="rect">
            <a:avLst/>
          </a:prstGeom>
          <a:noFill/>
          <a:ln/>
        </p:spPr>
        <p:txBody>
          <a:bodyPr wrap="square" lIns="0" tIns="0" rIns="0" bIns="0" rtlCol="0" anchor="t"/>
          <a:lstStyle/>
          <a:p>
            <a:pPr indent="0" marL="0">
              <a:buNone/>
            </a:pPr>
            <a:r>
              <a:rPr lang="en-US" sz="2000" dirty="0">
                <a:solidFill>
                  <a:schemeClr val="bg1"/>
                </a:solidFill>
              </a:rPr>
              <a:t>Lecture du programme 2026-2033 et axe de contribution</a:t>
            </a:r>
            <a:endParaRPr lang="en-US" sz="2000" dirty="0"/>
          </a:p>
        </p:txBody>
      </p:sp>
      <p:sp>
        <p:nvSpPr>
          <p:cNvPr id="5" name="Text 3"/>
          <p:cNvSpPr txBox="1"/>
          <p:nvPr/>
        </p:nvSpPr>
        <p:spPr>
          <a:xfrm>
            <a:off x="685800" y="5440680"/>
            <a:ext cx="10789920" cy="548640"/>
          </a:xfrm>
          <a:prstGeom prst="rect">
            <a:avLst/>
          </a:prstGeom>
          <a:noFill/>
          <a:ln/>
        </p:spPr>
        <p:txBody>
          <a:bodyPr wrap="square" lIns="0" tIns="0" rIns="0" bIns="0" rtlCol="0" anchor="ctr"/>
          <a:lstStyle/>
          <a:p>
            <a:pPr indent="0" marL="0">
              <a:buNone/>
            </a:pPr>
            <a:r>
              <a:rPr lang="en-US" sz="2400" b="1" dirty="0">
                <a:solidFill>
                  <a:schemeClr val="accent1"/>
                </a:solidFill>
              </a:rPr>
              <a:t>Registre du cycle de vie des équipements publics</a:t>
            </a:r>
            <a:endParaRPr lang="en-US" sz="2400" dirty="0"/>
          </a:p>
        </p:txBody>
      </p:sp>
      <p:sp>
        <p:nvSpPr>
          <p:cNvPr id="6" name="Text 4"/>
          <p:cNvSpPr txBox="1"/>
          <p:nvPr/>
        </p:nvSpPr>
        <p:spPr>
          <a:xfrm>
            <a:off x="685800" y="6172200"/>
            <a:ext cx="1078992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ESPOIR ADOUWEKONOU  ·  INGÉNIEUR INDUSTRIE 4.0 ET PLM  ·  OCTOBRE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554480" y="1691640"/>
            <a:ext cx="54864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NOTRE FIL CONDUCTEUR</a:t>
            </a:r>
            <a:endParaRPr lang="en-US" sz="1200" dirty="0"/>
          </a:p>
        </p:txBody>
      </p:sp>
      <p:sp>
        <p:nvSpPr>
          <p:cNvPr id="3" name="Text 2"/>
          <p:cNvSpPr/>
          <p:nvPr>
            <p:ph idx="105" type="title" hasCustomPrompt="1"/>
          </p:nvPr>
        </p:nvSpPr>
        <p:spPr>
          <a:xfrm>
            <a:off x="1554480" y="2286000"/>
            <a:ext cx="7680960" cy="2468880"/>
          </a:xfrm>
          <a:prstGeom prst="rect">
            <a:avLst/>
          </a:prstGeom>
          <a:noFill/>
          <a:ln/>
        </p:spPr>
        <p:txBody>
          <a:bodyPr wrap="square" lIns="0" tIns="0" rIns="0" bIns="0" rtlCol="0" anchor="t"/>
          <a:lstStyle/>
          <a:p>
            <a:pPr algn="l" indent="0" marL="0">
              <a:buNone/>
            </a:pPr>
            <a:r>
              <a:rPr lang="en-US" sz="3200" dirty="0">
                <a:solidFill>
                  <a:schemeClr val="bg1"/>
                </a:solidFill>
                <a:latin typeface="Rockwell" pitchFamily="34" charset="0"/>
                <a:ea typeface="Rockwell" pitchFamily="34" charset="-122"/>
                <a:cs typeface="Rockwell" pitchFamily="34" charset="-120"/>
              </a:rPr>
              <a:t>Un pays qui a tant construit doit maintenant faire durer ses ouvrages.</a:t>
            </a:r>
            <a:endParaRPr lang="en-US" sz="3200" dirty="0"/>
          </a:p>
        </p:txBody>
      </p:sp>
      <p:sp>
        <p:nvSpPr>
          <p:cNvPr id="4" name="Text 2"/>
          <p:cNvSpPr txBox="1"/>
          <p:nvPr/>
        </p:nvSpPr>
        <p:spPr>
          <a:xfrm>
            <a:off x="1554480" y="5074920"/>
            <a:ext cx="7680960" cy="822960"/>
          </a:xfrm>
          <a:prstGeom prst="rect">
            <a:avLst/>
          </a:prstGeom>
          <a:noFill/>
          <a:ln/>
        </p:spPr>
        <p:txBody>
          <a:bodyPr wrap="square" lIns="0" tIns="0" rIns="0" bIns="0" rtlCol="0" anchor="t"/>
          <a:lstStyle/>
          <a:p>
            <a:pPr indent="0" marL="0">
              <a:buNone/>
            </a:pPr>
            <a:r>
              <a:rPr lang="en-US" sz="1200" dirty="0">
                <a:solidFill>
                  <a:schemeClr val="bg1"/>
                </a:solidFill>
              </a:rPr>
              <a:t>Analyse fondée sur le programme « Plus loin, ensemble » 2026-2033. Le PAG 2026-2033 était annoncé pour septembre 2026 ; il n'est pas encore publié. Ce document sera actualisé à sa parution.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LECTURE DU PROGRAMME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programme change d'échelle : du pays vers les territoires</a:t>
            </a:r>
            <a:endParaRPr lang="en-US" sz="2800" dirty="0"/>
          </a:p>
        </p:txBody>
      </p:sp>
      <p:sp>
        <p:nvSpPr>
          <p:cNvPr id="5" name="Carte 2016-2026"/>
          <p:cNvSpPr/>
          <p:nvPr/>
        </p:nvSpPr>
        <p:spPr>
          <a:xfrm>
            <a:off x="548640" y="2011680"/>
            <a:ext cx="4846320" cy="1783080"/>
          </a:xfrm>
          <a:prstGeom prst="roundRect">
            <a:avLst>
              <a:gd name="adj" fmla="val 6154"/>
            </a:avLst>
          </a:prstGeom>
          <a:solidFill>
            <a:schemeClr val="bg2"/>
          </a:solidFill>
          <a:ln/>
        </p:spPr>
      </p:sp>
      <p:sp>
        <p:nvSpPr>
          <p:cNvPr id="6" name="Text 3"/>
          <p:cNvSpPr txBox="1"/>
          <p:nvPr/>
        </p:nvSpPr>
        <p:spPr>
          <a:xfrm>
            <a:off x="822960" y="2176272"/>
            <a:ext cx="429768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2016-2026</a:t>
            </a:r>
            <a:endParaRPr lang="en-US" sz="1200" dirty="0"/>
          </a:p>
        </p:txBody>
      </p:sp>
      <p:sp>
        <p:nvSpPr>
          <p:cNvPr id="7" name="Text 4"/>
          <p:cNvSpPr txBox="1"/>
          <p:nvPr/>
        </p:nvSpPr>
        <p:spPr>
          <a:xfrm>
            <a:off x="822960" y="2487168"/>
            <a:ext cx="4297680" cy="685800"/>
          </a:xfrm>
          <a:prstGeom prst="rect">
            <a:avLst/>
          </a:prstGeom>
          <a:noFill/>
          <a:ln/>
        </p:spPr>
        <p:txBody>
          <a:bodyPr wrap="square" lIns="0" tIns="0" rIns="0" bIns="0" rtlCol="0" anchor="t"/>
          <a:lstStyle/>
          <a:p>
            <a:pPr indent="0" marL="0">
              <a:buNone/>
            </a:pPr>
            <a:r>
              <a:rPr lang="en-US" sz="2000" b="1" dirty="0">
                <a:solidFill>
                  <a:schemeClr val="tx2"/>
                </a:solidFill>
              </a:rPr>
              <a:t>Croissance nationale</a:t>
            </a:r>
            <a:endParaRPr lang="en-US" sz="2000" dirty="0"/>
          </a:p>
        </p:txBody>
      </p:sp>
      <p:sp>
        <p:nvSpPr>
          <p:cNvPr id="8" name="Text 5"/>
          <p:cNvSpPr txBox="1"/>
          <p:nvPr/>
        </p:nvSpPr>
        <p:spPr>
          <a:xfrm>
            <a:off x="822960" y="3200400"/>
            <a:ext cx="4297680" cy="502920"/>
          </a:xfrm>
          <a:prstGeom prst="rect">
            <a:avLst/>
          </a:prstGeom>
          <a:noFill/>
          <a:ln/>
        </p:spPr>
        <p:txBody>
          <a:bodyPr wrap="square" lIns="0" tIns="0" rIns="0" bIns="0" rtlCol="0" anchor="t"/>
          <a:lstStyle/>
          <a:p>
            <a:pPr indent="0" marL="0">
              <a:buNone/>
            </a:pPr>
            <a:r>
              <a:rPr lang="en-US" sz="1400" dirty="0">
                <a:solidFill>
                  <a:schemeClr val="tx1"/>
                </a:solidFill>
              </a:rPr>
              <a:t>Réformes, fondamentaux et conditions macroéconomiques favorables.</a:t>
            </a:r>
            <a:endParaRPr lang="en-US" sz="1400" dirty="0"/>
          </a:p>
        </p:txBody>
      </p:sp>
      <p:sp>
        <p:nvSpPr>
          <p:cNvPr id="9" name="Shape 6"/>
          <p:cNvSpPr/>
          <p:nvPr/>
        </p:nvSpPr>
        <p:spPr>
          <a:xfrm>
            <a:off x="5577840" y="2697480"/>
            <a:ext cx="777240" cy="502920"/>
          </a:xfrm>
          <a:prstGeom prst="rightArrow">
            <a:avLst/>
          </a:prstGeom>
          <a:solidFill>
            <a:schemeClr val="accent2"/>
          </a:solidFill>
          <a:ln/>
        </p:spPr>
      </p:sp>
      <p:sp>
        <p:nvSpPr>
          <p:cNvPr id="10" name="Carte dès maintenant"/>
          <p:cNvSpPr/>
          <p:nvPr/>
        </p:nvSpPr>
        <p:spPr>
          <a:xfrm>
            <a:off x="6537960" y="2011680"/>
            <a:ext cx="5102352" cy="1783080"/>
          </a:xfrm>
          <a:prstGeom prst="roundRect">
            <a:avLst>
              <a:gd name="adj" fmla="val 6154"/>
            </a:avLst>
          </a:prstGeom>
          <a:solidFill>
            <a:schemeClr val="accent1"/>
          </a:solidFill>
          <a:ln/>
        </p:spPr>
      </p:sp>
      <p:sp>
        <p:nvSpPr>
          <p:cNvPr id="11" name="Text 8"/>
          <p:cNvSpPr txBox="1"/>
          <p:nvPr/>
        </p:nvSpPr>
        <p:spPr>
          <a:xfrm>
            <a:off x="6812280" y="2176272"/>
            <a:ext cx="45720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DÈS MAINTENANT</a:t>
            </a:r>
            <a:endParaRPr lang="en-US" sz="1200" dirty="0"/>
          </a:p>
        </p:txBody>
      </p:sp>
      <p:sp>
        <p:nvSpPr>
          <p:cNvPr id="12" name="Text 9"/>
          <p:cNvSpPr txBox="1"/>
          <p:nvPr/>
        </p:nvSpPr>
        <p:spPr>
          <a:xfrm>
            <a:off x="6812280" y="2487168"/>
            <a:ext cx="4572000" cy="685800"/>
          </a:xfrm>
          <a:prstGeom prst="rect">
            <a:avLst/>
          </a:prstGeom>
          <a:noFill/>
          <a:ln/>
        </p:spPr>
        <p:txBody>
          <a:bodyPr wrap="square" lIns="0" tIns="0" rIns="0" bIns="0" rtlCol="0" anchor="t"/>
          <a:lstStyle/>
          <a:p>
            <a:pPr indent="0" marL="0">
              <a:buNone/>
            </a:pPr>
            <a:r>
              <a:rPr lang="en-US" sz="2000" b="1" dirty="0">
                <a:solidFill>
                  <a:schemeClr val="bg1"/>
                </a:solidFill>
              </a:rPr>
              <a:t>Développement des territoires</a:t>
            </a:r>
            <a:endParaRPr lang="en-US" sz="2000" dirty="0"/>
          </a:p>
        </p:txBody>
      </p:sp>
      <p:sp>
        <p:nvSpPr>
          <p:cNvPr id="13" name="Text 10"/>
          <p:cNvSpPr txBox="1"/>
          <p:nvPr/>
        </p:nvSpPr>
        <p:spPr>
          <a:xfrm>
            <a:off x="6812280" y="3200400"/>
            <a:ext cx="4572000" cy="502920"/>
          </a:xfrm>
          <a:prstGeom prst="rect">
            <a:avLst/>
          </a:prstGeom>
          <a:noFill/>
          <a:ln/>
        </p:spPr>
        <p:txBody>
          <a:bodyPr wrap="square" lIns="0" tIns="0" rIns="0" bIns="0" rtlCol="0" anchor="t"/>
          <a:lstStyle/>
          <a:p>
            <a:pPr indent="0" marL="0">
              <a:buNone/>
            </a:pPr>
            <a:r>
              <a:rPr lang="en-US" sz="1400" dirty="0">
                <a:solidFill>
                  <a:schemeClr val="bg1"/>
                </a:solidFill>
              </a:rPr>
              <a:t>Atouts propres à chaque territoire, retombées directes pour les populations.</a:t>
            </a:r>
            <a:endParaRPr lang="en-US" sz="1400" dirty="0"/>
          </a:p>
        </p:txBody>
      </p:sp>
      <p:sp>
        <p:nvSpPr>
          <p:cNvPr id="14" name="Text 11"/>
          <p:cNvSpPr txBox="1"/>
          <p:nvPr/>
        </p:nvSpPr>
        <p:spPr>
          <a:xfrm>
            <a:off x="548640" y="411480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6 PÔLES DE DÉVELOPPEMENT TERRITORIAL</a:t>
            </a:r>
            <a:endParaRPr lang="en-US" sz="1200" dirty="0"/>
          </a:p>
        </p:txBody>
      </p:sp>
      <p:sp>
        <p:nvSpPr>
          <p:cNvPr id="15" name="Pôle Atlantique / Littoral"/>
          <p:cNvSpPr/>
          <p:nvPr/>
        </p:nvSpPr>
        <p:spPr>
          <a:xfrm>
            <a:off x="548640" y="4480560"/>
            <a:ext cx="1773936" cy="731520"/>
          </a:xfrm>
          <a:prstGeom prst="roundRect">
            <a:avLst>
              <a:gd name="adj" fmla="val 15000"/>
            </a:avLst>
          </a:prstGeom>
          <a:solidFill>
            <a:schemeClr val="accent4"/>
          </a:solidFill>
          <a:ln/>
        </p:spPr>
      </p:sp>
      <p:sp>
        <p:nvSpPr>
          <p:cNvPr id="16" name="Text 13"/>
          <p:cNvSpPr txBox="1"/>
          <p:nvPr/>
        </p:nvSpPr>
        <p:spPr>
          <a:xfrm>
            <a:off x="640080"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Atlantique / Littoral</a:t>
            </a:r>
            <a:endParaRPr lang="en-US" sz="1300" dirty="0"/>
          </a:p>
        </p:txBody>
      </p:sp>
      <p:sp>
        <p:nvSpPr>
          <p:cNvPr id="17" name="Pôle Ouémé / Plateau"/>
          <p:cNvSpPr/>
          <p:nvPr/>
        </p:nvSpPr>
        <p:spPr>
          <a:xfrm>
            <a:off x="2410358" y="4480560"/>
            <a:ext cx="1773936" cy="731520"/>
          </a:xfrm>
          <a:prstGeom prst="roundRect">
            <a:avLst>
              <a:gd name="adj" fmla="val 15000"/>
            </a:avLst>
          </a:prstGeom>
          <a:solidFill>
            <a:schemeClr val="accent4"/>
          </a:solidFill>
          <a:ln/>
        </p:spPr>
      </p:sp>
      <p:sp>
        <p:nvSpPr>
          <p:cNvPr id="18" name="Text 15"/>
          <p:cNvSpPr txBox="1"/>
          <p:nvPr/>
        </p:nvSpPr>
        <p:spPr>
          <a:xfrm>
            <a:off x="2501798"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Ouémé / Plateau</a:t>
            </a:r>
            <a:endParaRPr lang="en-US" sz="1300" dirty="0"/>
          </a:p>
        </p:txBody>
      </p:sp>
      <p:sp>
        <p:nvSpPr>
          <p:cNvPr id="19" name="Pôle Zou / Collines"/>
          <p:cNvSpPr/>
          <p:nvPr/>
        </p:nvSpPr>
        <p:spPr>
          <a:xfrm>
            <a:off x="4272077" y="4480560"/>
            <a:ext cx="1773936" cy="731520"/>
          </a:xfrm>
          <a:prstGeom prst="roundRect">
            <a:avLst>
              <a:gd name="adj" fmla="val 15000"/>
            </a:avLst>
          </a:prstGeom>
          <a:solidFill>
            <a:schemeClr val="accent4"/>
          </a:solidFill>
          <a:ln/>
        </p:spPr>
      </p:sp>
      <p:sp>
        <p:nvSpPr>
          <p:cNvPr id="20" name="Text 17"/>
          <p:cNvSpPr txBox="1"/>
          <p:nvPr/>
        </p:nvSpPr>
        <p:spPr>
          <a:xfrm>
            <a:off x="4363517"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Zou / Collines</a:t>
            </a:r>
            <a:endParaRPr lang="en-US" sz="1300" dirty="0"/>
          </a:p>
        </p:txBody>
      </p:sp>
      <p:sp>
        <p:nvSpPr>
          <p:cNvPr id="21" name="Pôle Mono / Couffo"/>
          <p:cNvSpPr/>
          <p:nvPr/>
        </p:nvSpPr>
        <p:spPr>
          <a:xfrm>
            <a:off x="6133795" y="4480560"/>
            <a:ext cx="1773936" cy="731520"/>
          </a:xfrm>
          <a:prstGeom prst="roundRect">
            <a:avLst>
              <a:gd name="adj" fmla="val 15000"/>
            </a:avLst>
          </a:prstGeom>
          <a:solidFill>
            <a:schemeClr val="accent4"/>
          </a:solidFill>
          <a:ln/>
        </p:spPr>
      </p:sp>
      <p:sp>
        <p:nvSpPr>
          <p:cNvPr id="22" name="Text 19"/>
          <p:cNvSpPr txBox="1"/>
          <p:nvPr/>
        </p:nvSpPr>
        <p:spPr>
          <a:xfrm>
            <a:off x="6225235"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Mono / Couffo</a:t>
            </a:r>
            <a:endParaRPr lang="en-US" sz="1300" dirty="0"/>
          </a:p>
        </p:txBody>
      </p:sp>
      <p:sp>
        <p:nvSpPr>
          <p:cNvPr id="23" name="Pôle Borgou / Alibori"/>
          <p:cNvSpPr/>
          <p:nvPr/>
        </p:nvSpPr>
        <p:spPr>
          <a:xfrm>
            <a:off x="7995514" y="4480560"/>
            <a:ext cx="1773936" cy="731520"/>
          </a:xfrm>
          <a:prstGeom prst="roundRect">
            <a:avLst>
              <a:gd name="adj" fmla="val 15000"/>
            </a:avLst>
          </a:prstGeom>
          <a:solidFill>
            <a:schemeClr val="accent4"/>
          </a:solidFill>
          <a:ln/>
        </p:spPr>
      </p:sp>
      <p:sp>
        <p:nvSpPr>
          <p:cNvPr id="24" name="Text 21"/>
          <p:cNvSpPr txBox="1"/>
          <p:nvPr/>
        </p:nvSpPr>
        <p:spPr>
          <a:xfrm>
            <a:off x="8086954"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Borgou / Alibori</a:t>
            </a:r>
            <a:endParaRPr lang="en-US" sz="1300" dirty="0"/>
          </a:p>
        </p:txBody>
      </p:sp>
      <p:sp>
        <p:nvSpPr>
          <p:cNvPr id="25" name="Pôle Atacora / Donga"/>
          <p:cNvSpPr/>
          <p:nvPr/>
        </p:nvSpPr>
        <p:spPr>
          <a:xfrm>
            <a:off x="9857232" y="4480560"/>
            <a:ext cx="1773936" cy="731520"/>
          </a:xfrm>
          <a:prstGeom prst="roundRect">
            <a:avLst>
              <a:gd name="adj" fmla="val 15000"/>
            </a:avLst>
          </a:prstGeom>
          <a:solidFill>
            <a:schemeClr val="accent4"/>
          </a:solidFill>
          <a:ln/>
        </p:spPr>
      </p:sp>
      <p:sp>
        <p:nvSpPr>
          <p:cNvPr id="26" name="Text 23"/>
          <p:cNvSpPr txBox="1"/>
          <p:nvPr/>
        </p:nvSpPr>
        <p:spPr>
          <a:xfrm>
            <a:off x="9948672" y="4480560"/>
            <a:ext cx="1591056" cy="731520"/>
          </a:xfrm>
          <a:prstGeom prst="rect">
            <a:avLst/>
          </a:prstGeom>
          <a:noFill/>
          <a:ln/>
        </p:spPr>
        <p:txBody>
          <a:bodyPr wrap="square" lIns="0" tIns="0" rIns="0" bIns="0" rtlCol="0" anchor="ctr"/>
          <a:lstStyle/>
          <a:p>
            <a:pPr algn="ctr" indent="0" marL="0">
              <a:buNone/>
            </a:pPr>
            <a:r>
              <a:rPr lang="en-US" sz="1300" b="1" dirty="0">
                <a:solidFill>
                  <a:schemeClr val="tx2"/>
                </a:solidFill>
              </a:rPr>
              <a:t>Atacora / Donga</a:t>
            </a:r>
            <a:endParaRPr lang="en-US" sz="1300" dirty="0"/>
          </a:p>
        </p:txBody>
      </p:sp>
      <p:sp>
        <p:nvSpPr>
          <p:cNvPr id="27" name="Text 24"/>
          <p:cNvSpPr txBox="1"/>
          <p:nvPr/>
        </p:nvSpPr>
        <p:spPr>
          <a:xfrm>
            <a:off x="548640" y="5394960"/>
            <a:ext cx="11064240" cy="548640"/>
          </a:xfrm>
          <a:prstGeom prst="rect">
            <a:avLst/>
          </a:prstGeom>
          <a:noFill/>
          <a:ln/>
        </p:spPr>
        <p:txBody>
          <a:bodyPr wrap="square" lIns="0" tIns="0" rIns="0" bIns="0" rtlCol="0" anchor="t"/>
          <a:lstStyle/>
          <a:p>
            <a:pPr indent="0" marL="0">
              <a:buNone/>
            </a:pPr>
            <a:r>
              <a:rPr lang="en-US" sz="1400" dirty="0">
                <a:solidFill>
                  <a:schemeClr val="tx1"/>
                </a:solidFill>
              </a:rPr>
              <a:t>Chaque pôle s'appuie sur un socle commun : infrastructures digitales et physiques, capital humain, PME locales et incitations à l'investissement.</a:t>
            </a:r>
            <a:endParaRPr lang="en-US" sz="1400" dirty="0"/>
          </a:p>
        </p:txBody>
      </p:sp>
      <p:sp>
        <p:nvSpPr>
          <p:cNvPr id="28" name="Text 25"/>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7 à 9</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PATRIMOINE EXISTANT</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Dix ans de construction ont créé un patrimoine considérable</a:t>
            </a:r>
            <a:endParaRPr lang="en-US" sz="2800" dirty="0"/>
          </a:p>
        </p:txBody>
      </p:sp>
      <p:sp>
        <p:nvSpPr>
          <p:cNvPr id="5" name="Panneau commune"/>
          <p:cNvSpPr/>
          <p:nvPr/>
        </p:nvSpPr>
        <p:spPr>
          <a:xfrm>
            <a:off x="548640" y="2011680"/>
            <a:ext cx="4297680" cy="3931920"/>
          </a:xfrm>
          <a:prstGeom prst="roundRect">
            <a:avLst>
              <a:gd name="adj" fmla="val 2791"/>
            </a:avLst>
          </a:prstGeom>
          <a:solidFill>
            <a:schemeClr val="tx2"/>
          </a:solidFill>
          <a:ln/>
        </p:spPr>
      </p:sp>
      <p:pic>
        <p:nvPicPr>
          <p:cNvPr id="6" name="Image 0" descr="Modèle 3D d'une commune type : château d'eau, école, terrain de sport, base artisanale, voirie éclairée">    </p:cNvPr>
          <p:cNvPicPr>
            <a:picLocks noChangeAspect="1"/>
          </p:cNvPicPr>
          <p:nvPr/>
        </p:nvPicPr>
        <p:blipFill>
          <a:blip r:embed="rId1"/>
          <a:srcRect l="0" r="0" t="0" b="0"/>
          <a:stretch/>
        </p:blipFill>
        <p:spPr>
          <a:xfrm>
            <a:off x="685800" y="2148840"/>
            <a:ext cx="4023360" cy="2514600"/>
          </a:xfrm>
          <a:prstGeom prst="rect">
            <a:avLst/>
          </a:prstGeom>
        </p:spPr>
      </p:pic>
      <p:sp>
        <p:nvSpPr>
          <p:cNvPr id="7" name="Text 3"/>
          <p:cNvSpPr txBox="1"/>
          <p:nvPr/>
        </p:nvSpPr>
        <p:spPr>
          <a:xfrm>
            <a:off x="868680" y="4773168"/>
            <a:ext cx="3657600" cy="1051560"/>
          </a:xfrm>
          <a:prstGeom prst="rect">
            <a:avLst/>
          </a:prstGeom>
          <a:noFill/>
          <a:ln/>
        </p:spPr>
        <p:txBody>
          <a:bodyPr wrap="square" lIns="0" tIns="0" rIns="0" bIns="0" rtlCol="0" anchor="t"/>
          <a:lstStyle/>
          <a:p>
            <a:pPr indent="0" marL="0">
              <a:buNone/>
            </a:pPr>
            <a:r>
              <a:rPr lang="en-US" sz="1500" b="1" dirty="0">
                <a:solidFill>
                  <a:schemeClr val="accent2"/>
                </a:solidFill>
              </a:rPr>
              <a:t>Chacun de ces ouvrages est un point sur la carte d'une commune, et il faudra le faire durer.</a:t>
            </a:r>
            <a:endParaRPr lang="en-US" sz="1500" dirty="0"/>
          </a:p>
        </p:txBody>
      </p:sp>
      <p:sp>
        <p:nvSpPr>
          <p:cNvPr id="8" name="Carte ROUTES"/>
          <p:cNvSpPr/>
          <p:nvPr/>
        </p:nvSpPr>
        <p:spPr>
          <a:xfrm>
            <a:off x="5029200" y="2011680"/>
            <a:ext cx="3246120" cy="1234440"/>
          </a:xfrm>
          <a:prstGeom prst="roundRect">
            <a:avLst>
              <a:gd name="adj" fmla="val 8889"/>
            </a:avLst>
          </a:prstGeom>
          <a:solidFill>
            <a:schemeClr val="bg2"/>
          </a:solidFill>
          <a:ln/>
        </p:spPr>
      </p:sp>
      <p:sp>
        <p:nvSpPr>
          <p:cNvPr id="9" name="Shape 5"/>
          <p:cNvSpPr/>
          <p:nvPr/>
        </p:nvSpPr>
        <p:spPr>
          <a:xfrm>
            <a:off x="5193792" y="2176272"/>
            <a:ext cx="457200" cy="4572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5317236" y="2299716"/>
            <a:ext cx="210312" cy="210312"/>
          </a:xfrm>
          <a:prstGeom prst="rect">
            <a:avLst/>
          </a:prstGeom>
        </p:spPr>
      </p:pic>
      <p:sp>
        <p:nvSpPr>
          <p:cNvPr id="11" name="Text 6"/>
          <p:cNvSpPr txBox="1"/>
          <p:nvPr/>
        </p:nvSpPr>
        <p:spPr>
          <a:xfrm>
            <a:off x="5760720" y="21762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ROUTES</a:t>
            </a:r>
            <a:endParaRPr lang="en-US" sz="1100" dirty="0"/>
          </a:p>
        </p:txBody>
      </p:sp>
      <p:sp>
        <p:nvSpPr>
          <p:cNvPr id="12" name="Text 7"/>
          <p:cNvSpPr txBox="1"/>
          <p:nvPr/>
        </p:nvSpPr>
        <p:spPr>
          <a:xfrm>
            <a:off x="5212080" y="26700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3 000 km</a:t>
            </a:r>
            <a:endParaRPr lang="en-US" sz="2000" dirty="0"/>
          </a:p>
        </p:txBody>
      </p:sp>
      <p:sp>
        <p:nvSpPr>
          <p:cNvPr id="13" name="Text 8"/>
          <p:cNvSpPr txBox="1"/>
          <p:nvPr/>
        </p:nvSpPr>
        <p:spPr>
          <a:xfrm>
            <a:off x="5212080" y="2962656"/>
            <a:ext cx="2926080" cy="256032"/>
          </a:xfrm>
          <a:prstGeom prst="rect">
            <a:avLst/>
          </a:prstGeom>
          <a:noFill/>
          <a:ln/>
        </p:spPr>
        <p:txBody>
          <a:bodyPr wrap="square" lIns="0" tIns="0" rIns="0" bIns="0" rtlCol="0" anchor="t"/>
          <a:lstStyle/>
          <a:p>
            <a:pPr indent="0" marL="0">
              <a:buNone/>
            </a:pPr>
            <a:r>
              <a:rPr lang="en-US" sz="1050" dirty="0">
                <a:solidFill>
                  <a:schemeClr val="tx1"/>
                </a:solidFill>
              </a:rPr>
              <a:t>de nouvelles routes bitumées</a:t>
            </a:r>
            <a:endParaRPr lang="en-US" sz="1050" dirty="0"/>
          </a:p>
        </p:txBody>
      </p:sp>
      <p:sp>
        <p:nvSpPr>
          <p:cNvPr id="14" name="Carte ÉDUCATION"/>
          <p:cNvSpPr/>
          <p:nvPr/>
        </p:nvSpPr>
        <p:spPr>
          <a:xfrm>
            <a:off x="8412480" y="2011680"/>
            <a:ext cx="3246120" cy="1234440"/>
          </a:xfrm>
          <a:prstGeom prst="roundRect">
            <a:avLst>
              <a:gd name="adj" fmla="val 8889"/>
            </a:avLst>
          </a:prstGeom>
          <a:solidFill>
            <a:schemeClr val="bg2"/>
          </a:solidFill>
          <a:ln/>
        </p:spPr>
      </p:sp>
      <p:sp>
        <p:nvSpPr>
          <p:cNvPr id="15" name="Shape 10"/>
          <p:cNvSpPr/>
          <p:nvPr/>
        </p:nvSpPr>
        <p:spPr>
          <a:xfrm>
            <a:off x="8577072" y="2176272"/>
            <a:ext cx="457200" cy="45720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700516" y="2299716"/>
            <a:ext cx="210312" cy="210312"/>
          </a:xfrm>
          <a:prstGeom prst="rect">
            <a:avLst/>
          </a:prstGeom>
        </p:spPr>
      </p:pic>
      <p:sp>
        <p:nvSpPr>
          <p:cNvPr id="17" name="Text 11"/>
          <p:cNvSpPr txBox="1"/>
          <p:nvPr/>
        </p:nvSpPr>
        <p:spPr>
          <a:xfrm>
            <a:off x="9144000" y="21762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ÉDUCATION</a:t>
            </a:r>
            <a:endParaRPr lang="en-US" sz="1100" dirty="0"/>
          </a:p>
        </p:txBody>
      </p:sp>
      <p:sp>
        <p:nvSpPr>
          <p:cNvPr id="18" name="Text 12"/>
          <p:cNvSpPr txBox="1"/>
          <p:nvPr/>
        </p:nvSpPr>
        <p:spPr>
          <a:xfrm>
            <a:off x="8595360" y="26700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9 000</a:t>
            </a:r>
            <a:endParaRPr lang="en-US" sz="2000" dirty="0"/>
          </a:p>
        </p:txBody>
      </p:sp>
      <p:sp>
        <p:nvSpPr>
          <p:cNvPr id="19" name="Text 13"/>
          <p:cNvSpPr txBox="1"/>
          <p:nvPr/>
        </p:nvSpPr>
        <p:spPr>
          <a:xfrm>
            <a:off x="8595360" y="2962656"/>
            <a:ext cx="2926080" cy="256032"/>
          </a:xfrm>
          <a:prstGeom prst="rect">
            <a:avLst/>
          </a:prstGeom>
          <a:noFill/>
          <a:ln/>
        </p:spPr>
        <p:txBody>
          <a:bodyPr wrap="square" lIns="0" tIns="0" rIns="0" bIns="0" rtlCol="0" anchor="t"/>
          <a:lstStyle/>
          <a:p>
            <a:pPr indent="0" marL="0">
              <a:buNone/>
            </a:pPr>
            <a:r>
              <a:rPr lang="en-US" sz="1050" dirty="0">
                <a:solidFill>
                  <a:schemeClr val="tx1"/>
                </a:solidFill>
              </a:rPr>
              <a:t>salles de classe construites</a:t>
            </a:r>
            <a:endParaRPr lang="en-US" sz="1050" dirty="0"/>
          </a:p>
        </p:txBody>
      </p:sp>
      <p:sp>
        <p:nvSpPr>
          <p:cNvPr id="20" name="Carte EAU POTABLE"/>
          <p:cNvSpPr/>
          <p:nvPr/>
        </p:nvSpPr>
        <p:spPr>
          <a:xfrm>
            <a:off x="5029200" y="3383280"/>
            <a:ext cx="3246120" cy="1234440"/>
          </a:xfrm>
          <a:prstGeom prst="roundRect">
            <a:avLst>
              <a:gd name="adj" fmla="val 8889"/>
            </a:avLst>
          </a:prstGeom>
          <a:solidFill>
            <a:schemeClr val="bg2"/>
          </a:solidFill>
          <a:ln/>
        </p:spPr>
      </p:sp>
      <p:sp>
        <p:nvSpPr>
          <p:cNvPr id="21" name="Shape 15"/>
          <p:cNvSpPr/>
          <p:nvPr/>
        </p:nvSpPr>
        <p:spPr>
          <a:xfrm>
            <a:off x="5193792" y="3547872"/>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5317236" y="3671316"/>
            <a:ext cx="210312" cy="210312"/>
          </a:xfrm>
          <a:prstGeom prst="rect">
            <a:avLst/>
          </a:prstGeom>
        </p:spPr>
      </p:pic>
      <p:sp>
        <p:nvSpPr>
          <p:cNvPr id="23" name="Text 16"/>
          <p:cNvSpPr txBox="1"/>
          <p:nvPr/>
        </p:nvSpPr>
        <p:spPr>
          <a:xfrm>
            <a:off x="5760720" y="35478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EAU POTABLE</a:t>
            </a:r>
            <a:endParaRPr lang="en-US" sz="1100" dirty="0"/>
          </a:p>
        </p:txBody>
      </p:sp>
      <p:sp>
        <p:nvSpPr>
          <p:cNvPr id="24" name="Text 17"/>
          <p:cNvSpPr txBox="1"/>
          <p:nvPr/>
        </p:nvSpPr>
        <p:spPr>
          <a:xfrm>
            <a:off x="5212080" y="40416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 630 Md FCFA</a:t>
            </a:r>
            <a:endParaRPr lang="en-US" sz="2000" dirty="0"/>
          </a:p>
        </p:txBody>
      </p:sp>
      <p:sp>
        <p:nvSpPr>
          <p:cNvPr id="25" name="Text 18"/>
          <p:cNvSpPr txBox="1"/>
          <p:nvPr/>
        </p:nvSpPr>
        <p:spPr>
          <a:xfrm>
            <a:off x="5212080" y="4334256"/>
            <a:ext cx="2926080" cy="256032"/>
          </a:xfrm>
          <a:prstGeom prst="rect">
            <a:avLst/>
          </a:prstGeom>
          <a:noFill/>
          <a:ln/>
        </p:spPr>
        <p:txBody>
          <a:bodyPr wrap="square" lIns="0" tIns="0" rIns="0" bIns="0" rtlCol="0" anchor="t"/>
          <a:lstStyle/>
          <a:p>
            <a:pPr indent="0" marL="0">
              <a:buNone/>
            </a:pPr>
            <a:r>
              <a:rPr lang="en-US" sz="1050" dirty="0">
                <a:solidFill>
                  <a:schemeClr val="tx1"/>
                </a:solidFill>
              </a:rPr>
              <a:t>investis dans l'eau potable en dix ans</a:t>
            </a:r>
            <a:endParaRPr lang="en-US" sz="1050" dirty="0"/>
          </a:p>
        </p:txBody>
      </p:sp>
      <p:sp>
        <p:nvSpPr>
          <p:cNvPr id="26" name="Carte ÉCLAIRAGE"/>
          <p:cNvSpPr/>
          <p:nvPr/>
        </p:nvSpPr>
        <p:spPr>
          <a:xfrm>
            <a:off x="8412480" y="3383280"/>
            <a:ext cx="3246120" cy="1234440"/>
          </a:xfrm>
          <a:prstGeom prst="roundRect">
            <a:avLst>
              <a:gd name="adj" fmla="val 8889"/>
            </a:avLst>
          </a:prstGeom>
          <a:solidFill>
            <a:schemeClr val="bg2"/>
          </a:solidFill>
          <a:ln/>
        </p:spPr>
      </p:sp>
      <p:sp>
        <p:nvSpPr>
          <p:cNvPr id="27" name="Shape 20"/>
          <p:cNvSpPr/>
          <p:nvPr/>
        </p:nvSpPr>
        <p:spPr>
          <a:xfrm>
            <a:off x="8577072" y="3547872"/>
            <a:ext cx="457200" cy="457200"/>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8700516" y="3671316"/>
            <a:ext cx="210312" cy="210312"/>
          </a:xfrm>
          <a:prstGeom prst="rect">
            <a:avLst/>
          </a:prstGeom>
        </p:spPr>
      </p:pic>
      <p:sp>
        <p:nvSpPr>
          <p:cNvPr id="29" name="Text 21"/>
          <p:cNvSpPr txBox="1"/>
          <p:nvPr/>
        </p:nvSpPr>
        <p:spPr>
          <a:xfrm>
            <a:off x="9144000" y="35478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ÉCLAIRAGE</a:t>
            </a:r>
            <a:endParaRPr lang="en-US" sz="1100" dirty="0"/>
          </a:p>
        </p:txBody>
      </p:sp>
      <p:sp>
        <p:nvSpPr>
          <p:cNvPr id="30" name="Text 22"/>
          <p:cNvSpPr txBox="1"/>
          <p:nvPr/>
        </p:nvSpPr>
        <p:spPr>
          <a:xfrm>
            <a:off x="8595360" y="40416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100 000</a:t>
            </a:r>
            <a:endParaRPr lang="en-US" sz="2000" dirty="0"/>
          </a:p>
        </p:txBody>
      </p:sp>
      <p:sp>
        <p:nvSpPr>
          <p:cNvPr id="31" name="Text 23"/>
          <p:cNvSpPr txBox="1"/>
          <p:nvPr/>
        </p:nvSpPr>
        <p:spPr>
          <a:xfrm>
            <a:off x="8595360" y="4334256"/>
            <a:ext cx="2926080" cy="256032"/>
          </a:xfrm>
          <a:prstGeom prst="rect">
            <a:avLst/>
          </a:prstGeom>
          <a:noFill/>
          <a:ln/>
        </p:spPr>
        <p:txBody>
          <a:bodyPr wrap="square" lIns="0" tIns="0" rIns="0" bIns="0" rtlCol="0" anchor="t"/>
          <a:lstStyle/>
          <a:p>
            <a:pPr indent="0" marL="0">
              <a:buNone/>
            </a:pPr>
            <a:r>
              <a:rPr lang="en-US" sz="1050" dirty="0">
                <a:solidFill>
                  <a:schemeClr val="tx1"/>
                </a:solidFill>
              </a:rPr>
              <a:t>lampadaires installés depuis 2016</a:t>
            </a:r>
            <a:endParaRPr lang="en-US" sz="1050" dirty="0"/>
          </a:p>
        </p:txBody>
      </p:sp>
      <p:sp>
        <p:nvSpPr>
          <p:cNvPr id="32" name="Carte VILLAGES"/>
          <p:cNvSpPr/>
          <p:nvPr/>
        </p:nvSpPr>
        <p:spPr>
          <a:xfrm>
            <a:off x="5029200" y="4754880"/>
            <a:ext cx="3246120" cy="1234440"/>
          </a:xfrm>
          <a:prstGeom prst="roundRect">
            <a:avLst>
              <a:gd name="adj" fmla="val 8889"/>
            </a:avLst>
          </a:prstGeom>
          <a:solidFill>
            <a:schemeClr val="bg2"/>
          </a:solidFill>
          <a:ln/>
        </p:spPr>
      </p:sp>
      <p:sp>
        <p:nvSpPr>
          <p:cNvPr id="33" name="Shape 25"/>
          <p:cNvSpPr/>
          <p:nvPr/>
        </p:nvSpPr>
        <p:spPr>
          <a:xfrm>
            <a:off x="5193792" y="4919472"/>
            <a:ext cx="457200" cy="457200"/>
          </a:xfrm>
          <a:prstGeom prst="ellipse">
            <a:avLst/>
          </a:prstGeom>
          <a:solidFill>
            <a:schemeClr val="accent1"/>
          </a:solidFill>
          <a:ln/>
        </p:spPr>
      </p:sp>
      <p:pic>
        <p:nvPicPr>
          <p:cNvPr id="34" name="Image 5" descr="preencoded.png">    </p:cNvPr>
          <p:cNvPicPr>
            <a:picLocks noChangeAspect="1"/>
          </p:cNvPicPr>
          <p:nvPr/>
        </p:nvPicPr>
        <p:blipFill>
          <a:blip r:embed="rId6"/>
          <a:stretch>
            <a:fillRect/>
          </a:stretch>
        </p:blipFill>
        <p:spPr>
          <a:xfrm>
            <a:off x="5317236" y="5042916"/>
            <a:ext cx="210312" cy="210312"/>
          </a:xfrm>
          <a:prstGeom prst="rect">
            <a:avLst/>
          </a:prstGeom>
        </p:spPr>
      </p:pic>
      <p:sp>
        <p:nvSpPr>
          <p:cNvPr id="35" name="Text 26"/>
          <p:cNvSpPr txBox="1"/>
          <p:nvPr/>
        </p:nvSpPr>
        <p:spPr>
          <a:xfrm>
            <a:off x="5760720" y="49194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VILLAGES</a:t>
            </a:r>
            <a:endParaRPr lang="en-US" sz="1100" dirty="0"/>
          </a:p>
        </p:txBody>
      </p:sp>
      <p:sp>
        <p:nvSpPr>
          <p:cNvPr id="36" name="Text 27"/>
          <p:cNvSpPr txBox="1"/>
          <p:nvPr/>
        </p:nvSpPr>
        <p:spPr>
          <a:xfrm>
            <a:off x="5212080" y="54132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1 200</a:t>
            </a:r>
            <a:endParaRPr lang="en-US" sz="2000" dirty="0"/>
          </a:p>
        </p:txBody>
      </p:sp>
      <p:sp>
        <p:nvSpPr>
          <p:cNvPr id="37" name="Text 28"/>
          <p:cNvSpPr txBox="1"/>
          <p:nvPr/>
        </p:nvSpPr>
        <p:spPr>
          <a:xfrm>
            <a:off x="5212080" y="5705856"/>
            <a:ext cx="2926080" cy="256032"/>
          </a:xfrm>
          <a:prstGeom prst="rect">
            <a:avLst/>
          </a:prstGeom>
          <a:noFill/>
          <a:ln/>
        </p:spPr>
        <p:txBody>
          <a:bodyPr wrap="square" lIns="0" tIns="0" rIns="0" bIns="0" rtlCol="0" anchor="t"/>
          <a:lstStyle/>
          <a:p>
            <a:pPr indent="0" marL="0">
              <a:buNone/>
            </a:pPr>
            <a:r>
              <a:rPr lang="en-US" sz="1050" dirty="0">
                <a:solidFill>
                  <a:schemeClr val="tx1"/>
                </a:solidFill>
              </a:rPr>
              <a:t>villages en adduction d'eau, 2021-2025</a:t>
            </a:r>
            <a:endParaRPr lang="en-US" sz="1050" dirty="0"/>
          </a:p>
        </p:txBody>
      </p:sp>
      <p:sp>
        <p:nvSpPr>
          <p:cNvPr id="38" name="Carte SPORT"/>
          <p:cNvSpPr/>
          <p:nvPr/>
        </p:nvSpPr>
        <p:spPr>
          <a:xfrm>
            <a:off x="8412480" y="4754880"/>
            <a:ext cx="3246120" cy="1234440"/>
          </a:xfrm>
          <a:prstGeom prst="roundRect">
            <a:avLst>
              <a:gd name="adj" fmla="val 8889"/>
            </a:avLst>
          </a:prstGeom>
          <a:solidFill>
            <a:schemeClr val="bg2"/>
          </a:solidFill>
          <a:ln/>
        </p:spPr>
      </p:sp>
      <p:sp>
        <p:nvSpPr>
          <p:cNvPr id="39" name="Shape 30"/>
          <p:cNvSpPr/>
          <p:nvPr/>
        </p:nvSpPr>
        <p:spPr>
          <a:xfrm>
            <a:off x="8577072" y="4919472"/>
            <a:ext cx="457200" cy="457200"/>
          </a:xfrm>
          <a:prstGeom prst="ellipse">
            <a:avLst/>
          </a:prstGeom>
          <a:solidFill>
            <a:schemeClr val="accent1"/>
          </a:solidFill>
          <a:ln/>
        </p:spPr>
      </p:sp>
      <p:pic>
        <p:nvPicPr>
          <p:cNvPr id="40" name="Image 6" descr="preencoded.png">    </p:cNvPr>
          <p:cNvPicPr>
            <a:picLocks noChangeAspect="1"/>
          </p:cNvPicPr>
          <p:nvPr/>
        </p:nvPicPr>
        <p:blipFill>
          <a:blip r:embed="rId7"/>
          <a:stretch>
            <a:fillRect/>
          </a:stretch>
        </p:blipFill>
        <p:spPr>
          <a:xfrm>
            <a:off x="8700516" y="5042916"/>
            <a:ext cx="210312" cy="210312"/>
          </a:xfrm>
          <a:prstGeom prst="rect">
            <a:avLst/>
          </a:prstGeom>
        </p:spPr>
      </p:pic>
      <p:sp>
        <p:nvSpPr>
          <p:cNvPr id="41" name="Text 31"/>
          <p:cNvSpPr txBox="1"/>
          <p:nvPr/>
        </p:nvSpPr>
        <p:spPr>
          <a:xfrm>
            <a:off x="9144000" y="4919472"/>
            <a:ext cx="2377440" cy="457200"/>
          </a:xfrm>
          <a:prstGeom prst="rect">
            <a:avLst/>
          </a:prstGeom>
          <a:noFill/>
          <a:ln/>
        </p:spPr>
        <p:txBody>
          <a:bodyPr wrap="square" lIns="0" tIns="0" rIns="0" bIns="0" rtlCol="0" anchor="ctr"/>
          <a:lstStyle/>
          <a:p>
            <a:pPr indent="0" marL="0">
              <a:buNone/>
            </a:pPr>
            <a:r>
              <a:rPr lang="en-US" sz="1100" b="1" spc="200" kern="0" dirty="0">
                <a:solidFill>
                  <a:schemeClr val="accent5"/>
                </a:solidFill>
              </a:rPr>
              <a:t>SPORT</a:t>
            </a:r>
            <a:endParaRPr lang="en-US" sz="1100" dirty="0"/>
          </a:p>
        </p:txBody>
      </p:sp>
      <p:sp>
        <p:nvSpPr>
          <p:cNvPr id="42" name="Text 32"/>
          <p:cNvSpPr txBox="1"/>
          <p:nvPr/>
        </p:nvSpPr>
        <p:spPr>
          <a:xfrm>
            <a:off x="8595360" y="5413248"/>
            <a:ext cx="2926080" cy="320040"/>
          </a:xfrm>
          <a:prstGeom prst="rect">
            <a:avLst/>
          </a:prstGeom>
          <a:noFill/>
          <a:ln/>
        </p:spPr>
        <p:txBody>
          <a:bodyPr wrap="square" lIns="0" tIns="0" rIns="0" bIns="0" rtlCol="0" anchor="ctr"/>
          <a:lstStyle/>
          <a:p>
            <a:pPr indent="0" marL="0">
              <a:buNone/>
            </a:pPr>
            <a:r>
              <a:rPr lang="en-US" sz="2000" b="1" dirty="0">
                <a:solidFill>
                  <a:schemeClr val="tx2"/>
                </a:solidFill>
              </a:rPr>
              <a:t>25</a:t>
            </a:r>
            <a:endParaRPr lang="en-US" sz="2000" dirty="0"/>
          </a:p>
        </p:txBody>
      </p:sp>
      <p:sp>
        <p:nvSpPr>
          <p:cNvPr id="43" name="Text 33"/>
          <p:cNvSpPr txBox="1"/>
          <p:nvPr/>
        </p:nvSpPr>
        <p:spPr>
          <a:xfrm>
            <a:off x="8595360" y="5705856"/>
            <a:ext cx="2926080" cy="256032"/>
          </a:xfrm>
          <a:prstGeom prst="rect">
            <a:avLst/>
          </a:prstGeom>
          <a:noFill/>
          <a:ln/>
        </p:spPr>
        <p:txBody>
          <a:bodyPr wrap="square" lIns="0" tIns="0" rIns="0" bIns="0" rtlCol="0" anchor="t"/>
          <a:lstStyle/>
          <a:p>
            <a:pPr indent="0" marL="0">
              <a:buNone/>
            </a:pPr>
            <a:r>
              <a:rPr lang="en-US" sz="1050" dirty="0">
                <a:solidFill>
                  <a:schemeClr val="tx1"/>
                </a:solidFill>
              </a:rPr>
              <a:t>stades et complexes, construits ou rénovés</a:t>
            </a:r>
            <a:endParaRPr lang="en-US" sz="1050" dirty="0"/>
          </a:p>
        </p:txBody>
      </p:sp>
      <p:sp>
        <p:nvSpPr>
          <p:cNvPr id="44"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 16, 20, 24 et 32. Modèle 3D : commune type à l'échelle, pas un relevé de site.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LES OUVRAGES ANNONCÉS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patrimoine va encore s'étendre d'ici 2033</a:t>
            </a:r>
            <a:endParaRPr lang="en-US" sz="2800" dirty="0"/>
          </a:p>
        </p:txBody>
      </p:sp>
      <p:sp>
        <p:nvSpPr>
          <p:cNvPr id="5" name="Ouvrage 314"/>
          <p:cNvSpPr/>
          <p:nvPr/>
        </p:nvSpPr>
        <p:spPr>
          <a:xfrm>
            <a:off x="548640" y="1965960"/>
            <a:ext cx="2651760" cy="3429000"/>
          </a:xfrm>
          <a:prstGeom prst="roundRect">
            <a:avLst>
              <a:gd name="adj" fmla="val 4138"/>
            </a:avLst>
          </a:prstGeom>
          <a:solidFill>
            <a:schemeClr val="bg2"/>
          </a:solidFill>
          <a:ln/>
        </p:spPr>
      </p:sp>
      <p:pic>
        <p:nvPicPr>
          <p:cNvPr id="6" name="Image 0" descr="Rendu 3D : château d'eau solaire">    </p:cNvPr>
          <p:cNvPicPr>
            <a:picLocks noChangeAspect="1"/>
          </p:cNvPicPr>
          <p:nvPr/>
        </p:nvPicPr>
        <p:blipFill>
          <a:blip r:embed="rId1"/>
          <a:srcRect l="0" r="0" t="0" b="0"/>
          <a:stretch/>
        </p:blipFill>
        <p:spPr>
          <a:xfrm>
            <a:off x="640080" y="2057400"/>
            <a:ext cx="2468880" cy="1417320"/>
          </a:xfrm>
          <a:prstGeom prst="rect">
            <a:avLst/>
          </a:prstGeom>
        </p:spPr>
      </p:pic>
      <p:sp>
        <p:nvSpPr>
          <p:cNvPr id="7" name="Text 3"/>
          <p:cNvSpPr txBox="1"/>
          <p:nvPr/>
        </p:nvSpPr>
        <p:spPr>
          <a:xfrm>
            <a:off x="731520" y="3547872"/>
            <a:ext cx="2286000" cy="548640"/>
          </a:xfrm>
          <a:prstGeom prst="rect">
            <a:avLst/>
          </a:prstGeom>
          <a:noFill/>
          <a:ln/>
        </p:spPr>
        <p:txBody>
          <a:bodyPr wrap="square" lIns="0" tIns="0" rIns="0" bIns="0" rtlCol="0" anchor="ctr"/>
          <a:lstStyle/>
          <a:p>
            <a:pPr indent="0" marL="0">
              <a:buNone/>
            </a:pPr>
            <a:r>
              <a:rPr lang="en-US" sz="3000" b="1" dirty="0">
                <a:solidFill>
                  <a:schemeClr val="accent1"/>
                </a:solidFill>
              </a:rPr>
              <a:t>314</a:t>
            </a:r>
            <a:endParaRPr lang="en-US" sz="3000" dirty="0"/>
          </a:p>
        </p:txBody>
      </p:sp>
      <p:sp>
        <p:nvSpPr>
          <p:cNvPr id="8" name="Text 4"/>
          <p:cNvSpPr txBox="1"/>
          <p:nvPr/>
        </p:nvSpPr>
        <p:spPr>
          <a:xfrm>
            <a:off x="731520" y="4114800"/>
            <a:ext cx="2286000" cy="868680"/>
          </a:xfrm>
          <a:prstGeom prst="rect">
            <a:avLst/>
          </a:prstGeom>
          <a:noFill/>
          <a:ln/>
        </p:spPr>
        <p:txBody>
          <a:bodyPr wrap="square" lIns="0" tIns="0" rIns="0" bIns="0" rtlCol="0" anchor="t"/>
          <a:lstStyle/>
          <a:p>
            <a:pPr indent="0" marL="0">
              <a:buNone/>
            </a:pPr>
            <a:r>
              <a:rPr lang="en-US" sz="1200" dirty="0">
                <a:solidFill>
                  <a:schemeClr val="tx1"/>
                </a:solidFill>
              </a:rPr>
              <a:t>nouveaux systèmes d'eau potable multivillages, avec forages à capteurs</a:t>
            </a:r>
            <a:endParaRPr lang="en-US" sz="1200" dirty="0"/>
          </a:p>
        </p:txBody>
      </p:sp>
      <p:sp>
        <p:nvSpPr>
          <p:cNvPr id="9" name="Text 5"/>
          <p:cNvSpPr txBox="1"/>
          <p:nvPr/>
        </p:nvSpPr>
        <p:spPr>
          <a:xfrm>
            <a:off x="731520" y="5029200"/>
            <a:ext cx="2286000" cy="274320"/>
          </a:xfrm>
          <a:prstGeom prst="rect">
            <a:avLst/>
          </a:prstGeom>
          <a:noFill/>
          <a:ln/>
        </p:spPr>
        <p:txBody>
          <a:bodyPr wrap="square" lIns="0" tIns="0" rIns="0" bIns="0" rtlCol="0" anchor="ctr"/>
          <a:lstStyle/>
          <a:p>
            <a:pPr indent="0" marL="0">
              <a:buNone/>
            </a:pPr>
            <a:r>
              <a:rPr lang="en-US" sz="1000" b="1" dirty="0">
                <a:solidFill>
                  <a:schemeClr val="accent5"/>
                </a:solidFill>
              </a:rPr>
              <a:t>p. 21</a:t>
            </a:r>
            <a:endParaRPr lang="en-US" sz="1000" dirty="0"/>
          </a:p>
        </p:txBody>
      </p:sp>
      <p:sp>
        <p:nvSpPr>
          <p:cNvPr id="10" name="Ouvrage 546"/>
          <p:cNvSpPr/>
          <p:nvPr/>
        </p:nvSpPr>
        <p:spPr>
          <a:xfrm>
            <a:off x="3362249" y="1965960"/>
            <a:ext cx="2651760" cy="3429000"/>
          </a:xfrm>
          <a:prstGeom prst="roundRect">
            <a:avLst>
              <a:gd name="adj" fmla="val 4138"/>
            </a:avLst>
          </a:prstGeom>
          <a:solidFill>
            <a:schemeClr val="bg2"/>
          </a:solidFill>
          <a:ln/>
        </p:spPr>
      </p:sp>
      <p:pic>
        <p:nvPicPr>
          <p:cNvPr id="11" name="Image 1" descr="Rendu 3D : terrain de proximité">    </p:cNvPr>
          <p:cNvPicPr>
            <a:picLocks noChangeAspect="1"/>
          </p:cNvPicPr>
          <p:nvPr/>
        </p:nvPicPr>
        <p:blipFill>
          <a:blip r:embed="rId2"/>
          <a:srcRect l="0" r="0" t="0" b="0"/>
          <a:stretch/>
        </p:blipFill>
        <p:spPr>
          <a:xfrm>
            <a:off x="3453689" y="2057400"/>
            <a:ext cx="2468880" cy="1417320"/>
          </a:xfrm>
          <a:prstGeom prst="rect">
            <a:avLst/>
          </a:prstGeom>
        </p:spPr>
      </p:pic>
      <p:sp>
        <p:nvSpPr>
          <p:cNvPr id="12" name="Text 7"/>
          <p:cNvSpPr txBox="1"/>
          <p:nvPr/>
        </p:nvSpPr>
        <p:spPr>
          <a:xfrm>
            <a:off x="3545129" y="3547872"/>
            <a:ext cx="2286000" cy="548640"/>
          </a:xfrm>
          <a:prstGeom prst="rect">
            <a:avLst/>
          </a:prstGeom>
          <a:noFill/>
          <a:ln/>
        </p:spPr>
        <p:txBody>
          <a:bodyPr wrap="square" lIns="0" tIns="0" rIns="0" bIns="0" rtlCol="0" anchor="ctr"/>
          <a:lstStyle/>
          <a:p>
            <a:pPr indent="0" marL="0">
              <a:buNone/>
            </a:pPr>
            <a:r>
              <a:rPr lang="en-US" sz="3000" b="1" dirty="0">
                <a:solidFill>
                  <a:schemeClr val="accent1"/>
                </a:solidFill>
              </a:rPr>
              <a:t>546</a:t>
            </a:r>
            <a:endParaRPr lang="en-US" sz="3000" dirty="0"/>
          </a:p>
        </p:txBody>
      </p:sp>
      <p:sp>
        <p:nvSpPr>
          <p:cNvPr id="13" name="Text 8"/>
          <p:cNvSpPr txBox="1"/>
          <p:nvPr/>
        </p:nvSpPr>
        <p:spPr>
          <a:xfrm>
            <a:off x="3545129" y="4114800"/>
            <a:ext cx="2286000" cy="868680"/>
          </a:xfrm>
          <a:prstGeom prst="rect">
            <a:avLst/>
          </a:prstGeom>
          <a:noFill/>
          <a:ln/>
        </p:spPr>
        <p:txBody>
          <a:bodyPr wrap="square" lIns="0" tIns="0" rIns="0" bIns="0" rtlCol="0" anchor="t"/>
          <a:lstStyle/>
          <a:p>
            <a:pPr indent="0" marL="0">
              <a:buNone/>
            </a:pPr>
            <a:r>
              <a:rPr lang="en-US" sz="1200" dirty="0">
                <a:solidFill>
                  <a:schemeClr val="tx1"/>
                </a:solidFill>
              </a:rPr>
              <a:t>arrondissements dotés d'infrastructures sportives de proximité</a:t>
            </a:r>
            <a:endParaRPr lang="en-US" sz="1200" dirty="0"/>
          </a:p>
        </p:txBody>
      </p:sp>
      <p:sp>
        <p:nvSpPr>
          <p:cNvPr id="14" name="Text 9"/>
          <p:cNvSpPr txBox="1"/>
          <p:nvPr/>
        </p:nvSpPr>
        <p:spPr>
          <a:xfrm>
            <a:off x="3545129" y="5029200"/>
            <a:ext cx="2286000" cy="274320"/>
          </a:xfrm>
          <a:prstGeom prst="rect">
            <a:avLst/>
          </a:prstGeom>
          <a:noFill/>
          <a:ln/>
        </p:spPr>
        <p:txBody>
          <a:bodyPr wrap="square" lIns="0" tIns="0" rIns="0" bIns="0" rtlCol="0" anchor="ctr"/>
          <a:lstStyle/>
          <a:p>
            <a:pPr indent="0" marL="0">
              <a:buNone/>
            </a:pPr>
            <a:r>
              <a:rPr lang="en-US" sz="1000" b="1" dirty="0">
                <a:solidFill>
                  <a:schemeClr val="accent5"/>
                </a:solidFill>
              </a:rPr>
              <a:t>p. 25</a:t>
            </a:r>
            <a:endParaRPr lang="en-US" sz="1000" dirty="0"/>
          </a:p>
        </p:txBody>
      </p:sp>
      <p:sp>
        <p:nvSpPr>
          <p:cNvPr id="15" name="Ouvrage 77"/>
          <p:cNvSpPr/>
          <p:nvPr/>
        </p:nvSpPr>
        <p:spPr>
          <a:xfrm>
            <a:off x="6175858" y="1965960"/>
            <a:ext cx="2651760" cy="3429000"/>
          </a:xfrm>
          <a:prstGeom prst="roundRect">
            <a:avLst>
              <a:gd name="adj" fmla="val 4138"/>
            </a:avLst>
          </a:prstGeom>
          <a:solidFill>
            <a:schemeClr val="bg2"/>
          </a:solidFill>
          <a:ln/>
        </p:spPr>
      </p:sp>
      <p:pic>
        <p:nvPicPr>
          <p:cNvPr id="16" name="Image 2" descr="Rendu 3D : base d'appui artisanale">    </p:cNvPr>
          <p:cNvPicPr>
            <a:picLocks noChangeAspect="1"/>
          </p:cNvPicPr>
          <p:nvPr/>
        </p:nvPicPr>
        <p:blipFill>
          <a:blip r:embed="rId3"/>
          <a:srcRect l="0" r="0" t="0" b="0"/>
          <a:stretch/>
        </p:blipFill>
        <p:spPr>
          <a:xfrm>
            <a:off x="6267298" y="2057400"/>
            <a:ext cx="2468880" cy="1417320"/>
          </a:xfrm>
          <a:prstGeom prst="rect">
            <a:avLst/>
          </a:prstGeom>
        </p:spPr>
      </p:pic>
      <p:sp>
        <p:nvSpPr>
          <p:cNvPr id="17" name="Text 11"/>
          <p:cNvSpPr txBox="1"/>
          <p:nvPr/>
        </p:nvSpPr>
        <p:spPr>
          <a:xfrm>
            <a:off x="6358738" y="3547872"/>
            <a:ext cx="2286000" cy="548640"/>
          </a:xfrm>
          <a:prstGeom prst="rect">
            <a:avLst/>
          </a:prstGeom>
          <a:noFill/>
          <a:ln/>
        </p:spPr>
        <p:txBody>
          <a:bodyPr wrap="square" lIns="0" tIns="0" rIns="0" bIns="0" rtlCol="0" anchor="ctr"/>
          <a:lstStyle/>
          <a:p>
            <a:pPr indent="0" marL="0">
              <a:buNone/>
            </a:pPr>
            <a:r>
              <a:rPr lang="en-US" sz="3000" b="1" dirty="0">
                <a:solidFill>
                  <a:schemeClr val="accent1"/>
                </a:solidFill>
              </a:rPr>
              <a:t>77</a:t>
            </a:r>
            <a:endParaRPr lang="en-US" sz="3000" dirty="0"/>
          </a:p>
        </p:txBody>
      </p:sp>
      <p:sp>
        <p:nvSpPr>
          <p:cNvPr id="18" name="Text 12"/>
          <p:cNvSpPr txBox="1"/>
          <p:nvPr/>
        </p:nvSpPr>
        <p:spPr>
          <a:xfrm>
            <a:off x="6358738" y="4114800"/>
            <a:ext cx="2286000" cy="868680"/>
          </a:xfrm>
          <a:prstGeom prst="rect">
            <a:avLst/>
          </a:prstGeom>
          <a:noFill/>
          <a:ln/>
        </p:spPr>
        <p:txBody>
          <a:bodyPr wrap="square" lIns="0" tIns="0" rIns="0" bIns="0" rtlCol="0" anchor="t"/>
          <a:lstStyle/>
          <a:p>
            <a:pPr indent="0" marL="0">
              <a:buNone/>
            </a:pPr>
            <a:r>
              <a:rPr lang="en-US" sz="1200" dirty="0">
                <a:solidFill>
                  <a:schemeClr val="tx1"/>
                </a:solidFill>
              </a:rPr>
              <a:t>bases d'appui à l'artisanat, une dans chaque commune d'ici 2033</a:t>
            </a:r>
            <a:endParaRPr lang="en-US" sz="1200" dirty="0"/>
          </a:p>
        </p:txBody>
      </p:sp>
      <p:sp>
        <p:nvSpPr>
          <p:cNvPr id="19" name="Text 13"/>
          <p:cNvSpPr txBox="1"/>
          <p:nvPr/>
        </p:nvSpPr>
        <p:spPr>
          <a:xfrm>
            <a:off x="6358738" y="5029200"/>
            <a:ext cx="2286000" cy="274320"/>
          </a:xfrm>
          <a:prstGeom prst="rect">
            <a:avLst/>
          </a:prstGeom>
          <a:noFill/>
          <a:ln/>
        </p:spPr>
        <p:txBody>
          <a:bodyPr wrap="square" lIns="0" tIns="0" rIns="0" bIns="0" rtlCol="0" anchor="ctr"/>
          <a:lstStyle/>
          <a:p>
            <a:pPr indent="0" marL="0">
              <a:buNone/>
            </a:pPr>
            <a:r>
              <a:rPr lang="en-US" sz="1000" b="1" dirty="0">
                <a:solidFill>
                  <a:schemeClr val="accent5"/>
                </a:solidFill>
              </a:rPr>
              <a:t>p. 41 et 56</a:t>
            </a:r>
            <a:endParaRPr lang="en-US" sz="1000" dirty="0"/>
          </a:p>
        </p:txBody>
      </p:sp>
      <p:sp>
        <p:nvSpPr>
          <p:cNvPr id="20" name="Ouvrage 1 000"/>
          <p:cNvSpPr/>
          <p:nvPr/>
        </p:nvSpPr>
        <p:spPr>
          <a:xfrm>
            <a:off x="8989466" y="1965960"/>
            <a:ext cx="2651760" cy="3429000"/>
          </a:xfrm>
          <a:prstGeom prst="roundRect">
            <a:avLst>
              <a:gd name="adj" fmla="val 4138"/>
            </a:avLst>
          </a:prstGeom>
          <a:solidFill>
            <a:schemeClr val="bg2"/>
          </a:solidFill>
          <a:ln/>
        </p:spPr>
      </p:sp>
      <p:pic>
        <p:nvPicPr>
          <p:cNvPr id="21" name="Image 3" descr="Rendu 3D : voirie et éclairage">    </p:cNvPr>
          <p:cNvPicPr>
            <a:picLocks noChangeAspect="1"/>
          </p:cNvPicPr>
          <p:nvPr/>
        </p:nvPicPr>
        <p:blipFill>
          <a:blip r:embed="rId4"/>
          <a:srcRect l="0" r="0" t="0" b="0"/>
          <a:stretch/>
        </p:blipFill>
        <p:spPr>
          <a:xfrm>
            <a:off x="9080906" y="2057400"/>
            <a:ext cx="2468880" cy="1417320"/>
          </a:xfrm>
          <a:prstGeom prst="rect">
            <a:avLst/>
          </a:prstGeom>
        </p:spPr>
      </p:pic>
      <p:sp>
        <p:nvSpPr>
          <p:cNvPr id="22" name="Text 15"/>
          <p:cNvSpPr txBox="1"/>
          <p:nvPr/>
        </p:nvSpPr>
        <p:spPr>
          <a:xfrm>
            <a:off x="9172346" y="3547872"/>
            <a:ext cx="2286000" cy="548640"/>
          </a:xfrm>
          <a:prstGeom prst="rect">
            <a:avLst/>
          </a:prstGeom>
          <a:noFill/>
          <a:ln/>
        </p:spPr>
        <p:txBody>
          <a:bodyPr wrap="square" lIns="0" tIns="0" rIns="0" bIns="0" rtlCol="0" anchor="ctr"/>
          <a:lstStyle/>
          <a:p>
            <a:pPr indent="0" marL="0">
              <a:buNone/>
            </a:pPr>
            <a:r>
              <a:rPr lang="en-US" sz="3000" b="1" dirty="0">
                <a:solidFill>
                  <a:schemeClr val="accent1"/>
                </a:solidFill>
              </a:rPr>
              <a:t>1 000</a:t>
            </a:r>
            <a:endParaRPr lang="en-US" sz="3000" dirty="0"/>
          </a:p>
        </p:txBody>
      </p:sp>
      <p:sp>
        <p:nvSpPr>
          <p:cNvPr id="23" name="Text 16"/>
          <p:cNvSpPr txBox="1"/>
          <p:nvPr/>
        </p:nvSpPr>
        <p:spPr>
          <a:xfrm>
            <a:off x="9172346" y="4114800"/>
            <a:ext cx="2286000" cy="868680"/>
          </a:xfrm>
          <a:prstGeom prst="rect">
            <a:avLst/>
          </a:prstGeom>
          <a:noFill/>
          <a:ln/>
        </p:spPr>
        <p:txBody>
          <a:bodyPr wrap="square" lIns="0" tIns="0" rIns="0" bIns="0" rtlCol="0" anchor="t"/>
          <a:lstStyle/>
          <a:p>
            <a:pPr indent="0" marL="0">
              <a:buNone/>
            </a:pPr>
            <a:r>
              <a:rPr lang="en-US" sz="1200" dirty="0">
                <a:solidFill>
                  <a:schemeClr val="tx1"/>
                </a:solidFill>
              </a:rPr>
              <a:t>quartiers et villages vulnérables rénovés, éclairage public inclus</a:t>
            </a:r>
            <a:endParaRPr lang="en-US" sz="1200" dirty="0"/>
          </a:p>
        </p:txBody>
      </p:sp>
      <p:sp>
        <p:nvSpPr>
          <p:cNvPr id="24" name="Text 17"/>
          <p:cNvSpPr txBox="1"/>
          <p:nvPr/>
        </p:nvSpPr>
        <p:spPr>
          <a:xfrm>
            <a:off x="9172346" y="5029200"/>
            <a:ext cx="2286000" cy="274320"/>
          </a:xfrm>
          <a:prstGeom prst="rect">
            <a:avLst/>
          </a:prstGeom>
          <a:noFill/>
          <a:ln/>
        </p:spPr>
        <p:txBody>
          <a:bodyPr wrap="square" lIns="0" tIns="0" rIns="0" bIns="0" rtlCol="0" anchor="ctr"/>
          <a:lstStyle/>
          <a:p>
            <a:pPr indent="0" marL="0">
              <a:buNone/>
            </a:pPr>
            <a:r>
              <a:rPr lang="en-US" sz="1000" b="1" dirty="0">
                <a:solidFill>
                  <a:schemeClr val="accent5"/>
                </a:solidFill>
              </a:rPr>
              <a:t>p. 23</a:t>
            </a:r>
            <a:endParaRPr lang="en-US" sz="1000" dirty="0"/>
          </a:p>
        </p:txBody>
      </p:sp>
      <p:sp>
        <p:nvSpPr>
          <p:cNvPr id="25" name="Bandeau lecture"/>
          <p:cNvSpPr/>
          <p:nvPr/>
        </p:nvSpPr>
        <p:spPr>
          <a:xfrm>
            <a:off x="548640" y="5504688"/>
            <a:ext cx="11091672" cy="502920"/>
          </a:xfrm>
          <a:prstGeom prst="roundRect">
            <a:avLst>
              <a:gd name="adj" fmla="val 21818"/>
            </a:avLst>
          </a:prstGeom>
          <a:solidFill>
            <a:schemeClr val="accent2"/>
          </a:solidFill>
          <a:ln/>
        </p:spPr>
      </p:sp>
      <p:sp>
        <p:nvSpPr>
          <p:cNvPr id="26" name="Text 19"/>
          <p:cNvSpPr txBox="1"/>
          <p:nvPr/>
        </p:nvSpPr>
        <p:spPr>
          <a:xfrm>
            <a:off x="822960" y="5504688"/>
            <a:ext cx="10607040" cy="502920"/>
          </a:xfrm>
          <a:prstGeom prst="rect">
            <a:avLst/>
          </a:prstGeom>
          <a:noFill/>
          <a:ln/>
        </p:spPr>
        <p:txBody>
          <a:bodyPr wrap="square" lIns="0" tIns="0" rIns="0" bIns="0" rtlCol="0" anchor="ctr"/>
          <a:lstStyle/>
          <a:p>
            <a:pPr indent="0" marL="0">
              <a:buNone/>
            </a:pPr>
            <a:r>
              <a:rPr lang="en-US" sz="1400" b="1" dirty="0">
                <a:solidFill>
                  <a:schemeClr val="tx2"/>
                </a:solidFill>
              </a:rPr>
              <a:t>NOTRE LECTURE  ·  Chaque nouvel ouvrage est aussi un ouvrage à entretenir, à suivre et à réparer.</a:t>
            </a:r>
            <a:endParaRPr lang="en-US" sz="1400" dirty="0"/>
          </a:p>
        </p:txBody>
      </p:sp>
      <p:sp>
        <p:nvSpPr>
          <p:cNvPr id="27" name="Text 20"/>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pages indiquées. Modèles 3D d'ouvrages types à l'échelle, pas des relevés de site.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ANALYSE DU BESOIN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programme annonce l'entretien et le suivi ; il ne décrit pas l'outil</a:t>
            </a:r>
            <a:endParaRPr lang="en-US" sz="2800" dirty="0"/>
          </a:p>
        </p:txBody>
      </p:sp>
      <p:sp>
        <p:nvSpPr>
          <p:cNvPr id="5" name="Secteur 0"/>
          <p:cNvSpPr/>
          <p:nvPr/>
        </p:nvSpPr>
        <p:spPr>
          <a:xfrm>
            <a:off x="548640" y="1965960"/>
            <a:ext cx="3611880" cy="3611880"/>
          </a:xfrm>
          <a:prstGeom prst="roundRect">
            <a:avLst>
              <a:gd name="adj" fmla="val 3038"/>
            </a:avLst>
          </a:prstGeom>
          <a:solidFill>
            <a:schemeClr val="bg2"/>
          </a:solidFill>
          <a:ln/>
        </p:spPr>
      </p:sp>
      <p:pic>
        <p:nvPicPr>
          <p:cNvPr id="6" name="Image 0" descr="SPORTS  ·  P. 25">    </p:cNvPr>
          <p:cNvPicPr>
            <a:picLocks noChangeAspect="1"/>
          </p:cNvPicPr>
          <p:nvPr/>
        </p:nvPicPr>
        <p:blipFill>
          <a:blip r:embed="rId1"/>
          <a:srcRect l="0" r="0" t="0" b="0"/>
          <a:stretch/>
        </p:blipFill>
        <p:spPr>
          <a:xfrm>
            <a:off x="640080" y="2057400"/>
            <a:ext cx="3429000" cy="1463040"/>
          </a:xfrm>
          <a:prstGeom prst="rect">
            <a:avLst/>
          </a:prstGeom>
        </p:spPr>
      </p:pic>
      <p:sp>
        <p:nvSpPr>
          <p:cNvPr id="7" name="Shape 3"/>
          <p:cNvSpPr/>
          <p:nvPr/>
        </p:nvSpPr>
        <p:spPr>
          <a:xfrm>
            <a:off x="685800" y="3611880"/>
            <a:ext cx="3337560" cy="384048"/>
          </a:xfrm>
          <a:prstGeom prst="roundRect">
            <a:avLst>
              <a:gd name="adj" fmla="val 50000"/>
            </a:avLst>
          </a:prstGeom>
          <a:solidFill>
            <a:schemeClr val="accent6"/>
          </a:solidFill>
          <a:ln/>
        </p:spPr>
      </p:sp>
      <p:sp>
        <p:nvSpPr>
          <p:cNvPr id="8" name="Shape 4"/>
          <p:cNvSpPr/>
          <p:nvPr/>
        </p:nvSpPr>
        <p:spPr>
          <a:xfrm>
            <a:off x="722376" y="3648456"/>
            <a:ext cx="310896" cy="310896"/>
          </a:xfrm>
          <a:prstGeom prst="ellipse">
            <a:avLst/>
          </a:prstGeom>
          <a:solidFill>
            <a:schemeClr val="bg1"/>
          </a:solidFill>
          <a:ln/>
        </p:spPr>
      </p:sp>
      <p:pic>
        <p:nvPicPr>
          <p:cNvPr id="9" name="Image 1" descr="preencoded.png">    </p:cNvPr>
          <p:cNvPicPr>
            <a:picLocks noChangeAspect="1"/>
          </p:cNvPicPr>
          <p:nvPr/>
        </p:nvPicPr>
        <p:blipFill>
          <a:blip r:embed="rId2"/>
          <a:stretch>
            <a:fillRect/>
          </a:stretch>
        </p:blipFill>
        <p:spPr>
          <a:xfrm>
            <a:off x="795528" y="3721608"/>
            <a:ext cx="164592" cy="164592"/>
          </a:xfrm>
          <a:prstGeom prst="rect">
            <a:avLst/>
          </a:prstGeom>
        </p:spPr>
      </p:pic>
      <p:sp>
        <p:nvSpPr>
          <p:cNvPr id="10" name="Text 5"/>
          <p:cNvSpPr txBox="1"/>
          <p:nvPr/>
        </p:nvSpPr>
        <p:spPr>
          <a:xfrm>
            <a:off x="1143000" y="3611880"/>
            <a:ext cx="2788920" cy="384048"/>
          </a:xfrm>
          <a:prstGeom prst="rect">
            <a:avLst/>
          </a:prstGeom>
          <a:noFill/>
          <a:ln/>
        </p:spPr>
        <p:txBody>
          <a:bodyPr wrap="square" lIns="0" tIns="0" rIns="0" bIns="0" rtlCol="0" anchor="ctr"/>
          <a:lstStyle/>
          <a:p>
            <a:pPr indent="0" marL="0">
              <a:buNone/>
            </a:pPr>
            <a:r>
              <a:rPr lang="en-US" sz="1100" b="1" dirty="0">
                <a:solidFill>
                  <a:schemeClr val="bg1"/>
                </a:solidFill>
              </a:rPr>
              <a:t>SPORTS  ·  P. 25</a:t>
            </a:r>
            <a:endParaRPr lang="en-US" sz="1100" dirty="0"/>
          </a:p>
        </p:txBody>
      </p:sp>
      <p:sp>
        <p:nvSpPr>
          <p:cNvPr id="11" name="Text 6"/>
          <p:cNvSpPr txBox="1"/>
          <p:nvPr/>
        </p:nvSpPr>
        <p:spPr>
          <a:xfrm>
            <a:off x="777240" y="4050792"/>
            <a:ext cx="3200400" cy="201168"/>
          </a:xfrm>
          <a:prstGeom prst="rect">
            <a:avLst/>
          </a:prstGeom>
          <a:noFill/>
          <a:ln/>
        </p:spPr>
        <p:txBody>
          <a:bodyPr wrap="square" lIns="0" tIns="0" rIns="0" bIns="0" rtlCol="0" anchor="ctr"/>
          <a:lstStyle/>
          <a:p>
            <a:pPr indent="0" marL="0">
              <a:buNone/>
            </a:pPr>
            <a:r>
              <a:rPr lang="en-US" sz="900" b="1" spc="200" kern="0" dirty="0">
                <a:solidFill>
                  <a:schemeClr val="accent5"/>
                </a:solidFill>
              </a:rPr>
              <a:t>LE PROGRAMME ANNONCE</a:t>
            </a:r>
            <a:endParaRPr lang="en-US" sz="900" dirty="0"/>
          </a:p>
        </p:txBody>
      </p:sp>
      <p:sp>
        <p:nvSpPr>
          <p:cNvPr id="12" name="Text 7"/>
          <p:cNvSpPr txBox="1"/>
          <p:nvPr/>
        </p:nvSpPr>
        <p:spPr>
          <a:xfrm>
            <a:off x="777240" y="4261104"/>
            <a:ext cx="3200400" cy="658368"/>
          </a:xfrm>
          <a:prstGeom prst="rect">
            <a:avLst/>
          </a:prstGeom>
          <a:noFill/>
          <a:ln/>
        </p:spPr>
        <p:txBody>
          <a:bodyPr wrap="square" lIns="0" tIns="0" rIns="0" bIns="0" rtlCol="0" anchor="t"/>
          <a:lstStyle/>
          <a:p>
            <a:pPr indent="0" marL="0">
              <a:buNone/>
            </a:pPr>
            <a:r>
              <a:rPr lang="en-US" sz="1150" dirty="0">
                <a:solidFill>
                  <a:schemeClr val="tx1"/>
                </a:solidFill>
              </a:rPr>
              <a:t>Dispositif de maintenance et de renouvellement adossé à un système de suivi technique ; fréquentation suivie.</a:t>
            </a:r>
            <a:endParaRPr lang="en-US" sz="1150" dirty="0"/>
          </a:p>
        </p:txBody>
      </p:sp>
      <p:sp>
        <p:nvSpPr>
          <p:cNvPr id="13" name="Lecture 0"/>
          <p:cNvSpPr/>
          <p:nvPr/>
        </p:nvSpPr>
        <p:spPr>
          <a:xfrm>
            <a:off x="685800" y="4937760"/>
            <a:ext cx="3337560" cy="566928"/>
          </a:xfrm>
          <a:prstGeom prst="roundRect">
            <a:avLst>
              <a:gd name="adj" fmla="val 19355"/>
            </a:avLst>
          </a:prstGeom>
          <a:solidFill>
            <a:schemeClr val="accent4"/>
          </a:solidFill>
          <a:ln/>
        </p:spPr>
      </p:sp>
      <p:sp>
        <p:nvSpPr>
          <p:cNvPr id="14" name="Text 9"/>
          <p:cNvSpPr txBox="1"/>
          <p:nvPr/>
        </p:nvSpPr>
        <p:spPr>
          <a:xfrm>
            <a:off x="822960" y="4937760"/>
            <a:ext cx="3108960" cy="566928"/>
          </a:xfrm>
          <a:prstGeom prst="rect">
            <a:avLst/>
          </a:prstGeom>
          <a:noFill/>
          <a:ln/>
        </p:spPr>
        <p:txBody>
          <a:bodyPr wrap="square" lIns="0" tIns="0" rIns="0" bIns="0" rtlCol="0" anchor="ctr"/>
          <a:lstStyle/>
          <a:p>
            <a:pPr indent="0" marL="0">
              <a:buNone/>
            </a:pPr>
            <a:r>
              <a:rPr lang="en-US" sz="1100" b="1" dirty="0">
                <a:solidFill>
                  <a:schemeClr val="tx2"/>
                </a:solidFill>
              </a:rPr>
              <a:t>Qui voit l'état de 546 espaces, et sur quelles données ?</a:t>
            </a:r>
            <a:endParaRPr lang="en-US" sz="1100" dirty="0"/>
          </a:p>
        </p:txBody>
      </p:sp>
      <p:sp>
        <p:nvSpPr>
          <p:cNvPr id="15" name="Secteur 1"/>
          <p:cNvSpPr/>
          <p:nvPr/>
        </p:nvSpPr>
        <p:spPr>
          <a:xfrm>
            <a:off x="4288536" y="1965960"/>
            <a:ext cx="3611880" cy="3611880"/>
          </a:xfrm>
          <a:prstGeom prst="roundRect">
            <a:avLst>
              <a:gd name="adj" fmla="val 3038"/>
            </a:avLst>
          </a:prstGeom>
          <a:solidFill>
            <a:schemeClr val="bg2"/>
          </a:solidFill>
          <a:ln/>
        </p:spPr>
      </p:sp>
      <p:pic>
        <p:nvPicPr>
          <p:cNvPr id="16" name="Image 2" descr="ARTISANAT  ·  P. 41">    </p:cNvPr>
          <p:cNvPicPr>
            <a:picLocks noChangeAspect="1"/>
          </p:cNvPicPr>
          <p:nvPr/>
        </p:nvPicPr>
        <p:blipFill>
          <a:blip r:embed="rId3"/>
          <a:srcRect l="0" r="0" t="0" b="0"/>
          <a:stretch/>
        </p:blipFill>
        <p:spPr>
          <a:xfrm>
            <a:off x="4379976" y="2057400"/>
            <a:ext cx="3429000" cy="1463040"/>
          </a:xfrm>
          <a:prstGeom prst="rect">
            <a:avLst/>
          </a:prstGeom>
        </p:spPr>
      </p:pic>
      <p:sp>
        <p:nvSpPr>
          <p:cNvPr id="17" name="Shape 11"/>
          <p:cNvSpPr/>
          <p:nvPr/>
        </p:nvSpPr>
        <p:spPr>
          <a:xfrm>
            <a:off x="4425696" y="3611880"/>
            <a:ext cx="3337560" cy="384048"/>
          </a:xfrm>
          <a:prstGeom prst="roundRect">
            <a:avLst>
              <a:gd name="adj" fmla="val 50000"/>
            </a:avLst>
          </a:prstGeom>
          <a:solidFill>
            <a:schemeClr val="accent6"/>
          </a:solidFill>
          <a:ln/>
        </p:spPr>
      </p:sp>
      <p:sp>
        <p:nvSpPr>
          <p:cNvPr id="18" name="Shape 12"/>
          <p:cNvSpPr/>
          <p:nvPr/>
        </p:nvSpPr>
        <p:spPr>
          <a:xfrm>
            <a:off x="4462272" y="3648456"/>
            <a:ext cx="310896" cy="310896"/>
          </a:xfrm>
          <a:prstGeom prst="ellipse">
            <a:avLst/>
          </a:prstGeom>
          <a:solidFill>
            <a:schemeClr val="bg1"/>
          </a:solidFill>
          <a:ln/>
        </p:spPr>
      </p:sp>
      <p:pic>
        <p:nvPicPr>
          <p:cNvPr id="19" name="Image 3" descr="preencoded.png">    </p:cNvPr>
          <p:cNvPicPr>
            <a:picLocks noChangeAspect="1"/>
          </p:cNvPicPr>
          <p:nvPr/>
        </p:nvPicPr>
        <p:blipFill>
          <a:blip r:embed="rId4"/>
          <a:stretch>
            <a:fillRect/>
          </a:stretch>
        </p:blipFill>
        <p:spPr>
          <a:xfrm>
            <a:off x="4535424" y="3721608"/>
            <a:ext cx="164592" cy="164592"/>
          </a:xfrm>
          <a:prstGeom prst="rect">
            <a:avLst/>
          </a:prstGeom>
        </p:spPr>
      </p:pic>
      <p:sp>
        <p:nvSpPr>
          <p:cNvPr id="20" name="Text 13"/>
          <p:cNvSpPr txBox="1"/>
          <p:nvPr/>
        </p:nvSpPr>
        <p:spPr>
          <a:xfrm>
            <a:off x="4882896" y="3611880"/>
            <a:ext cx="2788920" cy="384048"/>
          </a:xfrm>
          <a:prstGeom prst="rect">
            <a:avLst/>
          </a:prstGeom>
          <a:noFill/>
          <a:ln/>
        </p:spPr>
        <p:txBody>
          <a:bodyPr wrap="square" lIns="0" tIns="0" rIns="0" bIns="0" rtlCol="0" anchor="ctr"/>
          <a:lstStyle/>
          <a:p>
            <a:pPr indent="0" marL="0">
              <a:buNone/>
            </a:pPr>
            <a:r>
              <a:rPr lang="en-US" sz="1100" b="1" dirty="0">
                <a:solidFill>
                  <a:schemeClr val="bg1"/>
                </a:solidFill>
              </a:rPr>
              <a:t>ARTISANAT  ·  P. 41</a:t>
            </a:r>
            <a:endParaRPr lang="en-US" sz="1100" dirty="0"/>
          </a:p>
        </p:txBody>
      </p:sp>
      <p:sp>
        <p:nvSpPr>
          <p:cNvPr id="21" name="Text 14"/>
          <p:cNvSpPr txBox="1"/>
          <p:nvPr/>
        </p:nvSpPr>
        <p:spPr>
          <a:xfrm>
            <a:off x="4517136" y="4050792"/>
            <a:ext cx="3200400" cy="201168"/>
          </a:xfrm>
          <a:prstGeom prst="rect">
            <a:avLst/>
          </a:prstGeom>
          <a:noFill/>
          <a:ln/>
        </p:spPr>
        <p:txBody>
          <a:bodyPr wrap="square" lIns="0" tIns="0" rIns="0" bIns="0" rtlCol="0" anchor="ctr"/>
          <a:lstStyle/>
          <a:p>
            <a:pPr indent="0" marL="0">
              <a:buNone/>
            </a:pPr>
            <a:r>
              <a:rPr lang="en-US" sz="900" b="1" spc="200" kern="0" dirty="0">
                <a:solidFill>
                  <a:schemeClr val="accent5"/>
                </a:solidFill>
              </a:rPr>
              <a:t>LE PROGRAMME ANNONCE</a:t>
            </a:r>
            <a:endParaRPr lang="en-US" sz="900" dirty="0"/>
          </a:p>
        </p:txBody>
      </p:sp>
      <p:sp>
        <p:nvSpPr>
          <p:cNvPr id="22" name="Text 15"/>
          <p:cNvSpPr txBox="1"/>
          <p:nvPr/>
        </p:nvSpPr>
        <p:spPr>
          <a:xfrm>
            <a:off x="4517136" y="4261104"/>
            <a:ext cx="3200400" cy="658368"/>
          </a:xfrm>
          <a:prstGeom prst="rect">
            <a:avLst/>
          </a:prstGeom>
          <a:noFill/>
          <a:ln/>
        </p:spPr>
        <p:txBody>
          <a:bodyPr wrap="square" lIns="0" tIns="0" rIns="0" bIns="0" rtlCol="0" anchor="t"/>
          <a:lstStyle/>
          <a:p>
            <a:pPr indent="0" marL="0">
              <a:buNone/>
            </a:pPr>
            <a:r>
              <a:rPr lang="en-US" sz="1150" dirty="0">
                <a:solidFill>
                  <a:schemeClr val="tx1"/>
                </a:solidFill>
              </a:rPr>
              <a:t>Gestion confiée à des opérateurs privés sous cahier des charges : entretien, suivi de l'usure, contrôle régulier de l'État.</a:t>
            </a:r>
            <a:endParaRPr lang="en-US" sz="1150" dirty="0"/>
          </a:p>
        </p:txBody>
      </p:sp>
      <p:sp>
        <p:nvSpPr>
          <p:cNvPr id="23" name="Lecture 1"/>
          <p:cNvSpPr/>
          <p:nvPr/>
        </p:nvSpPr>
        <p:spPr>
          <a:xfrm>
            <a:off x="4425696" y="4937760"/>
            <a:ext cx="3337560" cy="566928"/>
          </a:xfrm>
          <a:prstGeom prst="roundRect">
            <a:avLst>
              <a:gd name="adj" fmla="val 19355"/>
            </a:avLst>
          </a:prstGeom>
          <a:solidFill>
            <a:schemeClr val="accent4"/>
          </a:solidFill>
          <a:ln/>
        </p:spPr>
      </p:sp>
      <p:sp>
        <p:nvSpPr>
          <p:cNvPr id="24" name="Text 17"/>
          <p:cNvSpPr txBox="1"/>
          <p:nvPr/>
        </p:nvSpPr>
        <p:spPr>
          <a:xfrm>
            <a:off x="4562856" y="4937760"/>
            <a:ext cx="3108960" cy="566928"/>
          </a:xfrm>
          <a:prstGeom prst="rect">
            <a:avLst/>
          </a:prstGeom>
          <a:noFill/>
          <a:ln/>
        </p:spPr>
        <p:txBody>
          <a:bodyPr wrap="square" lIns="0" tIns="0" rIns="0" bIns="0" rtlCol="0" anchor="ctr"/>
          <a:lstStyle/>
          <a:p>
            <a:pPr indent="0" marL="0">
              <a:buNone/>
            </a:pPr>
            <a:r>
              <a:rPr lang="en-US" sz="1100" b="1" dirty="0">
                <a:solidFill>
                  <a:schemeClr val="tx2"/>
                </a:solidFill>
              </a:rPr>
              <a:t>Comment l'opérateur prouve-t-il l'entretien fait, et l'État le vérifie-t-il ?</a:t>
            </a:r>
            <a:endParaRPr lang="en-US" sz="1100" dirty="0"/>
          </a:p>
        </p:txBody>
      </p:sp>
      <p:sp>
        <p:nvSpPr>
          <p:cNvPr id="25" name="Secteur 2"/>
          <p:cNvSpPr/>
          <p:nvPr/>
        </p:nvSpPr>
        <p:spPr>
          <a:xfrm>
            <a:off x="8028432" y="1965960"/>
            <a:ext cx="3611880" cy="3611880"/>
          </a:xfrm>
          <a:prstGeom prst="roundRect">
            <a:avLst>
              <a:gd name="adj" fmla="val 3038"/>
            </a:avLst>
          </a:prstGeom>
          <a:solidFill>
            <a:schemeClr val="bg2"/>
          </a:solidFill>
          <a:ln/>
        </p:spPr>
      </p:sp>
      <p:pic>
        <p:nvPicPr>
          <p:cNvPr id="26" name="Image 4" descr="EAU POTABLE  ·  P. 21">    </p:cNvPr>
          <p:cNvPicPr>
            <a:picLocks noChangeAspect="1"/>
          </p:cNvPicPr>
          <p:nvPr/>
        </p:nvPicPr>
        <p:blipFill>
          <a:blip r:embed="rId5"/>
          <a:srcRect l="0" r="0" t="0" b="0"/>
          <a:stretch/>
        </p:blipFill>
        <p:spPr>
          <a:xfrm>
            <a:off x="8119872" y="2057400"/>
            <a:ext cx="3429000" cy="1463040"/>
          </a:xfrm>
          <a:prstGeom prst="rect">
            <a:avLst/>
          </a:prstGeom>
        </p:spPr>
      </p:pic>
      <p:sp>
        <p:nvSpPr>
          <p:cNvPr id="27" name="Shape 19"/>
          <p:cNvSpPr/>
          <p:nvPr/>
        </p:nvSpPr>
        <p:spPr>
          <a:xfrm>
            <a:off x="8165592" y="3611880"/>
            <a:ext cx="3337560" cy="384048"/>
          </a:xfrm>
          <a:prstGeom prst="roundRect">
            <a:avLst>
              <a:gd name="adj" fmla="val 50000"/>
            </a:avLst>
          </a:prstGeom>
          <a:solidFill>
            <a:schemeClr val="accent6"/>
          </a:solidFill>
          <a:ln/>
        </p:spPr>
      </p:sp>
      <p:sp>
        <p:nvSpPr>
          <p:cNvPr id="28" name="Shape 20"/>
          <p:cNvSpPr/>
          <p:nvPr/>
        </p:nvSpPr>
        <p:spPr>
          <a:xfrm>
            <a:off x="8202168" y="3648456"/>
            <a:ext cx="310896" cy="310896"/>
          </a:xfrm>
          <a:prstGeom prst="ellipse">
            <a:avLst/>
          </a:prstGeom>
          <a:solidFill>
            <a:schemeClr val="bg1"/>
          </a:solidFill>
          <a:ln/>
        </p:spPr>
      </p:sp>
      <p:pic>
        <p:nvPicPr>
          <p:cNvPr id="29" name="Image 5" descr="preencoded.png">    </p:cNvPr>
          <p:cNvPicPr>
            <a:picLocks noChangeAspect="1"/>
          </p:cNvPicPr>
          <p:nvPr/>
        </p:nvPicPr>
        <p:blipFill>
          <a:blip r:embed="rId6"/>
          <a:stretch>
            <a:fillRect/>
          </a:stretch>
        </p:blipFill>
        <p:spPr>
          <a:xfrm>
            <a:off x="8275320" y="3721608"/>
            <a:ext cx="164592" cy="164592"/>
          </a:xfrm>
          <a:prstGeom prst="rect">
            <a:avLst/>
          </a:prstGeom>
        </p:spPr>
      </p:pic>
      <p:sp>
        <p:nvSpPr>
          <p:cNvPr id="30" name="Text 21"/>
          <p:cNvSpPr txBox="1"/>
          <p:nvPr/>
        </p:nvSpPr>
        <p:spPr>
          <a:xfrm>
            <a:off x="8622792" y="3611880"/>
            <a:ext cx="2788920" cy="384048"/>
          </a:xfrm>
          <a:prstGeom prst="rect">
            <a:avLst/>
          </a:prstGeom>
          <a:noFill/>
          <a:ln/>
        </p:spPr>
        <p:txBody>
          <a:bodyPr wrap="square" lIns="0" tIns="0" rIns="0" bIns="0" rtlCol="0" anchor="ctr"/>
          <a:lstStyle/>
          <a:p>
            <a:pPr indent="0" marL="0">
              <a:buNone/>
            </a:pPr>
            <a:r>
              <a:rPr lang="en-US" sz="1100" b="1" dirty="0">
                <a:solidFill>
                  <a:schemeClr val="bg1"/>
                </a:solidFill>
              </a:rPr>
              <a:t>EAU POTABLE  ·  P. 21</a:t>
            </a:r>
            <a:endParaRPr lang="en-US" sz="1100" dirty="0"/>
          </a:p>
        </p:txBody>
      </p:sp>
      <p:sp>
        <p:nvSpPr>
          <p:cNvPr id="31" name="Text 22"/>
          <p:cNvSpPr txBox="1"/>
          <p:nvPr/>
        </p:nvSpPr>
        <p:spPr>
          <a:xfrm>
            <a:off x="8257032" y="4050792"/>
            <a:ext cx="3200400" cy="201168"/>
          </a:xfrm>
          <a:prstGeom prst="rect">
            <a:avLst/>
          </a:prstGeom>
          <a:noFill/>
          <a:ln/>
        </p:spPr>
        <p:txBody>
          <a:bodyPr wrap="square" lIns="0" tIns="0" rIns="0" bIns="0" rtlCol="0" anchor="ctr"/>
          <a:lstStyle/>
          <a:p>
            <a:pPr indent="0" marL="0">
              <a:buNone/>
            </a:pPr>
            <a:r>
              <a:rPr lang="en-US" sz="900" b="1" spc="200" kern="0" dirty="0">
                <a:solidFill>
                  <a:schemeClr val="accent5"/>
                </a:solidFill>
              </a:rPr>
              <a:t>LE PROGRAMME ANNONCE</a:t>
            </a:r>
            <a:endParaRPr lang="en-US" sz="900" dirty="0"/>
          </a:p>
        </p:txBody>
      </p:sp>
      <p:sp>
        <p:nvSpPr>
          <p:cNvPr id="32" name="Text 23"/>
          <p:cNvSpPr txBox="1"/>
          <p:nvPr/>
        </p:nvSpPr>
        <p:spPr>
          <a:xfrm>
            <a:off x="8257032" y="4261104"/>
            <a:ext cx="3200400" cy="658368"/>
          </a:xfrm>
          <a:prstGeom prst="rect">
            <a:avLst/>
          </a:prstGeom>
          <a:noFill/>
          <a:ln/>
        </p:spPr>
        <p:txBody>
          <a:bodyPr wrap="square" lIns="0" tIns="0" rIns="0" bIns="0" rtlCol="0" anchor="t"/>
          <a:lstStyle/>
          <a:p>
            <a:pPr indent="0" marL="0">
              <a:buNone/>
            </a:pPr>
            <a:r>
              <a:rPr lang="en-US" sz="1150" dirty="0">
                <a:solidFill>
                  <a:schemeClr val="tx1"/>
                </a:solidFill>
              </a:rPr>
              <a:t>Forages sécurisés avec pompes modernes et capteurs intelligents ; technologies de suivi ; pertes d'eau de 32 % à 15 %.</a:t>
            </a:r>
            <a:endParaRPr lang="en-US" sz="1150" dirty="0"/>
          </a:p>
        </p:txBody>
      </p:sp>
      <p:sp>
        <p:nvSpPr>
          <p:cNvPr id="33" name="Lecture 2"/>
          <p:cNvSpPr/>
          <p:nvPr/>
        </p:nvSpPr>
        <p:spPr>
          <a:xfrm>
            <a:off x="8165592" y="4937760"/>
            <a:ext cx="3337560" cy="566928"/>
          </a:xfrm>
          <a:prstGeom prst="roundRect">
            <a:avLst>
              <a:gd name="adj" fmla="val 19355"/>
            </a:avLst>
          </a:prstGeom>
          <a:solidFill>
            <a:schemeClr val="accent4"/>
          </a:solidFill>
          <a:ln/>
        </p:spPr>
      </p:sp>
      <p:sp>
        <p:nvSpPr>
          <p:cNvPr id="34" name="Text 25"/>
          <p:cNvSpPr txBox="1"/>
          <p:nvPr/>
        </p:nvSpPr>
        <p:spPr>
          <a:xfrm>
            <a:off x="8302752" y="4937760"/>
            <a:ext cx="3108960" cy="566928"/>
          </a:xfrm>
          <a:prstGeom prst="rect">
            <a:avLst/>
          </a:prstGeom>
          <a:noFill/>
          <a:ln/>
        </p:spPr>
        <p:txBody>
          <a:bodyPr wrap="square" lIns="0" tIns="0" rIns="0" bIns="0" rtlCol="0" anchor="ctr"/>
          <a:lstStyle/>
          <a:p>
            <a:pPr indent="0" marL="0">
              <a:buNone/>
            </a:pPr>
            <a:r>
              <a:rPr lang="en-US" sz="1100" b="1" dirty="0">
                <a:solidFill>
                  <a:schemeClr val="tx2"/>
                </a:solidFill>
              </a:rPr>
              <a:t>Où est conservé l'historique de chaque ouvrage, au-delà du capteur ?</a:t>
            </a:r>
            <a:endParaRPr lang="en-US" sz="1100" dirty="0"/>
          </a:p>
        </p:txBody>
      </p:sp>
      <p:sp>
        <p:nvSpPr>
          <p:cNvPr id="35" name="Bandeau constat"/>
          <p:cNvSpPr/>
          <p:nvPr/>
        </p:nvSpPr>
        <p:spPr>
          <a:xfrm>
            <a:off x="548640" y="5669280"/>
            <a:ext cx="11091672" cy="384048"/>
          </a:xfrm>
          <a:prstGeom prst="roundRect">
            <a:avLst>
              <a:gd name="adj" fmla="val 28571"/>
            </a:avLst>
          </a:prstGeom>
          <a:solidFill>
            <a:schemeClr val="tx2"/>
          </a:solidFill>
          <a:ln/>
        </p:spPr>
      </p:sp>
      <p:sp>
        <p:nvSpPr>
          <p:cNvPr id="36" name="Text 27"/>
          <p:cNvSpPr txBox="1"/>
          <p:nvPr/>
        </p:nvSpPr>
        <p:spPr>
          <a:xfrm>
            <a:off x="822960" y="5669280"/>
            <a:ext cx="10515600" cy="384048"/>
          </a:xfrm>
          <a:prstGeom prst="rect">
            <a:avLst/>
          </a:prstGeom>
          <a:noFill/>
          <a:ln/>
        </p:spPr>
        <p:txBody>
          <a:bodyPr wrap="square" lIns="0" tIns="0" rIns="0" bIns="0" rtlCol="0" anchor="ctr"/>
          <a:lstStyle/>
          <a:p>
            <a:pPr indent="0" marL="0">
              <a:buNone/>
            </a:pPr>
            <a:r>
              <a:rPr lang="en-US" sz="1300" b="1" dirty="0">
                <a:solidFill>
                  <a:schemeClr val="accent2"/>
                </a:solidFill>
              </a:rPr>
              <a:t>Le texte annonce le suivi. Il ne décrit pas encore l'outil commun qui le rend possible.</a:t>
            </a:r>
            <a:endParaRPr lang="en-US" sz="1300" dirty="0"/>
          </a:p>
        </p:txBody>
      </p:sp>
      <p:sp>
        <p:nvSpPr>
          <p:cNvPr id="37" name="Text 28"/>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21, 25 et 41. « Notre lecture » : formulation de l'auteur. Modèles 3D d'ouvrages types à l'échelle.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SYNTHÈSE DU BESOIN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Notre lecture : quatre besoins découlent de ces annonces</a:t>
            </a:r>
            <a:endParaRPr lang="en-US" sz="2800" dirty="0"/>
          </a:p>
        </p:txBody>
      </p:sp>
      <p:sp>
        <p:nvSpPr>
          <p:cNvPr id="5" name="Besoin Savoir ce que l'on possède"/>
          <p:cNvSpPr/>
          <p:nvPr/>
        </p:nvSpPr>
        <p:spPr>
          <a:xfrm>
            <a:off x="548640" y="2011680"/>
            <a:ext cx="2651760" cy="3931920"/>
          </a:xfrm>
          <a:prstGeom prst="roundRect">
            <a:avLst>
              <a:gd name="adj" fmla="val 4138"/>
            </a:avLst>
          </a:prstGeom>
          <a:solidFill>
            <a:schemeClr val="bg2"/>
          </a:solidFill>
          <a:ln/>
        </p:spPr>
      </p:sp>
      <p:sp>
        <p:nvSpPr>
          <p:cNvPr id="6" name="Shape 3"/>
          <p:cNvSpPr/>
          <p:nvPr/>
        </p:nvSpPr>
        <p:spPr>
          <a:xfrm>
            <a:off x="777240" y="2240280"/>
            <a:ext cx="685800" cy="6858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62406" y="2425446"/>
            <a:ext cx="315468" cy="315468"/>
          </a:xfrm>
          <a:prstGeom prst="rect">
            <a:avLst/>
          </a:prstGeom>
        </p:spPr>
      </p:pic>
      <p:sp>
        <p:nvSpPr>
          <p:cNvPr id="8" name="Text 4"/>
          <p:cNvSpPr txBox="1"/>
          <p:nvPr/>
        </p:nvSpPr>
        <p:spPr>
          <a:xfrm>
            <a:off x="777240" y="3063240"/>
            <a:ext cx="2194560" cy="640080"/>
          </a:xfrm>
          <a:prstGeom prst="rect">
            <a:avLst/>
          </a:prstGeom>
          <a:noFill/>
          <a:ln/>
        </p:spPr>
        <p:txBody>
          <a:bodyPr wrap="square" lIns="0" tIns="0" rIns="0" bIns="0" rtlCol="0" anchor="t"/>
          <a:lstStyle/>
          <a:p>
            <a:pPr indent="0" marL="0">
              <a:buNone/>
            </a:pPr>
            <a:r>
              <a:rPr lang="en-US" sz="1700" b="1" dirty="0">
                <a:solidFill>
                  <a:schemeClr val="tx2"/>
                </a:solidFill>
              </a:rPr>
              <a:t>Savoir ce que l'on possède</a:t>
            </a:r>
            <a:endParaRPr lang="en-US" sz="1700" dirty="0"/>
          </a:p>
        </p:txBody>
      </p:sp>
      <p:sp>
        <p:nvSpPr>
          <p:cNvPr id="9" name="Text 5"/>
          <p:cNvSpPr txBox="1"/>
          <p:nvPr/>
        </p:nvSpPr>
        <p:spPr>
          <a:xfrm>
            <a:off x="777240" y="3749040"/>
            <a:ext cx="2194560" cy="1188720"/>
          </a:xfrm>
          <a:prstGeom prst="rect">
            <a:avLst/>
          </a:prstGeom>
          <a:noFill/>
          <a:ln/>
        </p:spPr>
        <p:txBody>
          <a:bodyPr wrap="square" lIns="0" tIns="0" rIns="0" bIns="0" rtlCol="0" anchor="t"/>
          <a:lstStyle/>
          <a:p>
            <a:pPr indent="0" marL="0">
              <a:buNone/>
            </a:pPr>
            <a:r>
              <a:rPr lang="en-US" sz="1300" dirty="0">
                <a:solidFill>
                  <a:schemeClr val="tx1"/>
                </a:solidFill>
              </a:rPr>
              <a:t>Un inventaire unique et géolocalisé des ouvrages, avec leur âge et leur état.</a:t>
            </a:r>
            <a:endParaRPr lang="en-US" sz="1300" dirty="0"/>
          </a:p>
        </p:txBody>
      </p:sp>
      <p:sp>
        <p:nvSpPr>
          <p:cNvPr id="10" name="Text 6"/>
          <p:cNvSpPr txBox="1"/>
          <p:nvPr/>
        </p:nvSpPr>
        <p:spPr>
          <a:xfrm>
            <a:off x="777240" y="4983480"/>
            <a:ext cx="2194560" cy="228600"/>
          </a:xfrm>
          <a:prstGeom prst="rect">
            <a:avLst/>
          </a:prstGeom>
          <a:noFill/>
          <a:ln/>
        </p:spPr>
        <p:txBody>
          <a:bodyPr wrap="square" lIns="0" tIns="0" rIns="0" bIns="0" rtlCol="0" anchor="ctr"/>
          <a:lstStyle/>
          <a:p>
            <a:pPr indent="0" marL="0">
              <a:buNone/>
            </a:pPr>
            <a:r>
              <a:rPr lang="en-US" sz="900" b="1" spc="100" kern="0" dirty="0">
                <a:solidFill>
                  <a:schemeClr val="accent5"/>
                </a:solidFill>
              </a:rPr>
              <a:t>DANS LE PROGRAMME</a:t>
            </a:r>
            <a:endParaRPr lang="en-US" sz="900" dirty="0"/>
          </a:p>
        </p:txBody>
      </p:sp>
      <p:sp>
        <p:nvSpPr>
          <p:cNvPr id="11" name="Text 7"/>
          <p:cNvSpPr txBox="1"/>
          <p:nvPr/>
        </p:nvSpPr>
        <p:spPr>
          <a:xfrm>
            <a:off x="777240" y="5230368"/>
            <a:ext cx="2194560" cy="640080"/>
          </a:xfrm>
          <a:prstGeom prst="rect">
            <a:avLst/>
          </a:prstGeom>
          <a:noFill/>
          <a:ln/>
        </p:spPr>
        <p:txBody>
          <a:bodyPr wrap="square" lIns="0" tIns="0" rIns="0" bIns="0" rtlCol="0" anchor="t"/>
          <a:lstStyle/>
          <a:p>
            <a:pPr indent="0" marL="0">
              <a:buNone/>
            </a:pPr>
            <a:r>
              <a:rPr lang="en-US" sz="1100" b="1" dirty="0">
                <a:solidFill>
                  <a:schemeClr val="accent1"/>
                </a:solidFill>
              </a:rPr>
              <a:t>Cadastre numérique étendu à toutes les villes et zones rurales (p. 23)</a:t>
            </a:r>
            <a:endParaRPr lang="en-US" sz="1100" dirty="0"/>
          </a:p>
        </p:txBody>
      </p:sp>
      <p:sp>
        <p:nvSpPr>
          <p:cNvPr id="12" name="Besoin Prévenir"/>
          <p:cNvSpPr/>
          <p:nvPr/>
        </p:nvSpPr>
        <p:spPr>
          <a:xfrm>
            <a:off x="3362249" y="2011680"/>
            <a:ext cx="2651760" cy="3931920"/>
          </a:xfrm>
          <a:prstGeom prst="roundRect">
            <a:avLst>
              <a:gd name="adj" fmla="val 4138"/>
            </a:avLst>
          </a:prstGeom>
          <a:solidFill>
            <a:schemeClr val="bg2"/>
          </a:solidFill>
          <a:ln/>
        </p:spPr>
      </p:sp>
      <p:sp>
        <p:nvSpPr>
          <p:cNvPr id="13" name="Shape 9"/>
          <p:cNvSpPr/>
          <p:nvPr/>
        </p:nvSpPr>
        <p:spPr>
          <a:xfrm>
            <a:off x="3590849" y="2240280"/>
            <a:ext cx="685800" cy="68580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776015" y="2425446"/>
            <a:ext cx="315468" cy="315468"/>
          </a:xfrm>
          <a:prstGeom prst="rect">
            <a:avLst/>
          </a:prstGeom>
        </p:spPr>
      </p:pic>
      <p:sp>
        <p:nvSpPr>
          <p:cNvPr id="15" name="Text 10"/>
          <p:cNvSpPr txBox="1"/>
          <p:nvPr/>
        </p:nvSpPr>
        <p:spPr>
          <a:xfrm>
            <a:off x="3590849" y="3063240"/>
            <a:ext cx="2194560" cy="640080"/>
          </a:xfrm>
          <a:prstGeom prst="rect">
            <a:avLst/>
          </a:prstGeom>
          <a:noFill/>
          <a:ln/>
        </p:spPr>
        <p:txBody>
          <a:bodyPr wrap="square" lIns="0" tIns="0" rIns="0" bIns="0" rtlCol="0" anchor="t"/>
          <a:lstStyle/>
          <a:p>
            <a:pPr indent="0" marL="0">
              <a:buNone/>
            </a:pPr>
            <a:r>
              <a:rPr lang="en-US" sz="1700" b="1" dirty="0">
                <a:solidFill>
                  <a:schemeClr val="tx2"/>
                </a:solidFill>
              </a:rPr>
              <a:t>Prévenir</a:t>
            </a:r>
            <a:endParaRPr lang="en-US" sz="1700" dirty="0"/>
          </a:p>
        </p:txBody>
      </p:sp>
      <p:sp>
        <p:nvSpPr>
          <p:cNvPr id="16" name="Text 11"/>
          <p:cNvSpPr txBox="1"/>
          <p:nvPr/>
        </p:nvSpPr>
        <p:spPr>
          <a:xfrm>
            <a:off x="3590849" y="3749040"/>
            <a:ext cx="2194560" cy="1188720"/>
          </a:xfrm>
          <a:prstGeom prst="rect">
            <a:avLst/>
          </a:prstGeom>
          <a:noFill/>
          <a:ln/>
        </p:spPr>
        <p:txBody>
          <a:bodyPr wrap="square" lIns="0" tIns="0" rIns="0" bIns="0" rtlCol="0" anchor="t"/>
          <a:lstStyle/>
          <a:p>
            <a:pPr indent="0" marL="0">
              <a:buNone/>
            </a:pPr>
            <a:r>
              <a:rPr lang="en-US" sz="1300" dirty="0">
                <a:solidFill>
                  <a:schemeClr val="tx1"/>
                </a:solidFill>
              </a:rPr>
              <a:t>Un plan d'entretien par type d'ouvrage, avec des rappels avant la panne.</a:t>
            </a:r>
            <a:endParaRPr lang="en-US" sz="1300" dirty="0"/>
          </a:p>
        </p:txBody>
      </p:sp>
      <p:sp>
        <p:nvSpPr>
          <p:cNvPr id="17" name="Text 12"/>
          <p:cNvSpPr txBox="1"/>
          <p:nvPr/>
        </p:nvSpPr>
        <p:spPr>
          <a:xfrm>
            <a:off x="3590849" y="4983480"/>
            <a:ext cx="2194560" cy="228600"/>
          </a:xfrm>
          <a:prstGeom prst="rect">
            <a:avLst/>
          </a:prstGeom>
          <a:noFill/>
          <a:ln/>
        </p:spPr>
        <p:txBody>
          <a:bodyPr wrap="square" lIns="0" tIns="0" rIns="0" bIns="0" rtlCol="0" anchor="ctr"/>
          <a:lstStyle/>
          <a:p>
            <a:pPr indent="0" marL="0">
              <a:buNone/>
            </a:pPr>
            <a:r>
              <a:rPr lang="en-US" sz="900" b="1" spc="100" kern="0" dirty="0">
                <a:solidFill>
                  <a:schemeClr val="accent5"/>
                </a:solidFill>
              </a:rPr>
              <a:t>DANS LE PROGRAMME</a:t>
            </a:r>
            <a:endParaRPr lang="en-US" sz="900" dirty="0"/>
          </a:p>
        </p:txBody>
      </p:sp>
      <p:sp>
        <p:nvSpPr>
          <p:cNvPr id="18" name="Text 13"/>
          <p:cNvSpPr txBox="1"/>
          <p:nvPr/>
        </p:nvSpPr>
        <p:spPr>
          <a:xfrm>
            <a:off x="3590849" y="5230368"/>
            <a:ext cx="2194560" cy="640080"/>
          </a:xfrm>
          <a:prstGeom prst="rect">
            <a:avLst/>
          </a:prstGeom>
          <a:noFill/>
          <a:ln/>
        </p:spPr>
        <p:txBody>
          <a:bodyPr wrap="square" lIns="0" tIns="0" rIns="0" bIns="0" rtlCol="0" anchor="t"/>
          <a:lstStyle/>
          <a:p>
            <a:pPr indent="0" marL="0">
              <a:buNone/>
            </a:pPr>
            <a:r>
              <a:rPr lang="en-US" sz="1100" b="1" dirty="0">
                <a:solidFill>
                  <a:schemeClr val="accent1"/>
                </a:solidFill>
              </a:rPr>
              <a:t>Maintenance préventive et renouvellement des équipements (p. 25, 41)</a:t>
            </a:r>
            <a:endParaRPr lang="en-US" sz="1100" dirty="0"/>
          </a:p>
        </p:txBody>
      </p:sp>
      <p:sp>
        <p:nvSpPr>
          <p:cNvPr id="19" name="Besoin Réagir"/>
          <p:cNvSpPr/>
          <p:nvPr/>
        </p:nvSpPr>
        <p:spPr>
          <a:xfrm>
            <a:off x="6175858" y="2011680"/>
            <a:ext cx="2651760" cy="3931920"/>
          </a:xfrm>
          <a:prstGeom prst="roundRect">
            <a:avLst>
              <a:gd name="adj" fmla="val 4138"/>
            </a:avLst>
          </a:prstGeom>
          <a:solidFill>
            <a:schemeClr val="bg2"/>
          </a:solidFill>
          <a:ln/>
        </p:spPr>
      </p:sp>
      <p:sp>
        <p:nvSpPr>
          <p:cNvPr id="20" name="Shape 15"/>
          <p:cNvSpPr/>
          <p:nvPr/>
        </p:nvSpPr>
        <p:spPr>
          <a:xfrm>
            <a:off x="6404458" y="2240280"/>
            <a:ext cx="685800" cy="685800"/>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6589624" y="2425446"/>
            <a:ext cx="315468" cy="315468"/>
          </a:xfrm>
          <a:prstGeom prst="rect">
            <a:avLst/>
          </a:prstGeom>
        </p:spPr>
      </p:pic>
      <p:sp>
        <p:nvSpPr>
          <p:cNvPr id="22" name="Text 16"/>
          <p:cNvSpPr txBox="1"/>
          <p:nvPr/>
        </p:nvSpPr>
        <p:spPr>
          <a:xfrm>
            <a:off x="6404458" y="3063240"/>
            <a:ext cx="2194560" cy="640080"/>
          </a:xfrm>
          <a:prstGeom prst="rect">
            <a:avLst/>
          </a:prstGeom>
          <a:noFill/>
          <a:ln/>
        </p:spPr>
        <p:txBody>
          <a:bodyPr wrap="square" lIns="0" tIns="0" rIns="0" bIns="0" rtlCol="0" anchor="t"/>
          <a:lstStyle/>
          <a:p>
            <a:pPr indent="0" marL="0">
              <a:buNone/>
            </a:pPr>
            <a:r>
              <a:rPr lang="en-US" sz="1700" b="1" dirty="0">
                <a:solidFill>
                  <a:schemeClr val="tx2"/>
                </a:solidFill>
              </a:rPr>
              <a:t>Réagir</a:t>
            </a:r>
            <a:endParaRPr lang="en-US" sz="1700" dirty="0"/>
          </a:p>
        </p:txBody>
      </p:sp>
      <p:sp>
        <p:nvSpPr>
          <p:cNvPr id="23" name="Text 17"/>
          <p:cNvSpPr txBox="1"/>
          <p:nvPr/>
        </p:nvSpPr>
        <p:spPr>
          <a:xfrm>
            <a:off x="6404458" y="3749040"/>
            <a:ext cx="2194560" cy="1188720"/>
          </a:xfrm>
          <a:prstGeom prst="rect">
            <a:avLst/>
          </a:prstGeom>
          <a:noFill/>
          <a:ln/>
        </p:spPr>
        <p:txBody>
          <a:bodyPr wrap="square" lIns="0" tIns="0" rIns="0" bIns="0" rtlCol="0" anchor="t"/>
          <a:lstStyle/>
          <a:p>
            <a:pPr indent="0" marL="0">
              <a:buNone/>
            </a:pPr>
            <a:r>
              <a:rPr lang="en-US" sz="1300" dirty="0">
                <a:solidFill>
                  <a:schemeClr val="tx1"/>
                </a:solidFill>
              </a:rPr>
              <a:t>Un signalement simple pour les habitants et les agents, suivi jusqu'à la réparation.</a:t>
            </a:r>
            <a:endParaRPr lang="en-US" sz="1300" dirty="0"/>
          </a:p>
        </p:txBody>
      </p:sp>
      <p:sp>
        <p:nvSpPr>
          <p:cNvPr id="24" name="Text 18"/>
          <p:cNvSpPr txBox="1"/>
          <p:nvPr/>
        </p:nvSpPr>
        <p:spPr>
          <a:xfrm>
            <a:off x="6404458" y="4983480"/>
            <a:ext cx="2194560" cy="228600"/>
          </a:xfrm>
          <a:prstGeom prst="rect">
            <a:avLst/>
          </a:prstGeom>
          <a:noFill/>
          <a:ln/>
        </p:spPr>
        <p:txBody>
          <a:bodyPr wrap="square" lIns="0" tIns="0" rIns="0" bIns="0" rtlCol="0" anchor="ctr"/>
          <a:lstStyle/>
          <a:p>
            <a:pPr indent="0" marL="0">
              <a:buNone/>
            </a:pPr>
            <a:r>
              <a:rPr lang="en-US" sz="900" b="1" spc="100" kern="0" dirty="0">
                <a:solidFill>
                  <a:schemeClr val="accent5"/>
                </a:solidFill>
              </a:rPr>
              <a:t>DANS LE PROGRAMME</a:t>
            </a:r>
            <a:endParaRPr lang="en-US" sz="900" dirty="0"/>
          </a:p>
        </p:txBody>
      </p:sp>
      <p:sp>
        <p:nvSpPr>
          <p:cNvPr id="25" name="Text 19"/>
          <p:cNvSpPr txBox="1"/>
          <p:nvPr/>
        </p:nvSpPr>
        <p:spPr>
          <a:xfrm>
            <a:off x="6404458" y="5230368"/>
            <a:ext cx="2194560" cy="640080"/>
          </a:xfrm>
          <a:prstGeom prst="rect">
            <a:avLst/>
          </a:prstGeom>
          <a:noFill/>
          <a:ln/>
        </p:spPr>
        <p:txBody>
          <a:bodyPr wrap="square" lIns="0" tIns="0" rIns="0" bIns="0" rtlCol="0" anchor="t"/>
          <a:lstStyle/>
          <a:p>
            <a:pPr indent="0" marL="0">
              <a:buNone/>
            </a:pPr>
            <a:r>
              <a:rPr lang="en-US" sz="1100" b="1" dirty="0">
                <a:solidFill>
                  <a:schemeClr val="accent1"/>
                </a:solidFill>
              </a:rPr>
              <a:t>Participation citoyenne : consultations, plateformes, retours usagers (p. 47)</a:t>
            </a:r>
            <a:endParaRPr lang="en-US" sz="1100" dirty="0"/>
          </a:p>
        </p:txBody>
      </p:sp>
      <p:sp>
        <p:nvSpPr>
          <p:cNvPr id="26" name="Besoin Piloter et rendre compte"/>
          <p:cNvSpPr/>
          <p:nvPr/>
        </p:nvSpPr>
        <p:spPr>
          <a:xfrm>
            <a:off x="8989466" y="2011680"/>
            <a:ext cx="2651760" cy="3931920"/>
          </a:xfrm>
          <a:prstGeom prst="roundRect">
            <a:avLst>
              <a:gd name="adj" fmla="val 4138"/>
            </a:avLst>
          </a:prstGeom>
          <a:solidFill>
            <a:schemeClr val="bg2"/>
          </a:solidFill>
          <a:ln/>
        </p:spPr>
      </p:sp>
      <p:sp>
        <p:nvSpPr>
          <p:cNvPr id="27" name="Shape 21"/>
          <p:cNvSpPr/>
          <p:nvPr/>
        </p:nvSpPr>
        <p:spPr>
          <a:xfrm>
            <a:off x="9218066" y="2240280"/>
            <a:ext cx="685800" cy="685800"/>
          </a:xfrm>
          <a:prstGeom prst="ellipse">
            <a:avLst/>
          </a:prstGeom>
          <a:solidFill>
            <a:schemeClr val="accent1"/>
          </a:solidFill>
          <a:ln/>
        </p:spPr>
      </p:sp>
      <p:pic>
        <p:nvPicPr>
          <p:cNvPr id="28" name="Image 3" descr="preencoded.png">    </p:cNvPr>
          <p:cNvPicPr>
            <a:picLocks noChangeAspect="1"/>
          </p:cNvPicPr>
          <p:nvPr/>
        </p:nvPicPr>
        <p:blipFill>
          <a:blip r:embed="rId4"/>
          <a:stretch>
            <a:fillRect/>
          </a:stretch>
        </p:blipFill>
        <p:spPr>
          <a:xfrm>
            <a:off x="9403232" y="2425446"/>
            <a:ext cx="315468" cy="315468"/>
          </a:xfrm>
          <a:prstGeom prst="rect">
            <a:avLst/>
          </a:prstGeom>
        </p:spPr>
      </p:pic>
      <p:sp>
        <p:nvSpPr>
          <p:cNvPr id="29" name="Text 22"/>
          <p:cNvSpPr txBox="1"/>
          <p:nvPr/>
        </p:nvSpPr>
        <p:spPr>
          <a:xfrm>
            <a:off x="9218066" y="3063240"/>
            <a:ext cx="2194560" cy="640080"/>
          </a:xfrm>
          <a:prstGeom prst="rect">
            <a:avLst/>
          </a:prstGeom>
          <a:noFill/>
          <a:ln/>
        </p:spPr>
        <p:txBody>
          <a:bodyPr wrap="square" lIns="0" tIns="0" rIns="0" bIns="0" rtlCol="0" anchor="t"/>
          <a:lstStyle/>
          <a:p>
            <a:pPr indent="0" marL="0">
              <a:buNone/>
            </a:pPr>
            <a:r>
              <a:rPr lang="en-US" sz="1700" b="1" dirty="0">
                <a:solidFill>
                  <a:schemeClr val="tx2"/>
                </a:solidFill>
              </a:rPr>
              <a:t>Piloter et rendre compte</a:t>
            </a:r>
            <a:endParaRPr lang="en-US" sz="1700" dirty="0"/>
          </a:p>
        </p:txBody>
      </p:sp>
      <p:sp>
        <p:nvSpPr>
          <p:cNvPr id="30" name="Text 23"/>
          <p:cNvSpPr txBox="1"/>
          <p:nvPr/>
        </p:nvSpPr>
        <p:spPr>
          <a:xfrm>
            <a:off x="9218066" y="3749040"/>
            <a:ext cx="2194560" cy="1188720"/>
          </a:xfrm>
          <a:prstGeom prst="rect">
            <a:avLst/>
          </a:prstGeom>
          <a:noFill/>
          <a:ln/>
        </p:spPr>
        <p:txBody>
          <a:bodyPr wrap="square" lIns="0" tIns="0" rIns="0" bIns="0" rtlCol="0" anchor="t"/>
          <a:lstStyle/>
          <a:p>
            <a:pPr indent="0" marL="0">
              <a:buNone/>
            </a:pPr>
            <a:r>
              <a:rPr lang="en-US" sz="1300" dirty="0">
                <a:solidFill>
                  <a:schemeClr val="tx1"/>
                </a:solidFill>
              </a:rPr>
              <a:t>Des indicateurs par commune, par pôle et au niveau national.</a:t>
            </a:r>
            <a:endParaRPr lang="en-US" sz="1300" dirty="0"/>
          </a:p>
        </p:txBody>
      </p:sp>
      <p:sp>
        <p:nvSpPr>
          <p:cNvPr id="31" name="Text 24"/>
          <p:cNvSpPr txBox="1"/>
          <p:nvPr/>
        </p:nvSpPr>
        <p:spPr>
          <a:xfrm>
            <a:off x="9218066" y="4983480"/>
            <a:ext cx="2194560" cy="228600"/>
          </a:xfrm>
          <a:prstGeom prst="rect">
            <a:avLst/>
          </a:prstGeom>
          <a:noFill/>
          <a:ln/>
        </p:spPr>
        <p:txBody>
          <a:bodyPr wrap="square" lIns="0" tIns="0" rIns="0" bIns="0" rtlCol="0" anchor="ctr"/>
          <a:lstStyle/>
          <a:p>
            <a:pPr indent="0" marL="0">
              <a:buNone/>
            </a:pPr>
            <a:r>
              <a:rPr lang="en-US" sz="900" b="1" spc="100" kern="0" dirty="0">
                <a:solidFill>
                  <a:schemeClr val="accent5"/>
                </a:solidFill>
              </a:rPr>
              <a:t>DANS LE PROGRAMME</a:t>
            </a:r>
            <a:endParaRPr lang="en-US" sz="900" dirty="0"/>
          </a:p>
        </p:txBody>
      </p:sp>
      <p:sp>
        <p:nvSpPr>
          <p:cNvPr id="32" name="Text 25"/>
          <p:cNvSpPr txBox="1"/>
          <p:nvPr/>
        </p:nvSpPr>
        <p:spPr>
          <a:xfrm>
            <a:off x="9218066" y="5230368"/>
            <a:ext cx="2194560" cy="640080"/>
          </a:xfrm>
          <a:prstGeom prst="rect">
            <a:avLst/>
          </a:prstGeom>
          <a:noFill/>
          <a:ln/>
        </p:spPr>
        <p:txBody>
          <a:bodyPr wrap="square" lIns="0" tIns="0" rIns="0" bIns="0" rtlCol="0" anchor="t"/>
          <a:lstStyle/>
          <a:p>
            <a:pPr indent="0" marL="0">
              <a:buNone/>
            </a:pPr>
            <a:r>
              <a:rPr lang="en-US" sz="1100" b="1" dirty="0">
                <a:solidFill>
                  <a:schemeClr val="accent1"/>
                </a:solidFill>
              </a:rPr>
              <a:t>Suivi de performance des communes, évalué chaque semestre (p. 56)</a:t>
            </a:r>
            <a:endParaRPr lang="en-US" sz="11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GOUVERNANCE DU PROGRAMME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L'architecture de pilotage existe : il lui faut des données de terrain</a:t>
            </a:r>
            <a:endParaRPr lang="en-US" sz="2800" dirty="0"/>
          </a:p>
        </p:txBody>
      </p:sp>
      <p:sp>
        <p:nvSpPr>
          <p:cNvPr id="5" name="Niveau PRÉSIDENCE"/>
          <p:cNvSpPr/>
          <p:nvPr/>
        </p:nvSpPr>
        <p:spPr>
          <a:xfrm>
            <a:off x="548640" y="2057400"/>
            <a:ext cx="2011680" cy="1554480"/>
          </a:xfrm>
          <a:prstGeom prst="roundRect">
            <a:avLst>
              <a:gd name="adj" fmla="val 7059"/>
            </a:avLst>
          </a:prstGeom>
          <a:solidFill>
            <a:schemeClr val="tx2"/>
          </a:solidFill>
          <a:ln/>
        </p:spPr>
      </p:sp>
      <p:sp>
        <p:nvSpPr>
          <p:cNvPr id="6" name="Text 3"/>
          <p:cNvSpPr txBox="1"/>
          <p:nvPr/>
        </p:nvSpPr>
        <p:spPr>
          <a:xfrm>
            <a:off x="685800" y="2194560"/>
            <a:ext cx="1783080" cy="457200"/>
          </a:xfrm>
          <a:prstGeom prst="rect">
            <a:avLst/>
          </a:prstGeom>
          <a:noFill/>
          <a:ln/>
        </p:spPr>
        <p:txBody>
          <a:bodyPr wrap="square" lIns="0" tIns="0" rIns="0" bIns="0" rtlCol="0" anchor="t"/>
          <a:lstStyle/>
          <a:p>
            <a:pPr indent="0" marL="0">
              <a:buNone/>
            </a:pPr>
            <a:r>
              <a:rPr lang="en-US" sz="1000" b="1" dirty="0">
                <a:solidFill>
                  <a:schemeClr val="bg1"/>
                </a:solidFill>
              </a:rPr>
              <a:t>PRÉSIDENCE</a:t>
            </a:r>
            <a:endParaRPr lang="en-US" sz="1000" dirty="0"/>
          </a:p>
        </p:txBody>
      </p:sp>
      <p:sp>
        <p:nvSpPr>
          <p:cNvPr id="7" name="Text 4"/>
          <p:cNvSpPr txBox="1"/>
          <p:nvPr/>
        </p:nvSpPr>
        <p:spPr>
          <a:xfrm>
            <a:off x="685800" y="2697480"/>
            <a:ext cx="1737360" cy="822960"/>
          </a:xfrm>
          <a:prstGeom prst="rect">
            <a:avLst/>
          </a:prstGeom>
          <a:noFill/>
          <a:ln/>
        </p:spPr>
        <p:txBody>
          <a:bodyPr wrap="square" lIns="0" tIns="0" rIns="0" bIns="0" rtlCol="0" anchor="t"/>
          <a:lstStyle/>
          <a:p>
            <a:pPr indent="0" marL="0">
              <a:buNone/>
            </a:pPr>
            <a:r>
              <a:rPr lang="en-US" sz="1300" dirty="0">
                <a:solidFill>
                  <a:schemeClr val="bg1"/>
                </a:solidFill>
              </a:rPr>
              <a:t>Entité de pilotage nationale</a:t>
            </a:r>
            <a:endParaRPr lang="en-US" sz="1300" dirty="0"/>
          </a:p>
        </p:txBody>
      </p:sp>
      <p:sp>
        <p:nvSpPr>
          <p:cNvPr id="8" name="Shape 5"/>
          <p:cNvSpPr/>
          <p:nvPr/>
        </p:nvSpPr>
        <p:spPr>
          <a:xfrm>
            <a:off x="2596896" y="2697480"/>
            <a:ext cx="182880" cy="274320"/>
          </a:xfrm>
          <a:prstGeom prst="rightArrow">
            <a:avLst/>
          </a:prstGeom>
          <a:solidFill>
            <a:schemeClr val="accent2"/>
          </a:solidFill>
          <a:ln/>
        </p:spPr>
      </p:sp>
      <p:sp>
        <p:nvSpPr>
          <p:cNvPr id="9" name="Text 6"/>
          <p:cNvSpPr txBox="1"/>
          <p:nvPr/>
        </p:nvSpPr>
        <p:spPr>
          <a:xfrm>
            <a:off x="548640" y="3840480"/>
            <a:ext cx="20116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CE QU'IL DOIT VOIR</a:t>
            </a:r>
            <a:endParaRPr lang="en-US" sz="1000" dirty="0"/>
          </a:p>
        </p:txBody>
      </p:sp>
      <p:sp>
        <p:nvSpPr>
          <p:cNvPr id="10" name="Text 7"/>
          <p:cNvSpPr txBox="1"/>
          <p:nvPr/>
        </p:nvSpPr>
        <p:spPr>
          <a:xfrm>
            <a:off x="548640" y="4114800"/>
            <a:ext cx="2011680" cy="914400"/>
          </a:xfrm>
          <a:prstGeom prst="rect">
            <a:avLst/>
          </a:prstGeom>
          <a:noFill/>
          <a:ln/>
        </p:spPr>
        <p:txBody>
          <a:bodyPr wrap="square" lIns="0" tIns="0" rIns="0" bIns="0" rtlCol="0" anchor="t"/>
          <a:lstStyle/>
          <a:p>
            <a:pPr indent="0" marL="0">
              <a:buNone/>
            </a:pPr>
            <a:r>
              <a:rPr lang="en-US" sz="1300" b="1" dirty="0">
                <a:solidFill>
                  <a:schemeClr val="tx2"/>
                </a:solidFill>
              </a:rPr>
              <a:t>Un tableau de bord national consolidé</a:t>
            </a:r>
            <a:endParaRPr lang="en-US" sz="1300" dirty="0"/>
          </a:p>
        </p:txBody>
      </p:sp>
      <p:sp>
        <p:nvSpPr>
          <p:cNvPr id="11" name="Niveau 6 PÔLES"/>
          <p:cNvSpPr/>
          <p:nvPr/>
        </p:nvSpPr>
        <p:spPr>
          <a:xfrm>
            <a:off x="2816352" y="2057400"/>
            <a:ext cx="2011680" cy="1554480"/>
          </a:xfrm>
          <a:prstGeom prst="roundRect">
            <a:avLst>
              <a:gd name="adj" fmla="val 7059"/>
            </a:avLst>
          </a:prstGeom>
          <a:solidFill>
            <a:schemeClr val="accent1"/>
          </a:solidFill>
          <a:ln/>
        </p:spPr>
      </p:sp>
      <p:sp>
        <p:nvSpPr>
          <p:cNvPr id="12" name="Text 9"/>
          <p:cNvSpPr txBox="1"/>
          <p:nvPr/>
        </p:nvSpPr>
        <p:spPr>
          <a:xfrm>
            <a:off x="2953512" y="2194560"/>
            <a:ext cx="1783080" cy="457200"/>
          </a:xfrm>
          <a:prstGeom prst="rect">
            <a:avLst/>
          </a:prstGeom>
          <a:noFill/>
          <a:ln/>
        </p:spPr>
        <p:txBody>
          <a:bodyPr wrap="square" lIns="0" tIns="0" rIns="0" bIns="0" rtlCol="0" anchor="t"/>
          <a:lstStyle/>
          <a:p>
            <a:pPr indent="0" marL="0">
              <a:buNone/>
            </a:pPr>
            <a:r>
              <a:rPr lang="en-US" sz="1000" b="1" dirty="0">
                <a:solidFill>
                  <a:schemeClr val="bg1"/>
                </a:solidFill>
              </a:rPr>
              <a:t>6 PÔLES</a:t>
            </a:r>
            <a:endParaRPr lang="en-US" sz="1000" dirty="0"/>
          </a:p>
        </p:txBody>
      </p:sp>
      <p:sp>
        <p:nvSpPr>
          <p:cNvPr id="13" name="Text 10"/>
          <p:cNvSpPr txBox="1"/>
          <p:nvPr/>
        </p:nvSpPr>
        <p:spPr>
          <a:xfrm>
            <a:off x="2953512" y="2697480"/>
            <a:ext cx="1737360" cy="822960"/>
          </a:xfrm>
          <a:prstGeom prst="rect">
            <a:avLst/>
          </a:prstGeom>
          <a:noFill/>
          <a:ln/>
        </p:spPr>
        <p:txBody>
          <a:bodyPr wrap="square" lIns="0" tIns="0" rIns="0" bIns="0" rtlCol="0" anchor="t"/>
          <a:lstStyle/>
          <a:p>
            <a:pPr indent="0" marL="0">
              <a:buNone/>
            </a:pPr>
            <a:r>
              <a:rPr lang="en-US" sz="1300" dirty="0">
                <a:solidFill>
                  <a:schemeClr val="bg1"/>
                </a:solidFill>
              </a:rPr>
              <a:t>Agences régionales de développement</a:t>
            </a:r>
            <a:endParaRPr lang="en-US" sz="1300" dirty="0"/>
          </a:p>
        </p:txBody>
      </p:sp>
      <p:sp>
        <p:nvSpPr>
          <p:cNvPr id="14" name="Shape 11"/>
          <p:cNvSpPr/>
          <p:nvPr/>
        </p:nvSpPr>
        <p:spPr>
          <a:xfrm>
            <a:off x="4864608" y="2697480"/>
            <a:ext cx="182880" cy="274320"/>
          </a:xfrm>
          <a:prstGeom prst="rightArrow">
            <a:avLst/>
          </a:prstGeom>
          <a:solidFill>
            <a:schemeClr val="accent2"/>
          </a:solidFill>
          <a:ln/>
        </p:spPr>
      </p:sp>
      <p:sp>
        <p:nvSpPr>
          <p:cNvPr id="15" name="Text 12"/>
          <p:cNvSpPr txBox="1"/>
          <p:nvPr/>
        </p:nvSpPr>
        <p:spPr>
          <a:xfrm>
            <a:off x="2816352" y="3840480"/>
            <a:ext cx="20116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CE QU'IL DOIT VOIR</a:t>
            </a:r>
            <a:endParaRPr lang="en-US" sz="1000" dirty="0"/>
          </a:p>
        </p:txBody>
      </p:sp>
      <p:sp>
        <p:nvSpPr>
          <p:cNvPr id="16" name="Text 13"/>
          <p:cNvSpPr txBox="1"/>
          <p:nvPr/>
        </p:nvSpPr>
        <p:spPr>
          <a:xfrm>
            <a:off x="2816352" y="4114800"/>
            <a:ext cx="2011680" cy="914400"/>
          </a:xfrm>
          <a:prstGeom prst="rect">
            <a:avLst/>
          </a:prstGeom>
          <a:noFill/>
          <a:ln/>
        </p:spPr>
        <p:txBody>
          <a:bodyPr wrap="square" lIns="0" tIns="0" rIns="0" bIns="0" rtlCol="0" anchor="t"/>
          <a:lstStyle/>
          <a:p>
            <a:pPr indent="0" marL="0">
              <a:buNone/>
            </a:pPr>
            <a:r>
              <a:rPr lang="en-US" sz="1300" b="1" dirty="0">
                <a:solidFill>
                  <a:schemeClr val="tx2"/>
                </a:solidFill>
              </a:rPr>
              <a:t>Les écarts d'entretien entre pôles</a:t>
            </a:r>
            <a:endParaRPr lang="en-US" sz="1300" dirty="0"/>
          </a:p>
        </p:txBody>
      </p:sp>
      <p:sp>
        <p:nvSpPr>
          <p:cNvPr id="17" name="Niveau 77 COMMUNES"/>
          <p:cNvSpPr/>
          <p:nvPr/>
        </p:nvSpPr>
        <p:spPr>
          <a:xfrm>
            <a:off x="5084064" y="2057400"/>
            <a:ext cx="2011680" cy="1554480"/>
          </a:xfrm>
          <a:prstGeom prst="roundRect">
            <a:avLst>
              <a:gd name="adj" fmla="val 7059"/>
            </a:avLst>
          </a:prstGeom>
          <a:solidFill>
            <a:schemeClr val="accent3"/>
          </a:solidFill>
          <a:ln/>
        </p:spPr>
      </p:sp>
      <p:sp>
        <p:nvSpPr>
          <p:cNvPr id="18" name="Text 15"/>
          <p:cNvSpPr txBox="1"/>
          <p:nvPr/>
        </p:nvSpPr>
        <p:spPr>
          <a:xfrm>
            <a:off x="5221224" y="2194560"/>
            <a:ext cx="1783080" cy="457200"/>
          </a:xfrm>
          <a:prstGeom prst="rect">
            <a:avLst/>
          </a:prstGeom>
          <a:noFill/>
          <a:ln/>
        </p:spPr>
        <p:txBody>
          <a:bodyPr wrap="square" lIns="0" tIns="0" rIns="0" bIns="0" rtlCol="0" anchor="t"/>
          <a:lstStyle/>
          <a:p>
            <a:pPr indent="0" marL="0">
              <a:buNone/>
            </a:pPr>
            <a:r>
              <a:rPr lang="en-US" sz="1000" b="1" dirty="0">
                <a:solidFill>
                  <a:schemeClr val="tx2"/>
                </a:solidFill>
              </a:rPr>
              <a:t>77 COMMUNES</a:t>
            </a:r>
            <a:endParaRPr lang="en-US" sz="1000" dirty="0"/>
          </a:p>
        </p:txBody>
      </p:sp>
      <p:sp>
        <p:nvSpPr>
          <p:cNvPr id="19" name="Text 16"/>
          <p:cNvSpPr txBox="1"/>
          <p:nvPr/>
        </p:nvSpPr>
        <p:spPr>
          <a:xfrm>
            <a:off x="5221224" y="2697480"/>
            <a:ext cx="1737360" cy="822960"/>
          </a:xfrm>
          <a:prstGeom prst="rect">
            <a:avLst/>
          </a:prstGeom>
          <a:noFill/>
          <a:ln/>
        </p:spPr>
        <p:txBody>
          <a:bodyPr wrap="square" lIns="0" tIns="0" rIns="0" bIns="0" rtlCol="0" anchor="t"/>
          <a:lstStyle/>
          <a:p>
            <a:pPr indent="0" marL="0">
              <a:buNone/>
            </a:pPr>
            <a:r>
              <a:rPr lang="en-US" sz="1300" dirty="0">
                <a:solidFill>
                  <a:schemeClr val="tx2"/>
                </a:solidFill>
              </a:rPr>
              <a:t>Contrats de performance, suivi semestriel</a:t>
            </a:r>
            <a:endParaRPr lang="en-US" sz="1300" dirty="0"/>
          </a:p>
        </p:txBody>
      </p:sp>
      <p:sp>
        <p:nvSpPr>
          <p:cNvPr id="20" name="Shape 17"/>
          <p:cNvSpPr/>
          <p:nvPr/>
        </p:nvSpPr>
        <p:spPr>
          <a:xfrm>
            <a:off x="7132320" y="2697480"/>
            <a:ext cx="182880" cy="274320"/>
          </a:xfrm>
          <a:prstGeom prst="rightArrow">
            <a:avLst/>
          </a:prstGeom>
          <a:solidFill>
            <a:schemeClr val="accent2"/>
          </a:solidFill>
          <a:ln/>
        </p:spPr>
      </p:sp>
      <p:sp>
        <p:nvSpPr>
          <p:cNvPr id="21" name="Text 18"/>
          <p:cNvSpPr txBox="1"/>
          <p:nvPr/>
        </p:nvSpPr>
        <p:spPr>
          <a:xfrm>
            <a:off x="5084064" y="3840480"/>
            <a:ext cx="20116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CE QU'IL DOIT VOIR</a:t>
            </a:r>
            <a:endParaRPr lang="en-US" sz="1000" dirty="0"/>
          </a:p>
        </p:txBody>
      </p:sp>
      <p:sp>
        <p:nvSpPr>
          <p:cNvPr id="22" name="Text 19"/>
          <p:cNvSpPr txBox="1"/>
          <p:nvPr/>
        </p:nvSpPr>
        <p:spPr>
          <a:xfrm>
            <a:off x="5084064" y="4114800"/>
            <a:ext cx="2011680" cy="914400"/>
          </a:xfrm>
          <a:prstGeom prst="rect">
            <a:avLst/>
          </a:prstGeom>
          <a:noFill/>
          <a:ln/>
        </p:spPr>
        <p:txBody>
          <a:bodyPr wrap="square" lIns="0" tIns="0" rIns="0" bIns="0" rtlCol="0" anchor="t"/>
          <a:lstStyle/>
          <a:p>
            <a:pPr indent="0" marL="0">
              <a:buNone/>
            </a:pPr>
            <a:r>
              <a:rPr lang="en-US" sz="1300" b="1" dirty="0">
                <a:solidFill>
                  <a:schemeClr val="tx2"/>
                </a:solidFill>
              </a:rPr>
              <a:t>Les indicateurs de chaque commune, à jour</a:t>
            </a:r>
            <a:endParaRPr lang="en-US" sz="1300" dirty="0"/>
          </a:p>
        </p:txBody>
      </p:sp>
      <p:sp>
        <p:nvSpPr>
          <p:cNvPr id="23" name="Niveau 546 ARRONDISSEMENTS"/>
          <p:cNvSpPr/>
          <p:nvPr/>
        </p:nvSpPr>
        <p:spPr>
          <a:xfrm>
            <a:off x="7351776" y="2057400"/>
            <a:ext cx="2011680" cy="1554480"/>
          </a:xfrm>
          <a:prstGeom prst="roundRect">
            <a:avLst>
              <a:gd name="adj" fmla="val 7059"/>
            </a:avLst>
          </a:prstGeom>
          <a:solidFill>
            <a:schemeClr val="bg2"/>
          </a:solidFill>
          <a:ln/>
        </p:spPr>
      </p:sp>
      <p:sp>
        <p:nvSpPr>
          <p:cNvPr id="24" name="Text 21"/>
          <p:cNvSpPr txBox="1"/>
          <p:nvPr/>
        </p:nvSpPr>
        <p:spPr>
          <a:xfrm>
            <a:off x="7488936" y="2194560"/>
            <a:ext cx="1783080" cy="457200"/>
          </a:xfrm>
          <a:prstGeom prst="rect">
            <a:avLst/>
          </a:prstGeom>
          <a:noFill/>
          <a:ln/>
        </p:spPr>
        <p:txBody>
          <a:bodyPr wrap="square" lIns="0" tIns="0" rIns="0" bIns="0" rtlCol="0" anchor="t"/>
          <a:lstStyle/>
          <a:p>
            <a:pPr indent="0" marL="0">
              <a:buNone/>
            </a:pPr>
            <a:r>
              <a:rPr lang="en-US" sz="1000" b="1" dirty="0">
                <a:solidFill>
                  <a:schemeClr val="tx2"/>
                </a:solidFill>
              </a:rPr>
              <a:t>546 ARRONDISSEMENTS</a:t>
            </a:r>
            <a:endParaRPr lang="en-US" sz="1000" dirty="0"/>
          </a:p>
        </p:txBody>
      </p:sp>
      <p:sp>
        <p:nvSpPr>
          <p:cNvPr id="25" name="Text 22"/>
          <p:cNvSpPr txBox="1"/>
          <p:nvPr/>
        </p:nvSpPr>
        <p:spPr>
          <a:xfrm>
            <a:off x="7488936" y="2697480"/>
            <a:ext cx="1737360" cy="822960"/>
          </a:xfrm>
          <a:prstGeom prst="rect">
            <a:avLst/>
          </a:prstGeom>
          <a:noFill/>
          <a:ln/>
        </p:spPr>
        <p:txBody>
          <a:bodyPr wrap="square" lIns="0" tIns="0" rIns="0" bIns="0" rtlCol="0" anchor="t"/>
          <a:lstStyle/>
          <a:p>
            <a:pPr indent="0" marL="0">
              <a:buNone/>
            </a:pPr>
            <a:r>
              <a:rPr lang="en-US" sz="1300" dirty="0">
                <a:solidFill>
                  <a:schemeClr val="tx2"/>
                </a:solidFill>
              </a:rPr>
              <a:t>Espaces et équipements de proximité</a:t>
            </a:r>
            <a:endParaRPr lang="en-US" sz="1300" dirty="0"/>
          </a:p>
        </p:txBody>
      </p:sp>
      <p:sp>
        <p:nvSpPr>
          <p:cNvPr id="26" name="Shape 23"/>
          <p:cNvSpPr/>
          <p:nvPr/>
        </p:nvSpPr>
        <p:spPr>
          <a:xfrm>
            <a:off x="9400032" y="2697480"/>
            <a:ext cx="182880" cy="274320"/>
          </a:xfrm>
          <a:prstGeom prst="rightArrow">
            <a:avLst/>
          </a:prstGeom>
          <a:solidFill>
            <a:schemeClr val="accent2"/>
          </a:solidFill>
          <a:ln/>
        </p:spPr>
      </p:sp>
      <p:sp>
        <p:nvSpPr>
          <p:cNvPr id="27" name="Text 24"/>
          <p:cNvSpPr txBox="1"/>
          <p:nvPr/>
        </p:nvSpPr>
        <p:spPr>
          <a:xfrm>
            <a:off x="7351776" y="3840480"/>
            <a:ext cx="20116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CE QU'IL DOIT VOIR</a:t>
            </a:r>
            <a:endParaRPr lang="en-US" sz="1000" dirty="0"/>
          </a:p>
        </p:txBody>
      </p:sp>
      <p:sp>
        <p:nvSpPr>
          <p:cNvPr id="28" name="Text 25"/>
          <p:cNvSpPr txBox="1"/>
          <p:nvPr/>
        </p:nvSpPr>
        <p:spPr>
          <a:xfrm>
            <a:off x="7351776" y="4114800"/>
            <a:ext cx="2011680" cy="914400"/>
          </a:xfrm>
          <a:prstGeom prst="rect">
            <a:avLst/>
          </a:prstGeom>
          <a:noFill/>
          <a:ln/>
        </p:spPr>
        <p:txBody>
          <a:bodyPr wrap="square" lIns="0" tIns="0" rIns="0" bIns="0" rtlCol="0" anchor="t"/>
          <a:lstStyle/>
          <a:p>
            <a:pPr indent="0" marL="0">
              <a:buNone/>
            </a:pPr>
            <a:r>
              <a:rPr lang="en-US" sz="1300" b="1" dirty="0">
                <a:solidFill>
                  <a:schemeClr val="tx2"/>
                </a:solidFill>
              </a:rPr>
              <a:t>Les ouvrages à traiter en priorité</a:t>
            </a:r>
            <a:endParaRPr lang="en-US" sz="1300" dirty="0"/>
          </a:p>
        </p:txBody>
      </p:sp>
      <p:sp>
        <p:nvSpPr>
          <p:cNvPr id="29" name="Niveau ÉQUIPEMENTS"/>
          <p:cNvSpPr/>
          <p:nvPr/>
        </p:nvSpPr>
        <p:spPr>
          <a:xfrm>
            <a:off x="9619488" y="2057400"/>
            <a:ext cx="2011680" cy="1554480"/>
          </a:xfrm>
          <a:prstGeom prst="roundRect">
            <a:avLst>
              <a:gd name="adj" fmla="val 7059"/>
            </a:avLst>
          </a:prstGeom>
          <a:solidFill>
            <a:schemeClr val="accent4"/>
          </a:solidFill>
          <a:ln/>
        </p:spPr>
      </p:sp>
      <p:sp>
        <p:nvSpPr>
          <p:cNvPr id="30" name="Text 27"/>
          <p:cNvSpPr txBox="1"/>
          <p:nvPr/>
        </p:nvSpPr>
        <p:spPr>
          <a:xfrm>
            <a:off x="9756648" y="2194560"/>
            <a:ext cx="1783080" cy="457200"/>
          </a:xfrm>
          <a:prstGeom prst="rect">
            <a:avLst/>
          </a:prstGeom>
          <a:noFill/>
          <a:ln/>
        </p:spPr>
        <p:txBody>
          <a:bodyPr wrap="square" lIns="0" tIns="0" rIns="0" bIns="0" rtlCol="0" anchor="t"/>
          <a:lstStyle/>
          <a:p>
            <a:pPr indent="0" marL="0">
              <a:buNone/>
            </a:pPr>
            <a:r>
              <a:rPr lang="en-US" sz="1000" b="1" dirty="0">
                <a:solidFill>
                  <a:schemeClr val="tx2"/>
                </a:solidFill>
              </a:rPr>
              <a:t>ÉQUIPEMENTS</a:t>
            </a:r>
            <a:endParaRPr lang="en-US" sz="1000" dirty="0"/>
          </a:p>
        </p:txBody>
      </p:sp>
      <p:sp>
        <p:nvSpPr>
          <p:cNvPr id="31" name="Text 28"/>
          <p:cNvSpPr txBox="1"/>
          <p:nvPr/>
        </p:nvSpPr>
        <p:spPr>
          <a:xfrm>
            <a:off x="9756648" y="2697480"/>
            <a:ext cx="1737360" cy="822960"/>
          </a:xfrm>
          <a:prstGeom prst="rect">
            <a:avLst/>
          </a:prstGeom>
          <a:noFill/>
          <a:ln/>
        </p:spPr>
        <p:txBody>
          <a:bodyPr wrap="square" lIns="0" tIns="0" rIns="0" bIns="0" rtlCol="0" anchor="t"/>
          <a:lstStyle/>
          <a:p>
            <a:pPr indent="0" marL="0">
              <a:buNone/>
            </a:pPr>
            <a:r>
              <a:rPr lang="en-US" sz="1300" dirty="0">
                <a:solidFill>
                  <a:schemeClr val="tx2"/>
                </a:solidFill>
              </a:rPr>
              <a:t>Forages, terrains, bases, lampadaires</a:t>
            </a:r>
            <a:endParaRPr lang="en-US" sz="1300" dirty="0"/>
          </a:p>
        </p:txBody>
      </p:sp>
      <p:sp>
        <p:nvSpPr>
          <p:cNvPr id="32" name="Text 29"/>
          <p:cNvSpPr txBox="1"/>
          <p:nvPr/>
        </p:nvSpPr>
        <p:spPr>
          <a:xfrm>
            <a:off x="9619488" y="3840480"/>
            <a:ext cx="2011680" cy="228600"/>
          </a:xfrm>
          <a:prstGeom prst="rect">
            <a:avLst/>
          </a:prstGeom>
          <a:noFill/>
          <a:ln/>
        </p:spPr>
        <p:txBody>
          <a:bodyPr wrap="square" lIns="0" tIns="0" rIns="0" bIns="0" rtlCol="0" anchor="ctr"/>
          <a:lstStyle/>
          <a:p>
            <a:pPr indent="0" marL="0">
              <a:buNone/>
            </a:pPr>
            <a:r>
              <a:rPr lang="en-US" sz="1000" b="1" spc="100" kern="0" dirty="0">
                <a:solidFill>
                  <a:schemeClr val="accent5"/>
                </a:solidFill>
              </a:rPr>
              <a:t>CE QU'IL DOIT VOIR</a:t>
            </a:r>
            <a:endParaRPr lang="en-US" sz="1000" dirty="0"/>
          </a:p>
        </p:txBody>
      </p:sp>
      <p:sp>
        <p:nvSpPr>
          <p:cNvPr id="33" name="Text 30"/>
          <p:cNvSpPr txBox="1"/>
          <p:nvPr/>
        </p:nvSpPr>
        <p:spPr>
          <a:xfrm>
            <a:off x="9619488" y="4114800"/>
            <a:ext cx="2011680" cy="914400"/>
          </a:xfrm>
          <a:prstGeom prst="rect">
            <a:avLst/>
          </a:prstGeom>
          <a:noFill/>
          <a:ln/>
        </p:spPr>
        <p:txBody>
          <a:bodyPr wrap="square" lIns="0" tIns="0" rIns="0" bIns="0" rtlCol="0" anchor="t"/>
          <a:lstStyle/>
          <a:p>
            <a:pPr indent="0" marL="0">
              <a:buNone/>
            </a:pPr>
            <a:r>
              <a:rPr lang="en-US" sz="1300" b="1" dirty="0">
                <a:solidFill>
                  <a:schemeClr val="tx2"/>
                </a:solidFill>
              </a:rPr>
              <a:t>L'état réel et l'historique de chaque ouvrage</a:t>
            </a:r>
            <a:endParaRPr lang="en-US" sz="1300" dirty="0"/>
          </a:p>
        </p:txBody>
      </p:sp>
      <p:sp>
        <p:nvSpPr>
          <p:cNvPr id="34" name="Bandeau registre"/>
          <p:cNvSpPr/>
          <p:nvPr/>
        </p:nvSpPr>
        <p:spPr>
          <a:xfrm>
            <a:off x="548640" y="5166360"/>
            <a:ext cx="11091672" cy="777240"/>
          </a:xfrm>
          <a:prstGeom prst="roundRect">
            <a:avLst>
              <a:gd name="adj" fmla="val 14118"/>
            </a:avLst>
          </a:prstGeom>
          <a:solidFill>
            <a:schemeClr val="accent2"/>
          </a:solidFill>
          <a:ln/>
        </p:spPr>
      </p:sp>
      <p:sp>
        <p:nvSpPr>
          <p:cNvPr id="35" name="Shape 32"/>
          <p:cNvSpPr/>
          <p:nvPr/>
        </p:nvSpPr>
        <p:spPr>
          <a:xfrm>
            <a:off x="868680" y="5321808"/>
            <a:ext cx="365760" cy="457200"/>
          </a:xfrm>
          <a:prstGeom prst="upArrow">
            <a:avLst/>
          </a:prstGeom>
          <a:solidFill>
            <a:schemeClr val="tx2"/>
          </a:solidFill>
          <a:ln/>
        </p:spPr>
      </p:sp>
      <p:sp>
        <p:nvSpPr>
          <p:cNvPr id="36" name="Text 33"/>
          <p:cNvSpPr txBox="1"/>
          <p:nvPr/>
        </p:nvSpPr>
        <p:spPr>
          <a:xfrm>
            <a:off x="1463040" y="5166360"/>
            <a:ext cx="9966960" cy="777240"/>
          </a:xfrm>
          <a:prstGeom prst="rect">
            <a:avLst/>
          </a:prstGeom>
          <a:noFill/>
          <a:ln/>
        </p:spPr>
        <p:txBody>
          <a:bodyPr wrap="square" lIns="0" tIns="0" rIns="0" bIns="0" rtlCol="0" anchor="ctr"/>
          <a:lstStyle/>
          <a:p>
            <a:pPr indent="0" marL="0">
              <a:buNone/>
            </a:pPr>
            <a:r>
              <a:rPr lang="en-US" sz="1700" b="1" dirty="0">
                <a:solidFill>
                  <a:schemeClr val="tx2"/>
                </a:solidFill>
              </a:rPr>
              <a:t>Le registre fournit la donnée de terrain qui remonte du bas vers le haut.</a:t>
            </a:r>
            <a:endParaRPr lang="en-US" sz="1700" dirty="0"/>
          </a:p>
        </p:txBody>
      </p:sp>
      <p:sp>
        <p:nvSpPr>
          <p:cNvPr id="37"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9, 25 et 56</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LA TECHNOLOGIE COMME LEVIER TRANSVERSE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proposition s'insère dans les quatre leviers technologiques du programme</a:t>
            </a:r>
            <a:endParaRPr lang="en-US" sz="2800" dirty="0"/>
          </a:p>
        </p:txBody>
      </p:sp>
      <p:sp>
        <p:nvSpPr>
          <p:cNvPr id="5" name="Levier 1"/>
          <p:cNvSpPr/>
          <p:nvPr/>
        </p:nvSpPr>
        <p:spPr>
          <a:xfrm>
            <a:off x="548640" y="2011680"/>
            <a:ext cx="2651760" cy="3931920"/>
          </a:xfrm>
          <a:prstGeom prst="roundRect">
            <a:avLst>
              <a:gd name="adj" fmla="val 4138"/>
            </a:avLst>
          </a:prstGeom>
          <a:solidFill>
            <a:schemeClr val="bg2"/>
          </a:solidFill>
          <a:ln/>
        </p:spPr>
      </p:sp>
      <p:sp>
        <p:nvSpPr>
          <p:cNvPr id="6" name="Text 3"/>
          <p:cNvSpPr txBox="1"/>
          <p:nvPr/>
        </p:nvSpPr>
        <p:spPr>
          <a:xfrm>
            <a:off x="777240" y="2194560"/>
            <a:ext cx="2194560" cy="502920"/>
          </a:xfrm>
          <a:prstGeom prst="rect">
            <a:avLst/>
          </a:prstGeom>
          <a:noFill/>
          <a:ln/>
        </p:spPr>
        <p:txBody>
          <a:bodyPr wrap="square" lIns="0" tIns="0" rIns="0" bIns="0" rtlCol="0" anchor="t"/>
          <a:lstStyle/>
          <a:p>
            <a:pPr indent="0" marL="0">
              <a:buNone/>
            </a:pPr>
            <a:r>
              <a:rPr lang="en-US" sz="1100" b="1" spc="100" kern="0" dirty="0">
                <a:solidFill>
                  <a:schemeClr val="accent1"/>
                </a:solidFill>
              </a:rPr>
              <a:t>1. INFRASTRUCTURES NATIONALES</a:t>
            </a:r>
            <a:endParaRPr lang="en-US" sz="1100" dirty="0"/>
          </a:p>
        </p:txBody>
      </p:sp>
      <p:sp>
        <p:nvSpPr>
          <p:cNvPr id="7" name="Text 4"/>
          <p:cNvSpPr txBox="1"/>
          <p:nvPr/>
        </p:nvSpPr>
        <p:spPr>
          <a:xfrm>
            <a:off x="777240" y="2788920"/>
            <a:ext cx="219456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LE PROGRAMME</a:t>
            </a:r>
            <a:endParaRPr lang="en-US" sz="1000" dirty="0"/>
          </a:p>
        </p:txBody>
      </p:sp>
      <p:sp>
        <p:nvSpPr>
          <p:cNvPr id="8" name="Text 5"/>
          <p:cNvSpPr txBox="1"/>
          <p:nvPr/>
        </p:nvSpPr>
        <p:spPr>
          <a:xfrm>
            <a:off x="777240" y="3063240"/>
            <a:ext cx="2194560" cy="1371600"/>
          </a:xfrm>
          <a:prstGeom prst="rect">
            <a:avLst/>
          </a:prstGeom>
          <a:noFill/>
          <a:ln/>
        </p:spPr>
        <p:txBody>
          <a:bodyPr wrap="square" lIns="0" tIns="0" rIns="0" bIns="0" rtlCol="0" anchor="t"/>
          <a:lstStyle/>
          <a:p>
            <a:pPr indent="0" marL="0">
              <a:buNone/>
            </a:pPr>
            <a:r>
              <a:rPr lang="en-US" sz="1300" dirty="0">
                <a:solidFill>
                  <a:schemeClr val="tx1"/>
                </a:solidFill>
              </a:rPr>
              <a:t>Data centers sécurisés et plateforme nationale de collecte de données locales</a:t>
            </a:r>
            <a:endParaRPr lang="en-US" sz="1300" dirty="0"/>
          </a:p>
        </p:txBody>
      </p:sp>
      <p:sp>
        <p:nvSpPr>
          <p:cNvPr id="9" name="Shape 6"/>
          <p:cNvSpPr/>
          <p:nvPr/>
        </p:nvSpPr>
        <p:spPr>
          <a:xfrm>
            <a:off x="685800" y="4526280"/>
            <a:ext cx="2377440" cy="1280160"/>
          </a:xfrm>
          <a:prstGeom prst="roundRect">
            <a:avLst>
              <a:gd name="adj" fmla="val 7143"/>
            </a:avLst>
          </a:prstGeom>
          <a:solidFill>
            <a:schemeClr val="accent4"/>
          </a:solidFill>
          <a:ln/>
        </p:spPr>
      </p:sp>
      <p:sp>
        <p:nvSpPr>
          <p:cNvPr id="10" name="Text 7"/>
          <p:cNvSpPr txBox="1"/>
          <p:nvPr/>
        </p:nvSpPr>
        <p:spPr>
          <a:xfrm>
            <a:off x="822960" y="4617720"/>
            <a:ext cx="21031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NOTRE ANCRAGE</a:t>
            </a:r>
            <a:endParaRPr lang="en-US" sz="1000" dirty="0"/>
          </a:p>
        </p:txBody>
      </p:sp>
      <p:sp>
        <p:nvSpPr>
          <p:cNvPr id="11" name="Text 8"/>
          <p:cNvSpPr txBox="1"/>
          <p:nvPr/>
        </p:nvSpPr>
        <p:spPr>
          <a:xfrm>
            <a:off x="822960" y="4892040"/>
            <a:ext cx="2103120" cy="868680"/>
          </a:xfrm>
          <a:prstGeom prst="rect">
            <a:avLst/>
          </a:prstGeom>
          <a:noFill/>
          <a:ln/>
        </p:spPr>
        <p:txBody>
          <a:bodyPr wrap="square" lIns="0" tIns="0" rIns="0" bIns="0" rtlCol="0" anchor="t"/>
          <a:lstStyle/>
          <a:p>
            <a:pPr indent="0" marL="0">
              <a:buNone/>
            </a:pPr>
            <a:r>
              <a:rPr lang="en-US" sz="1200" b="1" dirty="0">
                <a:solidFill>
                  <a:schemeClr val="tx2"/>
                </a:solidFill>
              </a:rPr>
              <a:t>Données du registre hébergées au Bénin, réutilisables par l'État</a:t>
            </a:r>
            <a:endParaRPr lang="en-US" sz="1200" dirty="0"/>
          </a:p>
        </p:txBody>
      </p:sp>
      <p:sp>
        <p:nvSpPr>
          <p:cNvPr id="12" name="Levier 2"/>
          <p:cNvSpPr/>
          <p:nvPr/>
        </p:nvSpPr>
        <p:spPr>
          <a:xfrm>
            <a:off x="3362249" y="2011680"/>
            <a:ext cx="2651760" cy="3931920"/>
          </a:xfrm>
          <a:prstGeom prst="roundRect">
            <a:avLst>
              <a:gd name="adj" fmla="val 4138"/>
            </a:avLst>
          </a:prstGeom>
          <a:solidFill>
            <a:schemeClr val="bg2"/>
          </a:solidFill>
          <a:ln/>
        </p:spPr>
      </p:sp>
      <p:sp>
        <p:nvSpPr>
          <p:cNvPr id="13" name="Text 10"/>
          <p:cNvSpPr txBox="1"/>
          <p:nvPr/>
        </p:nvSpPr>
        <p:spPr>
          <a:xfrm>
            <a:off x="3590849" y="2194560"/>
            <a:ext cx="2194560" cy="502920"/>
          </a:xfrm>
          <a:prstGeom prst="rect">
            <a:avLst/>
          </a:prstGeom>
          <a:noFill/>
          <a:ln/>
        </p:spPr>
        <p:txBody>
          <a:bodyPr wrap="square" lIns="0" tIns="0" rIns="0" bIns="0" rtlCol="0" anchor="t"/>
          <a:lstStyle/>
          <a:p>
            <a:pPr indent="0" marL="0">
              <a:buNone/>
            </a:pPr>
            <a:r>
              <a:rPr lang="en-US" sz="1100" b="1" spc="100" kern="0" dirty="0">
                <a:solidFill>
                  <a:schemeClr val="accent1"/>
                </a:solidFill>
              </a:rPr>
              <a:t>2. TALENTS ET FORMATION</a:t>
            </a:r>
            <a:endParaRPr lang="en-US" sz="1100" dirty="0"/>
          </a:p>
        </p:txBody>
      </p:sp>
      <p:sp>
        <p:nvSpPr>
          <p:cNvPr id="14" name="Text 11"/>
          <p:cNvSpPr txBox="1"/>
          <p:nvPr/>
        </p:nvSpPr>
        <p:spPr>
          <a:xfrm>
            <a:off x="3590849" y="2788920"/>
            <a:ext cx="219456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LE PROGRAMME</a:t>
            </a:r>
            <a:endParaRPr lang="en-US" sz="1000" dirty="0"/>
          </a:p>
        </p:txBody>
      </p:sp>
      <p:sp>
        <p:nvSpPr>
          <p:cNvPr id="15" name="Text 12"/>
          <p:cNvSpPr txBox="1"/>
          <p:nvPr/>
        </p:nvSpPr>
        <p:spPr>
          <a:xfrm>
            <a:off x="3590849" y="3063240"/>
            <a:ext cx="2194560" cy="1371600"/>
          </a:xfrm>
          <a:prstGeom prst="rect">
            <a:avLst/>
          </a:prstGeom>
          <a:noFill/>
          <a:ln/>
        </p:spPr>
        <p:txBody>
          <a:bodyPr wrap="square" lIns="0" tIns="0" rIns="0" bIns="0" rtlCol="0" anchor="t"/>
          <a:lstStyle/>
          <a:p>
            <a:pPr indent="0" marL="0">
              <a:buNone/>
            </a:pPr>
            <a:r>
              <a:rPr lang="en-US" sz="1300" dirty="0">
                <a:solidFill>
                  <a:schemeClr val="tx1"/>
                </a:solidFill>
              </a:rPr>
              <a:t>Formation massive, hubs de formation en ligne, 7 écoles de métiers de référence</a:t>
            </a:r>
            <a:endParaRPr lang="en-US" sz="1300" dirty="0"/>
          </a:p>
        </p:txBody>
      </p:sp>
      <p:sp>
        <p:nvSpPr>
          <p:cNvPr id="16" name="Shape 13"/>
          <p:cNvSpPr/>
          <p:nvPr/>
        </p:nvSpPr>
        <p:spPr>
          <a:xfrm>
            <a:off x="3499409" y="4526280"/>
            <a:ext cx="2377440" cy="1280160"/>
          </a:xfrm>
          <a:prstGeom prst="roundRect">
            <a:avLst>
              <a:gd name="adj" fmla="val 7143"/>
            </a:avLst>
          </a:prstGeom>
          <a:solidFill>
            <a:schemeClr val="accent4"/>
          </a:solidFill>
          <a:ln/>
        </p:spPr>
      </p:sp>
      <p:sp>
        <p:nvSpPr>
          <p:cNvPr id="17" name="Text 14"/>
          <p:cNvSpPr txBox="1"/>
          <p:nvPr/>
        </p:nvSpPr>
        <p:spPr>
          <a:xfrm>
            <a:off x="3636569" y="4617720"/>
            <a:ext cx="21031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NOTRE ANCRAGE</a:t>
            </a:r>
            <a:endParaRPr lang="en-US" sz="1000" dirty="0"/>
          </a:p>
        </p:txBody>
      </p:sp>
      <p:sp>
        <p:nvSpPr>
          <p:cNvPr id="18" name="Text 15"/>
          <p:cNvSpPr txBox="1"/>
          <p:nvPr/>
        </p:nvSpPr>
        <p:spPr>
          <a:xfrm>
            <a:off x="3636569" y="4892040"/>
            <a:ext cx="2103120" cy="868680"/>
          </a:xfrm>
          <a:prstGeom prst="rect">
            <a:avLst/>
          </a:prstGeom>
          <a:noFill/>
          <a:ln/>
        </p:spPr>
        <p:txBody>
          <a:bodyPr wrap="square" lIns="0" tIns="0" rIns="0" bIns="0" rtlCol="0" anchor="t"/>
          <a:lstStyle/>
          <a:p>
            <a:pPr indent="0" marL="0">
              <a:buNone/>
            </a:pPr>
            <a:r>
              <a:rPr lang="en-US" sz="1200" b="1" dirty="0">
                <a:solidFill>
                  <a:schemeClr val="tx2"/>
                </a:solidFill>
              </a:rPr>
              <a:t>Former les techniciens de maintenance et les agents de terrain</a:t>
            </a:r>
            <a:endParaRPr lang="en-US" sz="1200" dirty="0"/>
          </a:p>
        </p:txBody>
      </p:sp>
      <p:sp>
        <p:nvSpPr>
          <p:cNvPr id="19" name="Levier 3"/>
          <p:cNvSpPr/>
          <p:nvPr/>
        </p:nvSpPr>
        <p:spPr>
          <a:xfrm>
            <a:off x="6175858" y="2011680"/>
            <a:ext cx="2651760" cy="3931920"/>
          </a:xfrm>
          <a:prstGeom prst="roundRect">
            <a:avLst>
              <a:gd name="adj" fmla="val 4138"/>
            </a:avLst>
          </a:prstGeom>
          <a:solidFill>
            <a:schemeClr val="bg2"/>
          </a:solidFill>
          <a:ln/>
        </p:spPr>
      </p:sp>
      <p:sp>
        <p:nvSpPr>
          <p:cNvPr id="20" name="Text 17"/>
          <p:cNvSpPr txBox="1"/>
          <p:nvPr/>
        </p:nvSpPr>
        <p:spPr>
          <a:xfrm>
            <a:off x="6404458" y="2194560"/>
            <a:ext cx="2194560" cy="502920"/>
          </a:xfrm>
          <a:prstGeom prst="rect">
            <a:avLst/>
          </a:prstGeom>
          <a:noFill/>
          <a:ln/>
        </p:spPr>
        <p:txBody>
          <a:bodyPr wrap="square" lIns="0" tIns="0" rIns="0" bIns="0" rtlCol="0" anchor="t"/>
          <a:lstStyle/>
          <a:p>
            <a:pPr indent="0" marL="0">
              <a:buNone/>
            </a:pPr>
            <a:r>
              <a:rPr lang="en-US" sz="1100" b="1" spc="100" kern="0" dirty="0">
                <a:solidFill>
                  <a:schemeClr val="accent1"/>
                </a:solidFill>
              </a:rPr>
              <a:t>3. CADRE RÉGLEMENTAIRE</a:t>
            </a:r>
            <a:endParaRPr lang="en-US" sz="1100" dirty="0"/>
          </a:p>
        </p:txBody>
      </p:sp>
      <p:sp>
        <p:nvSpPr>
          <p:cNvPr id="21" name="Text 18"/>
          <p:cNvSpPr txBox="1"/>
          <p:nvPr/>
        </p:nvSpPr>
        <p:spPr>
          <a:xfrm>
            <a:off x="6404458" y="2788920"/>
            <a:ext cx="219456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LE PROGRAMME</a:t>
            </a:r>
            <a:endParaRPr lang="en-US" sz="1000" dirty="0"/>
          </a:p>
        </p:txBody>
      </p:sp>
      <p:sp>
        <p:nvSpPr>
          <p:cNvPr id="22" name="Text 19"/>
          <p:cNvSpPr txBox="1"/>
          <p:nvPr/>
        </p:nvSpPr>
        <p:spPr>
          <a:xfrm>
            <a:off x="6404458" y="3063240"/>
            <a:ext cx="2194560" cy="1371600"/>
          </a:xfrm>
          <a:prstGeom prst="rect">
            <a:avLst/>
          </a:prstGeom>
          <a:noFill/>
          <a:ln/>
        </p:spPr>
        <p:txBody>
          <a:bodyPr wrap="square" lIns="0" tIns="0" rIns="0" bIns="0" rtlCol="0" anchor="t"/>
          <a:lstStyle/>
          <a:p>
            <a:pPr indent="0" marL="0">
              <a:buNone/>
            </a:pPr>
            <a:r>
              <a:rPr lang="en-US" sz="1300" dirty="0">
                <a:solidFill>
                  <a:schemeClr val="tx1"/>
                </a:solidFill>
              </a:rPr>
              <a:t>Loi sur la localisation de la donnée, protection des données, label national</a:t>
            </a:r>
            <a:endParaRPr lang="en-US" sz="1300" dirty="0"/>
          </a:p>
        </p:txBody>
      </p:sp>
      <p:sp>
        <p:nvSpPr>
          <p:cNvPr id="23" name="Shape 20"/>
          <p:cNvSpPr/>
          <p:nvPr/>
        </p:nvSpPr>
        <p:spPr>
          <a:xfrm>
            <a:off x="6313018" y="4526280"/>
            <a:ext cx="2377440" cy="1280160"/>
          </a:xfrm>
          <a:prstGeom prst="roundRect">
            <a:avLst>
              <a:gd name="adj" fmla="val 7143"/>
            </a:avLst>
          </a:prstGeom>
          <a:solidFill>
            <a:schemeClr val="accent4"/>
          </a:solidFill>
          <a:ln/>
        </p:spPr>
      </p:sp>
      <p:sp>
        <p:nvSpPr>
          <p:cNvPr id="24" name="Text 21"/>
          <p:cNvSpPr txBox="1"/>
          <p:nvPr/>
        </p:nvSpPr>
        <p:spPr>
          <a:xfrm>
            <a:off x="6450178" y="4617720"/>
            <a:ext cx="21031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NOTRE ANCRAGE</a:t>
            </a:r>
            <a:endParaRPr lang="en-US" sz="1000" dirty="0"/>
          </a:p>
        </p:txBody>
      </p:sp>
      <p:sp>
        <p:nvSpPr>
          <p:cNvPr id="25" name="Text 22"/>
          <p:cNvSpPr txBox="1"/>
          <p:nvPr/>
        </p:nvSpPr>
        <p:spPr>
          <a:xfrm>
            <a:off x="6450178" y="4892040"/>
            <a:ext cx="2103120" cy="868680"/>
          </a:xfrm>
          <a:prstGeom prst="rect">
            <a:avLst/>
          </a:prstGeom>
          <a:noFill/>
          <a:ln/>
        </p:spPr>
        <p:txBody>
          <a:bodyPr wrap="square" lIns="0" tIns="0" rIns="0" bIns="0" rtlCol="0" anchor="t"/>
          <a:lstStyle/>
          <a:p>
            <a:pPr indent="0" marL="0">
              <a:buNone/>
            </a:pPr>
            <a:r>
              <a:rPr lang="en-US" sz="1200" b="1" dirty="0">
                <a:solidFill>
                  <a:schemeClr val="tx2"/>
                </a:solidFill>
              </a:rPr>
              <a:t>Protection des données et hébergement local dès la conception</a:t>
            </a:r>
            <a:endParaRPr lang="en-US" sz="1200" dirty="0"/>
          </a:p>
        </p:txBody>
      </p:sp>
      <p:sp>
        <p:nvSpPr>
          <p:cNvPr id="26" name="Levier 4"/>
          <p:cNvSpPr/>
          <p:nvPr/>
        </p:nvSpPr>
        <p:spPr>
          <a:xfrm>
            <a:off x="8989466" y="2011680"/>
            <a:ext cx="2651760" cy="3931920"/>
          </a:xfrm>
          <a:prstGeom prst="roundRect">
            <a:avLst>
              <a:gd name="adj" fmla="val 4138"/>
            </a:avLst>
          </a:prstGeom>
          <a:solidFill>
            <a:schemeClr val="bg2"/>
          </a:solidFill>
          <a:ln/>
        </p:spPr>
      </p:sp>
      <p:sp>
        <p:nvSpPr>
          <p:cNvPr id="27" name="Text 24"/>
          <p:cNvSpPr txBox="1"/>
          <p:nvPr/>
        </p:nvSpPr>
        <p:spPr>
          <a:xfrm>
            <a:off x="9218066" y="2194560"/>
            <a:ext cx="2194560" cy="502920"/>
          </a:xfrm>
          <a:prstGeom prst="rect">
            <a:avLst/>
          </a:prstGeom>
          <a:noFill/>
          <a:ln/>
        </p:spPr>
        <p:txBody>
          <a:bodyPr wrap="square" lIns="0" tIns="0" rIns="0" bIns="0" rtlCol="0" anchor="t"/>
          <a:lstStyle/>
          <a:p>
            <a:pPr indent="0" marL="0">
              <a:buNone/>
            </a:pPr>
            <a:r>
              <a:rPr lang="en-US" sz="1100" b="1" spc="100" kern="0" dirty="0">
                <a:solidFill>
                  <a:schemeClr val="accent1"/>
                </a:solidFill>
              </a:rPr>
              <a:t>4. ADOPTION ET USAGES</a:t>
            </a:r>
            <a:endParaRPr lang="en-US" sz="1100" dirty="0"/>
          </a:p>
        </p:txBody>
      </p:sp>
      <p:sp>
        <p:nvSpPr>
          <p:cNvPr id="28" name="Text 25"/>
          <p:cNvSpPr txBox="1"/>
          <p:nvPr/>
        </p:nvSpPr>
        <p:spPr>
          <a:xfrm>
            <a:off x="9218066" y="2788920"/>
            <a:ext cx="219456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LE PROGRAMME</a:t>
            </a:r>
            <a:endParaRPr lang="en-US" sz="1000" dirty="0"/>
          </a:p>
        </p:txBody>
      </p:sp>
      <p:sp>
        <p:nvSpPr>
          <p:cNvPr id="29" name="Text 26"/>
          <p:cNvSpPr txBox="1"/>
          <p:nvPr/>
        </p:nvSpPr>
        <p:spPr>
          <a:xfrm>
            <a:off x="9218066" y="3063240"/>
            <a:ext cx="2194560" cy="1371600"/>
          </a:xfrm>
          <a:prstGeom prst="rect">
            <a:avLst/>
          </a:prstGeom>
          <a:noFill/>
          <a:ln/>
        </p:spPr>
        <p:txBody>
          <a:bodyPr wrap="square" lIns="0" tIns="0" rIns="0" bIns="0" rtlCol="0" anchor="t"/>
          <a:lstStyle/>
          <a:p>
            <a:pPr indent="0" marL="0">
              <a:buNone/>
            </a:pPr>
            <a:r>
              <a:rPr lang="en-US" sz="1300" dirty="0">
                <a:solidFill>
                  <a:schemeClr val="tx1"/>
                </a:solidFill>
              </a:rPr>
              <a:t>Relais digitaux communautaires dans chaque localité</a:t>
            </a:r>
            <a:endParaRPr lang="en-US" sz="1300" dirty="0"/>
          </a:p>
        </p:txBody>
      </p:sp>
      <p:sp>
        <p:nvSpPr>
          <p:cNvPr id="30" name="Shape 27"/>
          <p:cNvSpPr/>
          <p:nvPr/>
        </p:nvSpPr>
        <p:spPr>
          <a:xfrm>
            <a:off x="9126626" y="4526280"/>
            <a:ext cx="2377440" cy="1280160"/>
          </a:xfrm>
          <a:prstGeom prst="roundRect">
            <a:avLst>
              <a:gd name="adj" fmla="val 7143"/>
            </a:avLst>
          </a:prstGeom>
          <a:solidFill>
            <a:schemeClr val="accent4"/>
          </a:solidFill>
          <a:ln/>
        </p:spPr>
      </p:sp>
      <p:sp>
        <p:nvSpPr>
          <p:cNvPr id="31" name="Text 28"/>
          <p:cNvSpPr txBox="1"/>
          <p:nvPr/>
        </p:nvSpPr>
        <p:spPr>
          <a:xfrm>
            <a:off x="9263786" y="4617720"/>
            <a:ext cx="21031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NOTRE ANCRAGE</a:t>
            </a:r>
            <a:endParaRPr lang="en-US" sz="1000" dirty="0"/>
          </a:p>
        </p:txBody>
      </p:sp>
      <p:sp>
        <p:nvSpPr>
          <p:cNvPr id="32" name="Text 29"/>
          <p:cNvSpPr txBox="1"/>
          <p:nvPr/>
        </p:nvSpPr>
        <p:spPr>
          <a:xfrm>
            <a:off x="9263786" y="4892040"/>
            <a:ext cx="2103120" cy="868680"/>
          </a:xfrm>
          <a:prstGeom prst="rect">
            <a:avLst/>
          </a:prstGeom>
          <a:noFill/>
          <a:ln/>
        </p:spPr>
        <p:txBody>
          <a:bodyPr wrap="square" lIns="0" tIns="0" rIns="0" bIns="0" rtlCol="0" anchor="t"/>
          <a:lstStyle/>
          <a:p>
            <a:pPr indent="0" marL="0">
              <a:buNone/>
            </a:pPr>
            <a:r>
              <a:rPr lang="en-US" sz="1200" b="1" dirty="0">
                <a:solidFill>
                  <a:schemeClr val="tx2"/>
                </a:solidFill>
              </a:rPr>
              <a:t>Les relais deviennent des points de signalement de proximité</a:t>
            </a:r>
            <a:endParaRPr lang="en-US" sz="1200" dirty="0"/>
          </a:p>
        </p:txBody>
      </p:sp>
      <p:sp>
        <p:nvSpPr>
          <p:cNvPr id="33" name="Text 30"/>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17, 64 et 65</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VOIES D'ACCÉLÉRATION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solution vise les critères du label national</a:t>
            </a:r>
            <a:endParaRPr lang="en-US" sz="2800" dirty="0"/>
          </a:p>
        </p:txBody>
      </p:sp>
      <p:sp>
        <p:nvSpPr>
          <p:cNvPr id="5" name="Text 2"/>
          <p:cNvSpPr txBox="1"/>
          <p:nvPr/>
        </p:nvSpPr>
        <p:spPr>
          <a:xfrm>
            <a:off x="548640" y="2011680"/>
            <a:ext cx="274320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CRITÈRE DU LABEL</a:t>
            </a:r>
            <a:endParaRPr lang="en-US" sz="1000" dirty="0"/>
          </a:p>
        </p:txBody>
      </p:sp>
      <p:sp>
        <p:nvSpPr>
          <p:cNvPr id="6" name="Text 3"/>
          <p:cNvSpPr txBox="1"/>
          <p:nvPr/>
        </p:nvSpPr>
        <p:spPr>
          <a:xfrm>
            <a:off x="3383280" y="2011680"/>
            <a:ext cx="320040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RÉPONSE VISÉE PAR LA SOLUTION</a:t>
            </a:r>
            <a:endParaRPr lang="en-US" sz="1000" dirty="0"/>
          </a:p>
        </p:txBody>
      </p:sp>
      <p:sp>
        <p:nvSpPr>
          <p:cNvPr id="7" name="Critère 1"/>
          <p:cNvSpPr/>
          <p:nvPr/>
        </p:nvSpPr>
        <p:spPr>
          <a:xfrm>
            <a:off x="548640" y="2331720"/>
            <a:ext cx="6035040" cy="804672"/>
          </a:xfrm>
          <a:prstGeom prst="roundRect">
            <a:avLst>
              <a:gd name="adj" fmla="val 13636"/>
            </a:avLst>
          </a:prstGeom>
          <a:solidFill>
            <a:schemeClr val="bg2"/>
          </a:solidFill>
          <a:ln/>
        </p:spPr>
      </p:sp>
      <p:sp>
        <p:nvSpPr>
          <p:cNvPr id="8" name="Shape 5"/>
          <p:cNvSpPr/>
          <p:nvPr/>
        </p:nvSpPr>
        <p:spPr>
          <a:xfrm>
            <a:off x="713232" y="2532888"/>
            <a:ext cx="402336" cy="402336"/>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813816" y="2633472"/>
            <a:ext cx="201168" cy="201168"/>
          </a:xfrm>
          <a:prstGeom prst="rect">
            <a:avLst/>
          </a:prstGeom>
        </p:spPr>
      </p:pic>
      <p:sp>
        <p:nvSpPr>
          <p:cNvPr id="10" name="Text 6"/>
          <p:cNvSpPr txBox="1"/>
          <p:nvPr/>
        </p:nvSpPr>
        <p:spPr>
          <a:xfrm>
            <a:off x="1280160" y="2331720"/>
            <a:ext cx="2011680" cy="804672"/>
          </a:xfrm>
          <a:prstGeom prst="rect">
            <a:avLst/>
          </a:prstGeom>
          <a:noFill/>
          <a:ln/>
        </p:spPr>
        <p:txBody>
          <a:bodyPr wrap="square" lIns="0" tIns="0" rIns="0" bIns="0" rtlCol="0" anchor="ctr"/>
          <a:lstStyle/>
          <a:p>
            <a:pPr indent="0" marL="0">
              <a:buNone/>
            </a:pPr>
            <a:r>
              <a:rPr lang="en-US" sz="1200" b="1" dirty="0">
                <a:solidFill>
                  <a:schemeClr val="tx2"/>
                </a:solidFill>
              </a:rPr>
              <a:t>Développement sur le territoire</a:t>
            </a:r>
            <a:endParaRPr lang="en-US" sz="1200" dirty="0"/>
          </a:p>
        </p:txBody>
      </p:sp>
      <p:sp>
        <p:nvSpPr>
          <p:cNvPr id="11" name="Text 7"/>
          <p:cNvSpPr txBox="1"/>
          <p:nvPr/>
        </p:nvSpPr>
        <p:spPr>
          <a:xfrm>
            <a:off x="3383280" y="2331720"/>
            <a:ext cx="3063240" cy="804672"/>
          </a:xfrm>
          <a:prstGeom prst="rect">
            <a:avLst/>
          </a:prstGeom>
          <a:noFill/>
          <a:ln/>
        </p:spPr>
        <p:txBody>
          <a:bodyPr wrap="square" lIns="0" tIns="0" rIns="0" bIns="0" rtlCol="0" anchor="ctr"/>
          <a:lstStyle/>
          <a:p>
            <a:pPr indent="0" marL="0">
              <a:buNone/>
            </a:pPr>
            <a:r>
              <a:rPr lang="en-US" sz="1200" dirty="0">
                <a:solidFill>
                  <a:schemeClr val="tx1"/>
                </a:solidFill>
              </a:rPr>
              <a:t>Conçue et exploitée depuis le Bénin</a:t>
            </a:r>
            <a:endParaRPr lang="en-US" sz="1200" dirty="0"/>
          </a:p>
        </p:txBody>
      </p:sp>
      <p:sp>
        <p:nvSpPr>
          <p:cNvPr id="12" name="Critère 2"/>
          <p:cNvSpPr/>
          <p:nvPr/>
        </p:nvSpPr>
        <p:spPr>
          <a:xfrm>
            <a:off x="548640" y="3246120"/>
            <a:ext cx="6035040" cy="804672"/>
          </a:xfrm>
          <a:prstGeom prst="roundRect">
            <a:avLst>
              <a:gd name="adj" fmla="val 13636"/>
            </a:avLst>
          </a:prstGeom>
          <a:solidFill>
            <a:schemeClr val="bg2"/>
          </a:solidFill>
          <a:ln/>
        </p:spPr>
      </p:sp>
      <p:sp>
        <p:nvSpPr>
          <p:cNvPr id="13" name="Shape 9"/>
          <p:cNvSpPr/>
          <p:nvPr/>
        </p:nvSpPr>
        <p:spPr>
          <a:xfrm>
            <a:off x="713232" y="3447288"/>
            <a:ext cx="402336" cy="402336"/>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813816" y="3547872"/>
            <a:ext cx="201168" cy="201168"/>
          </a:xfrm>
          <a:prstGeom prst="rect">
            <a:avLst/>
          </a:prstGeom>
        </p:spPr>
      </p:pic>
      <p:sp>
        <p:nvSpPr>
          <p:cNvPr id="15" name="Text 10"/>
          <p:cNvSpPr txBox="1"/>
          <p:nvPr/>
        </p:nvSpPr>
        <p:spPr>
          <a:xfrm>
            <a:off x="1280160" y="3246120"/>
            <a:ext cx="2011680" cy="804672"/>
          </a:xfrm>
          <a:prstGeom prst="rect">
            <a:avLst/>
          </a:prstGeom>
          <a:noFill/>
          <a:ln/>
        </p:spPr>
        <p:txBody>
          <a:bodyPr wrap="square" lIns="0" tIns="0" rIns="0" bIns="0" rtlCol="0" anchor="ctr"/>
          <a:lstStyle/>
          <a:p>
            <a:pPr indent="0" marL="0">
              <a:buNone/>
            </a:pPr>
            <a:r>
              <a:rPr lang="en-US" sz="1200" b="1" dirty="0">
                <a:solidFill>
                  <a:schemeClr val="tx2"/>
                </a:solidFill>
              </a:rPr>
              <a:t>Utilisation de données locales</a:t>
            </a:r>
            <a:endParaRPr lang="en-US" sz="1200" dirty="0"/>
          </a:p>
        </p:txBody>
      </p:sp>
      <p:sp>
        <p:nvSpPr>
          <p:cNvPr id="16" name="Text 11"/>
          <p:cNvSpPr txBox="1"/>
          <p:nvPr/>
        </p:nvSpPr>
        <p:spPr>
          <a:xfrm>
            <a:off x="3383280" y="3246120"/>
            <a:ext cx="3063240" cy="804672"/>
          </a:xfrm>
          <a:prstGeom prst="rect">
            <a:avLst/>
          </a:prstGeom>
          <a:noFill/>
          <a:ln/>
        </p:spPr>
        <p:txBody>
          <a:bodyPr wrap="square" lIns="0" tIns="0" rIns="0" bIns="0" rtlCol="0" anchor="ctr"/>
          <a:lstStyle/>
          <a:p>
            <a:pPr indent="0" marL="0">
              <a:buNone/>
            </a:pPr>
            <a:r>
              <a:rPr lang="en-US" sz="1200" dirty="0">
                <a:solidFill>
                  <a:schemeClr val="tx1"/>
                </a:solidFill>
              </a:rPr>
              <a:t>Un inventaire propre à chaque commune</a:t>
            </a:r>
            <a:endParaRPr lang="en-US" sz="1200" dirty="0"/>
          </a:p>
        </p:txBody>
      </p:sp>
      <p:sp>
        <p:nvSpPr>
          <p:cNvPr id="17" name="Critère 3"/>
          <p:cNvSpPr/>
          <p:nvPr/>
        </p:nvSpPr>
        <p:spPr>
          <a:xfrm>
            <a:off x="548640" y="4160520"/>
            <a:ext cx="6035040" cy="804672"/>
          </a:xfrm>
          <a:prstGeom prst="roundRect">
            <a:avLst>
              <a:gd name="adj" fmla="val 13636"/>
            </a:avLst>
          </a:prstGeom>
          <a:solidFill>
            <a:schemeClr val="bg2"/>
          </a:solidFill>
          <a:ln/>
        </p:spPr>
      </p:sp>
      <p:sp>
        <p:nvSpPr>
          <p:cNvPr id="18" name="Shape 13"/>
          <p:cNvSpPr/>
          <p:nvPr/>
        </p:nvSpPr>
        <p:spPr>
          <a:xfrm>
            <a:off x="713232" y="4361688"/>
            <a:ext cx="402336" cy="402336"/>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813816" y="4462272"/>
            <a:ext cx="201168" cy="201168"/>
          </a:xfrm>
          <a:prstGeom prst="rect">
            <a:avLst/>
          </a:prstGeom>
        </p:spPr>
      </p:pic>
      <p:sp>
        <p:nvSpPr>
          <p:cNvPr id="20" name="Text 14"/>
          <p:cNvSpPr txBox="1"/>
          <p:nvPr/>
        </p:nvSpPr>
        <p:spPr>
          <a:xfrm>
            <a:off x="1280160" y="4160520"/>
            <a:ext cx="2011680" cy="804672"/>
          </a:xfrm>
          <a:prstGeom prst="rect">
            <a:avLst/>
          </a:prstGeom>
          <a:noFill/>
          <a:ln/>
        </p:spPr>
        <p:txBody>
          <a:bodyPr wrap="square" lIns="0" tIns="0" rIns="0" bIns="0" rtlCol="0" anchor="ctr"/>
          <a:lstStyle/>
          <a:p>
            <a:pPr indent="0" marL="0">
              <a:buNone/>
            </a:pPr>
            <a:r>
              <a:rPr lang="en-US" sz="1200" b="1" dirty="0">
                <a:solidFill>
                  <a:schemeClr val="tx2"/>
                </a:solidFill>
              </a:rPr>
              <a:t>Adaptation au contexte béninois</a:t>
            </a:r>
            <a:endParaRPr lang="en-US" sz="1200" dirty="0"/>
          </a:p>
        </p:txBody>
      </p:sp>
      <p:sp>
        <p:nvSpPr>
          <p:cNvPr id="21" name="Text 15"/>
          <p:cNvSpPr txBox="1"/>
          <p:nvPr/>
        </p:nvSpPr>
        <p:spPr>
          <a:xfrm>
            <a:off x="3383280" y="4160520"/>
            <a:ext cx="3063240" cy="804672"/>
          </a:xfrm>
          <a:prstGeom prst="rect">
            <a:avLst/>
          </a:prstGeom>
          <a:noFill/>
          <a:ln/>
        </p:spPr>
        <p:txBody>
          <a:bodyPr wrap="square" lIns="0" tIns="0" rIns="0" bIns="0" rtlCol="0" anchor="ctr"/>
          <a:lstStyle/>
          <a:p>
            <a:pPr indent="0" marL="0">
              <a:buNone/>
            </a:pPr>
            <a:r>
              <a:rPr lang="en-US" sz="1200" dirty="0">
                <a:solidFill>
                  <a:schemeClr val="tx1"/>
                </a:solidFill>
              </a:rPr>
              <a:t>Téléphone simple, QR code, langues locales, connexion faible</a:t>
            </a:r>
            <a:endParaRPr lang="en-US" sz="1200" dirty="0"/>
          </a:p>
        </p:txBody>
      </p:sp>
      <p:sp>
        <p:nvSpPr>
          <p:cNvPr id="22" name="Critère 4"/>
          <p:cNvSpPr/>
          <p:nvPr/>
        </p:nvSpPr>
        <p:spPr>
          <a:xfrm>
            <a:off x="548640" y="5074920"/>
            <a:ext cx="6035040" cy="804672"/>
          </a:xfrm>
          <a:prstGeom prst="roundRect">
            <a:avLst>
              <a:gd name="adj" fmla="val 13636"/>
            </a:avLst>
          </a:prstGeom>
          <a:solidFill>
            <a:schemeClr val="bg2"/>
          </a:solidFill>
          <a:ln/>
        </p:spPr>
      </p:sp>
      <p:sp>
        <p:nvSpPr>
          <p:cNvPr id="23" name="Shape 17"/>
          <p:cNvSpPr/>
          <p:nvPr/>
        </p:nvSpPr>
        <p:spPr>
          <a:xfrm>
            <a:off x="713232" y="5276088"/>
            <a:ext cx="402336" cy="402336"/>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813816" y="5376672"/>
            <a:ext cx="201168" cy="201168"/>
          </a:xfrm>
          <a:prstGeom prst="rect">
            <a:avLst/>
          </a:prstGeom>
        </p:spPr>
      </p:pic>
      <p:sp>
        <p:nvSpPr>
          <p:cNvPr id="25" name="Text 18"/>
          <p:cNvSpPr txBox="1"/>
          <p:nvPr/>
        </p:nvSpPr>
        <p:spPr>
          <a:xfrm>
            <a:off x="1280160" y="5074920"/>
            <a:ext cx="2011680" cy="804672"/>
          </a:xfrm>
          <a:prstGeom prst="rect">
            <a:avLst/>
          </a:prstGeom>
          <a:noFill/>
          <a:ln/>
        </p:spPr>
        <p:txBody>
          <a:bodyPr wrap="square" lIns="0" tIns="0" rIns="0" bIns="0" rtlCol="0" anchor="ctr"/>
          <a:lstStyle/>
          <a:p>
            <a:pPr indent="0" marL="0">
              <a:buNone/>
            </a:pPr>
            <a:r>
              <a:rPr lang="en-US" sz="1200" b="1" dirty="0">
                <a:solidFill>
                  <a:schemeClr val="tx2"/>
                </a:solidFill>
              </a:rPr>
              <a:t>Équipes béninoises</a:t>
            </a:r>
            <a:endParaRPr lang="en-US" sz="1200" dirty="0"/>
          </a:p>
        </p:txBody>
      </p:sp>
      <p:sp>
        <p:nvSpPr>
          <p:cNvPr id="26" name="Text 19"/>
          <p:cNvSpPr txBox="1"/>
          <p:nvPr/>
        </p:nvSpPr>
        <p:spPr>
          <a:xfrm>
            <a:off x="3383280" y="5074920"/>
            <a:ext cx="3063240" cy="804672"/>
          </a:xfrm>
          <a:prstGeom prst="rect">
            <a:avLst/>
          </a:prstGeom>
          <a:noFill/>
          <a:ln/>
        </p:spPr>
        <p:txBody>
          <a:bodyPr wrap="square" lIns="0" tIns="0" rIns="0" bIns="0" rtlCol="0" anchor="ctr"/>
          <a:lstStyle/>
          <a:p>
            <a:pPr indent="0" marL="0">
              <a:buNone/>
            </a:pPr>
            <a:r>
              <a:rPr lang="en-US" sz="1200" dirty="0">
                <a:solidFill>
                  <a:schemeClr val="tx1"/>
                </a:solidFill>
              </a:rPr>
              <a:t>Équipe locale et formation des techniciens</a:t>
            </a:r>
            <a:endParaRPr lang="en-US" sz="1200" dirty="0"/>
          </a:p>
        </p:txBody>
      </p:sp>
      <p:sp>
        <p:nvSpPr>
          <p:cNvPr id="27" name="Carte chemin"/>
          <p:cNvSpPr/>
          <p:nvPr/>
        </p:nvSpPr>
        <p:spPr>
          <a:xfrm>
            <a:off x="6903720" y="2011680"/>
            <a:ext cx="4736592" cy="3931920"/>
          </a:xfrm>
          <a:prstGeom prst="roundRect">
            <a:avLst>
              <a:gd name="adj" fmla="val 2791"/>
            </a:avLst>
          </a:prstGeom>
          <a:solidFill>
            <a:schemeClr val="tx2"/>
          </a:solidFill>
          <a:ln/>
        </p:spPr>
      </p:sp>
      <p:sp>
        <p:nvSpPr>
          <p:cNvPr id="28" name="Text 21"/>
          <p:cNvSpPr txBox="1"/>
          <p:nvPr/>
        </p:nvSpPr>
        <p:spPr>
          <a:xfrm>
            <a:off x="7223760" y="2240280"/>
            <a:ext cx="41148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LE CHEMIN</a:t>
            </a:r>
            <a:endParaRPr lang="en-US" sz="1200" dirty="0"/>
          </a:p>
        </p:txBody>
      </p:sp>
      <p:sp>
        <p:nvSpPr>
          <p:cNvPr id="29" name="Shape 22"/>
          <p:cNvSpPr/>
          <p:nvPr/>
        </p:nvSpPr>
        <p:spPr>
          <a:xfrm>
            <a:off x="7223760" y="2788920"/>
            <a:ext cx="548640" cy="548640"/>
          </a:xfrm>
          <a:prstGeom prst="ellipse">
            <a:avLst/>
          </a:prstGeom>
          <a:solidFill>
            <a:schemeClr val="accent2"/>
          </a:solidFill>
          <a:ln/>
        </p:spPr>
      </p:sp>
      <p:sp>
        <p:nvSpPr>
          <p:cNvPr id="30" name="Text 23"/>
          <p:cNvSpPr txBox="1"/>
          <p:nvPr/>
        </p:nvSpPr>
        <p:spPr>
          <a:xfrm>
            <a:off x="7223760" y="278892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31" name="Text 24"/>
          <p:cNvSpPr txBox="1"/>
          <p:nvPr/>
        </p:nvSpPr>
        <p:spPr>
          <a:xfrm>
            <a:off x="8001000" y="2743200"/>
            <a:ext cx="3474720" cy="365760"/>
          </a:xfrm>
          <a:prstGeom prst="rect">
            <a:avLst/>
          </a:prstGeom>
          <a:noFill/>
          <a:ln/>
        </p:spPr>
        <p:txBody>
          <a:bodyPr wrap="square" lIns="0" tIns="0" rIns="0" bIns="0" rtlCol="0" anchor="t"/>
          <a:lstStyle/>
          <a:p>
            <a:pPr indent="0" marL="0">
              <a:buNone/>
            </a:pPr>
            <a:r>
              <a:rPr lang="en-US" sz="1600" b="1" dirty="0">
                <a:solidFill>
                  <a:schemeClr val="bg1"/>
                </a:solidFill>
              </a:rPr>
              <a:t>Pilote en commune</a:t>
            </a:r>
            <a:endParaRPr lang="en-US" sz="1600" dirty="0"/>
          </a:p>
        </p:txBody>
      </p:sp>
      <p:sp>
        <p:nvSpPr>
          <p:cNvPr id="32" name="Text 25"/>
          <p:cNvSpPr txBox="1"/>
          <p:nvPr/>
        </p:nvSpPr>
        <p:spPr>
          <a:xfrm>
            <a:off x="8001000" y="3108960"/>
            <a:ext cx="3474720" cy="548640"/>
          </a:xfrm>
          <a:prstGeom prst="rect">
            <a:avLst/>
          </a:prstGeom>
          <a:noFill/>
          <a:ln/>
        </p:spPr>
        <p:txBody>
          <a:bodyPr wrap="square" lIns="0" tIns="0" rIns="0" bIns="0" rtlCol="0" anchor="t"/>
          <a:lstStyle/>
          <a:p>
            <a:pPr indent="0" marL="0">
              <a:buNone/>
            </a:pPr>
            <a:r>
              <a:rPr lang="en-US" sz="1200" dirty="0">
                <a:solidFill>
                  <a:schemeClr val="accent3"/>
                </a:solidFill>
              </a:rPr>
              <a:t>Preuve d'usage sur des ouvrages réels</a:t>
            </a:r>
            <a:endParaRPr lang="en-US" sz="1200" dirty="0"/>
          </a:p>
        </p:txBody>
      </p:sp>
      <p:sp>
        <p:nvSpPr>
          <p:cNvPr id="33" name="Shape 26"/>
          <p:cNvSpPr/>
          <p:nvPr/>
        </p:nvSpPr>
        <p:spPr>
          <a:xfrm>
            <a:off x="7223760" y="3840480"/>
            <a:ext cx="548640" cy="548640"/>
          </a:xfrm>
          <a:prstGeom prst="ellipse">
            <a:avLst/>
          </a:prstGeom>
          <a:solidFill>
            <a:schemeClr val="accent2"/>
          </a:solidFill>
          <a:ln/>
        </p:spPr>
      </p:sp>
      <p:sp>
        <p:nvSpPr>
          <p:cNvPr id="34" name="Text 27"/>
          <p:cNvSpPr txBox="1"/>
          <p:nvPr/>
        </p:nvSpPr>
        <p:spPr>
          <a:xfrm>
            <a:off x="7223760" y="384048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35" name="Text 28"/>
          <p:cNvSpPr txBox="1"/>
          <p:nvPr/>
        </p:nvSpPr>
        <p:spPr>
          <a:xfrm>
            <a:off x="8001000" y="3794760"/>
            <a:ext cx="3474720" cy="365760"/>
          </a:xfrm>
          <a:prstGeom prst="rect">
            <a:avLst/>
          </a:prstGeom>
          <a:noFill/>
          <a:ln/>
        </p:spPr>
        <p:txBody>
          <a:bodyPr wrap="square" lIns="0" tIns="0" rIns="0" bIns="0" rtlCol="0" anchor="t"/>
          <a:lstStyle/>
          <a:p>
            <a:pPr indent="0" marL="0">
              <a:buNone/>
            </a:pPr>
            <a:r>
              <a:rPr lang="en-US" sz="1600" b="1" dirty="0">
                <a:solidFill>
                  <a:schemeClr val="bg1"/>
                </a:solidFill>
              </a:rPr>
              <a:t>Label et commande publique</a:t>
            </a:r>
            <a:endParaRPr lang="en-US" sz="1600" dirty="0"/>
          </a:p>
        </p:txBody>
      </p:sp>
      <p:sp>
        <p:nvSpPr>
          <p:cNvPr id="36" name="Text 29"/>
          <p:cNvSpPr txBox="1"/>
          <p:nvPr/>
        </p:nvSpPr>
        <p:spPr>
          <a:xfrm>
            <a:off x="8001000" y="4160520"/>
            <a:ext cx="3474720" cy="548640"/>
          </a:xfrm>
          <a:prstGeom prst="rect">
            <a:avLst/>
          </a:prstGeom>
          <a:noFill/>
          <a:ln/>
        </p:spPr>
        <p:txBody>
          <a:bodyPr wrap="square" lIns="0" tIns="0" rIns="0" bIns="0" rtlCol="0" anchor="t"/>
          <a:lstStyle/>
          <a:p>
            <a:pPr indent="0" marL="0">
              <a:buNone/>
            </a:pPr>
            <a:r>
              <a:rPr lang="en-US" sz="1200" dirty="0">
                <a:solidFill>
                  <a:schemeClr val="accent3"/>
                </a:solidFill>
              </a:rPr>
              <a:t>Accès aux achats publics et aux fonds d'amorçage</a:t>
            </a:r>
            <a:endParaRPr lang="en-US" sz="1200" dirty="0"/>
          </a:p>
        </p:txBody>
      </p:sp>
      <p:sp>
        <p:nvSpPr>
          <p:cNvPr id="37" name="Shape 30"/>
          <p:cNvSpPr/>
          <p:nvPr/>
        </p:nvSpPr>
        <p:spPr>
          <a:xfrm>
            <a:off x="7223760" y="4892040"/>
            <a:ext cx="548640" cy="548640"/>
          </a:xfrm>
          <a:prstGeom prst="ellipse">
            <a:avLst/>
          </a:prstGeom>
          <a:solidFill>
            <a:schemeClr val="accent2"/>
          </a:solidFill>
          <a:ln/>
        </p:spPr>
      </p:sp>
      <p:sp>
        <p:nvSpPr>
          <p:cNvPr id="38" name="Text 31"/>
          <p:cNvSpPr txBox="1"/>
          <p:nvPr/>
        </p:nvSpPr>
        <p:spPr>
          <a:xfrm>
            <a:off x="7223760" y="489204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39" name="Text 32"/>
          <p:cNvSpPr txBox="1"/>
          <p:nvPr/>
        </p:nvSpPr>
        <p:spPr>
          <a:xfrm>
            <a:off x="8001000" y="4846320"/>
            <a:ext cx="3474720" cy="365760"/>
          </a:xfrm>
          <a:prstGeom prst="rect">
            <a:avLst/>
          </a:prstGeom>
          <a:noFill/>
          <a:ln/>
        </p:spPr>
        <p:txBody>
          <a:bodyPr wrap="square" lIns="0" tIns="0" rIns="0" bIns="0" rtlCol="0" anchor="t"/>
          <a:lstStyle/>
          <a:p>
            <a:pPr indent="0" marL="0">
              <a:buNone/>
            </a:pPr>
            <a:r>
              <a:rPr lang="en-US" sz="1600" b="1" dirty="0">
                <a:solidFill>
                  <a:schemeClr val="bg1"/>
                </a:solidFill>
              </a:rPr>
              <a:t>Déploiement par pôle</a:t>
            </a:r>
            <a:endParaRPr lang="en-US" sz="1600" dirty="0"/>
          </a:p>
        </p:txBody>
      </p:sp>
      <p:sp>
        <p:nvSpPr>
          <p:cNvPr id="40" name="Text 33"/>
          <p:cNvSpPr txBox="1"/>
          <p:nvPr/>
        </p:nvSpPr>
        <p:spPr>
          <a:xfrm>
            <a:off x="8001000" y="5212080"/>
            <a:ext cx="3474720" cy="548640"/>
          </a:xfrm>
          <a:prstGeom prst="rect">
            <a:avLst/>
          </a:prstGeom>
          <a:noFill/>
          <a:ln/>
        </p:spPr>
        <p:txBody>
          <a:bodyPr wrap="square" lIns="0" tIns="0" rIns="0" bIns="0" rtlCol="0" anchor="t"/>
          <a:lstStyle/>
          <a:p>
            <a:pPr indent="0" marL="0">
              <a:buNone/>
            </a:pPr>
            <a:r>
              <a:rPr lang="en-US" sz="1200" dirty="0">
                <a:solidFill>
                  <a:schemeClr val="accent3"/>
                </a:solidFill>
              </a:rPr>
              <a:t>Extension commune après commune</a:t>
            </a:r>
            <a:endParaRPr lang="en-US" sz="1200" dirty="0"/>
          </a:p>
        </p:txBody>
      </p:sp>
      <p:sp>
        <p:nvSpPr>
          <p:cNvPr id="41"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65</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AXE DE LA PROPOSITION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 axe unique qui sert les trois priorités du programme</a:t>
            </a:r>
            <a:endParaRPr lang="en-US" sz="2800" dirty="0"/>
          </a:p>
        </p:txBody>
      </p:sp>
      <p:sp>
        <p:nvSpPr>
          <p:cNvPr id="5" name="Énoncé de l'axe"/>
          <p:cNvSpPr/>
          <p:nvPr/>
        </p:nvSpPr>
        <p:spPr>
          <a:xfrm>
            <a:off x="548640" y="1965960"/>
            <a:ext cx="11091672" cy="1097280"/>
          </a:xfrm>
          <a:prstGeom prst="roundRect">
            <a:avLst>
              <a:gd name="adj" fmla="val 10000"/>
            </a:avLst>
          </a:prstGeom>
          <a:solidFill>
            <a:schemeClr val="tx2"/>
          </a:solidFill>
          <a:ln/>
        </p:spPr>
      </p:sp>
      <p:sp>
        <p:nvSpPr>
          <p:cNvPr id="6" name="Text 3"/>
          <p:cNvSpPr txBox="1"/>
          <p:nvPr/>
        </p:nvSpPr>
        <p:spPr>
          <a:xfrm>
            <a:off x="868680" y="1965960"/>
            <a:ext cx="10424160" cy="1097280"/>
          </a:xfrm>
          <a:prstGeom prst="rect">
            <a:avLst/>
          </a:prstGeom>
          <a:noFill/>
          <a:ln/>
        </p:spPr>
        <p:txBody>
          <a:bodyPr wrap="square" lIns="0" tIns="0" rIns="0" bIns="0" rtlCol="0" anchor="ctr"/>
          <a:lstStyle/>
          <a:p>
            <a:pPr indent="0" marL="0">
              <a:buNone/>
            </a:pPr>
            <a:r>
              <a:rPr lang="en-US" sz="2000" b="1" dirty="0">
                <a:solidFill>
                  <a:schemeClr val="bg1"/>
                </a:solidFill>
              </a:rPr>
              <a:t>Faire durer et piloter les ouvrages du programme, du pôle de développement jusqu'à l'équipement de quartier.</a:t>
            </a:r>
            <a:endParaRPr lang="en-US" sz="2000" dirty="0"/>
          </a:p>
        </p:txBody>
      </p:sp>
      <p:sp>
        <p:nvSpPr>
          <p:cNvPr id="7" name="Priorité 1"/>
          <p:cNvSpPr/>
          <p:nvPr/>
        </p:nvSpPr>
        <p:spPr>
          <a:xfrm>
            <a:off x="548640" y="3246120"/>
            <a:ext cx="3611880" cy="2468880"/>
          </a:xfrm>
          <a:prstGeom prst="roundRect">
            <a:avLst>
              <a:gd name="adj" fmla="val 4444"/>
            </a:avLst>
          </a:prstGeom>
          <a:solidFill>
            <a:schemeClr val="bg2"/>
          </a:solidFill>
          <a:ln/>
        </p:spPr>
      </p:sp>
      <p:sp>
        <p:nvSpPr>
          <p:cNvPr id="8" name="Text 5"/>
          <p:cNvSpPr txBox="1"/>
          <p:nvPr/>
        </p:nvSpPr>
        <p:spPr>
          <a:xfrm>
            <a:off x="777240" y="3364992"/>
            <a:ext cx="3200400" cy="457200"/>
          </a:xfrm>
          <a:prstGeom prst="rect">
            <a:avLst/>
          </a:prstGeom>
          <a:noFill/>
          <a:ln/>
        </p:spPr>
        <p:txBody>
          <a:bodyPr wrap="square" lIns="0" tIns="0" rIns="0" bIns="0" rtlCol="0" anchor="t"/>
          <a:lstStyle/>
          <a:p>
            <a:pPr indent="0" marL="0">
              <a:buNone/>
            </a:pPr>
            <a:r>
              <a:rPr lang="en-US" sz="1050" b="1" spc="100" kern="0" dirty="0">
                <a:solidFill>
                  <a:schemeClr val="accent1"/>
                </a:solidFill>
              </a:rPr>
              <a:t>PRIORITÉ 1  ·  LE BIEN-ÊTRE SOCIAL POUR TOUS</a:t>
            </a:r>
            <a:endParaRPr lang="en-US" sz="1050" dirty="0"/>
          </a:p>
        </p:txBody>
      </p:sp>
      <p:sp>
        <p:nvSpPr>
          <p:cNvPr id="9" name="Shape 6"/>
          <p:cNvSpPr/>
          <p:nvPr/>
        </p:nvSpPr>
        <p:spPr>
          <a:xfrm>
            <a:off x="795528" y="4023360"/>
            <a:ext cx="128016" cy="128016"/>
          </a:xfrm>
          <a:prstGeom prst="ellipse">
            <a:avLst/>
          </a:prstGeom>
          <a:solidFill>
            <a:schemeClr val="accent2"/>
          </a:solidFill>
          <a:ln/>
        </p:spPr>
      </p:sp>
      <p:sp>
        <p:nvSpPr>
          <p:cNvPr id="10" name="Text 7"/>
          <p:cNvSpPr txBox="1"/>
          <p:nvPr/>
        </p:nvSpPr>
        <p:spPr>
          <a:xfrm>
            <a:off x="1051560" y="3931920"/>
            <a:ext cx="3017520" cy="411480"/>
          </a:xfrm>
          <a:prstGeom prst="rect">
            <a:avLst/>
          </a:prstGeom>
          <a:noFill/>
          <a:ln/>
        </p:spPr>
        <p:txBody>
          <a:bodyPr wrap="square" lIns="0" tIns="0" rIns="0" bIns="0" rtlCol="0" anchor="t"/>
          <a:lstStyle/>
          <a:p>
            <a:pPr indent="0" marL="0">
              <a:buNone/>
            </a:pPr>
            <a:r>
              <a:rPr lang="en-US" sz="1050" dirty="0">
                <a:solidFill>
                  <a:schemeClr val="tx1"/>
                </a:solidFill>
              </a:rPr>
              <a:t>Eau potable : forages, écoles, structures sanitaires (p. 21)</a:t>
            </a:r>
            <a:endParaRPr lang="en-US" sz="1050" dirty="0"/>
          </a:p>
        </p:txBody>
      </p:sp>
      <p:sp>
        <p:nvSpPr>
          <p:cNvPr id="11" name="Shape 8"/>
          <p:cNvSpPr/>
          <p:nvPr/>
        </p:nvSpPr>
        <p:spPr>
          <a:xfrm>
            <a:off x="795528" y="4453128"/>
            <a:ext cx="128016" cy="128016"/>
          </a:xfrm>
          <a:prstGeom prst="ellipse">
            <a:avLst/>
          </a:prstGeom>
          <a:solidFill>
            <a:schemeClr val="accent2"/>
          </a:solidFill>
          <a:ln/>
        </p:spPr>
      </p:sp>
      <p:sp>
        <p:nvSpPr>
          <p:cNvPr id="12" name="Text 9"/>
          <p:cNvSpPr txBox="1"/>
          <p:nvPr/>
        </p:nvSpPr>
        <p:spPr>
          <a:xfrm>
            <a:off x="1051560" y="4361688"/>
            <a:ext cx="3017520" cy="411480"/>
          </a:xfrm>
          <a:prstGeom prst="rect">
            <a:avLst/>
          </a:prstGeom>
          <a:noFill/>
          <a:ln/>
        </p:spPr>
        <p:txBody>
          <a:bodyPr wrap="square" lIns="0" tIns="0" rIns="0" bIns="0" rtlCol="0" anchor="t"/>
          <a:lstStyle/>
          <a:p>
            <a:pPr indent="0" marL="0">
              <a:buNone/>
            </a:pPr>
            <a:r>
              <a:rPr lang="en-US" sz="1050" dirty="0">
                <a:solidFill>
                  <a:schemeClr val="tx1"/>
                </a:solidFill>
              </a:rPr>
              <a:t>Cadre de vie : quartiers et éclairage (p. 23)</a:t>
            </a:r>
            <a:endParaRPr lang="en-US" sz="1050" dirty="0"/>
          </a:p>
        </p:txBody>
      </p:sp>
      <p:sp>
        <p:nvSpPr>
          <p:cNvPr id="13" name="Shape 10"/>
          <p:cNvSpPr/>
          <p:nvPr/>
        </p:nvSpPr>
        <p:spPr>
          <a:xfrm>
            <a:off x="795528" y="4882896"/>
            <a:ext cx="128016" cy="128016"/>
          </a:xfrm>
          <a:prstGeom prst="ellipse">
            <a:avLst/>
          </a:prstGeom>
          <a:solidFill>
            <a:schemeClr val="accent2"/>
          </a:solidFill>
          <a:ln/>
        </p:spPr>
      </p:sp>
      <p:sp>
        <p:nvSpPr>
          <p:cNvPr id="14" name="Text 11"/>
          <p:cNvSpPr txBox="1"/>
          <p:nvPr/>
        </p:nvSpPr>
        <p:spPr>
          <a:xfrm>
            <a:off x="1051560" y="4791456"/>
            <a:ext cx="3017520" cy="411480"/>
          </a:xfrm>
          <a:prstGeom prst="rect">
            <a:avLst/>
          </a:prstGeom>
          <a:noFill/>
          <a:ln/>
        </p:spPr>
        <p:txBody>
          <a:bodyPr wrap="square" lIns="0" tIns="0" rIns="0" bIns="0" rtlCol="0" anchor="t"/>
          <a:lstStyle/>
          <a:p>
            <a:pPr indent="0" marL="0">
              <a:buNone/>
            </a:pPr>
            <a:r>
              <a:rPr lang="en-US" sz="1050" dirty="0">
                <a:solidFill>
                  <a:schemeClr val="tx1"/>
                </a:solidFill>
              </a:rPr>
              <a:t>Sports : espaces d'arrondissement (p. 25)</a:t>
            </a:r>
            <a:endParaRPr lang="en-US" sz="1050" dirty="0"/>
          </a:p>
        </p:txBody>
      </p:sp>
      <p:sp>
        <p:nvSpPr>
          <p:cNvPr id="15" name="Priorité 2"/>
          <p:cNvSpPr/>
          <p:nvPr/>
        </p:nvSpPr>
        <p:spPr>
          <a:xfrm>
            <a:off x="4288536" y="3246120"/>
            <a:ext cx="3611880" cy="2468880"/>
          </a:xfrm>
          <a:prstGeom prst="roundRect">
            <a:avLst>
              <a:gd name="adj" fmla="val 4444"/>
            </a:avLst>
          </a:prstGeom>
          <a:solidFill>
            <a:schemeClr val="bg2"/>
          </a:solidFill>
          <a:ln/>
        </p:spPr>
      </p:sp>
      <p:sp>
        <p:nvSpPr>
          <p:cNvPr id="16" name="Text 13"/>
          <p:cNvSpPr txBox="1"/>
          <p:nvPr/>
        </p:nvSpPr>
        <p:spPr>
          <a:xfrm>
            <a:off x="4517136" y="3364992"/>
            <a:ext cx="3200400" cy="457200"/>
          </a:xfrm>
          <a:prstGeom prst="rect">
            <a:avLst/>
          </a:prstGeom>
          <a:noFill/>
          <a:ln/>
        </p:spPr>
        <p:txBody>
          <a:bodyPr wrap="square" lIns="0" tIns="0" rIns="0" bIns="0" rtlCol="0" anchor="t"/>
          <a:lstStyle/>
          <a:p>
            <a:pPr indent="0" marL="0">
              <a:buNone/>
            </a:pPr>
            <a:r>
              <a:rPr lang="en-US" sz="1050" b="1" spc="100" kern="0" dirty="0">
                <a:solidFill>
                  <a:schemeClr val="accent1"/>
                </a:solidFill>
              </a:rPr>
              <a:t>PRIORITÉ 2  ·  UNE ÉCONOMIE DIVERSIFIÉE ET COMPÉTITIVE</a:t>
            </a:r>
            <a:endParaRPr lang="en-US" sz="1050" dirty="0"/>
          </a:p>
        </p:txBody>
      </p:sp>
      <p:sp>
        <p:nvSpPr>
          <p:cNvPr id="17" name="Shape 14"/>
          <p:cNvSpPr/>
          <p:nvPr/>
        </p:nvSpPr>
        <p:spPr>
          <a:xfrm>
            <a:off x="4535424" y="4023360"/>
            <a:ext cx="128016" cy="128016"/>
          </a:xfrm>
          <a:prstGeom prst="ellipse">
            <a:avLst/>
          </a:prstGeom>
          <a:solidFill>
            <a:schemeClr val="accent2"/>
          </a:solidFill>
          <a:ln/>
        </p:spPr>
      </p:sp>
      <p:sp>
        <p:nvSpPr>
          <p:cNvPr id="18" name="Text 15"/>
          <p:cNvSpPr txBox="1"/>
          <p:nvPr/>
        </p:nvSpPr>
        <p:spPr>
          <a:xfrm>
            <a:off x="4791456" y="3931920"/>
            <a:ext cx="3017520" cy="411480"/>
          </a:xfrm>
          <a:prstGeom prst="rect">
            <a:avLst/>
          </a:prstGeom>
          <a:noFill/>
          <a:ln/>
        </p:spPr>
        <p:txBody>
          <a:bodyPr wrap="square" lIns="0" tIns="0" rIns="0" bIns="0" rtlCol="0" anchor="t"/>
          <a:lstStyle/>
          <a:p>
            <a:pPr indent="0" marL="0">
              <a:buNone/>
            </a:pPr>
            <a:r>
              <a:rPr lang="en-US" sz="1050" dirty="0">
                <a:solidFill>
                  <a:schemeClr val="tx1"/>
                </a:solidFill>
              </a:rPr>
              <a:t>Énergie : kits solaires, mini-réseaux (p. 32)</a:t>
            </a:r>
            <a:endParaRPr lang="en-US" sz="1050" dirty="0"/>
          </a:p>
        </p:txBody>
      </p:sp>
      <p:sp>
        <p:nvSpPr>
          <p:cNvPr id="19" name="Shape 16"/>
          <p:cNvSpPr/>
          <p:nvPr/>
        </p:nvSpPr>
        <p:spPr>
          <a:xfrm>
            <a:off x="4535424" y="4453128"/>
            <a:ext cx="128016" cy="128016"/>
          </a:xfrm>
          <a:prstGeom prst="ellipse">
            <a:avLst/>
          </a:prstGeom>
          <a:solidFill>
            <a:schemeClr val="accent2"/>
          </a:solidFill>
          <a:ln/>
        </p:spPr>
      </p:sp>
      <p:sp>
        <p:nvSpPr>
          <p:cNvPr id="20" name="Text 17"/>
          <p:cNvSpPr txBox="1"/>
          <p:nvPr/>
        </p:nvSpPr>
        <p:spPr>
          <a:xfrm>
            <a:off x="4791456" y="4361688"/>
            <a:ext cx="3017520" cy="411480"/>
          </a:xfrm>
          <a:prstGeom prst="rect">
            <a:avLst/>
          </a:prstGeom>
          <a:noFill/>
          <a:ln/>
        </p:spPr>
        <p:txBody>
          <a:bodyPr wrap="square" lIns="0" tIns="0" rIns="0" bIns="0" rtlCol="0" anchor="t"/>
          <a:lstStyle/>
          <a:p>
            <a:pPr indent="0" marL="0">
              <a:buNone/>
            </a:pPr>
            <a:r>
              <a:rPr lang="en-US" sz="1050" dirty="0">
                <a:solidFill>
                  <a:schemeClr val="tx1"/>
                </a:solidFill>
              </a:rPr>
              <a:t>Agriculture : centres de mécanisation (p. 29)</a:t>
            </a:r>
            <a:endParaRPr lang="en-US" sz="1050" dirty="0"/>
          </a:p>
        </p:txBody>
      </p:sp>
      <p:sp>
        <p:nvSpPr>
          <p:cNvPr id="21" name="Shape 18"/>
          <p:cNvSpPr/>
          <p:nvPr/>
        </p:nvSpPr>
        <p:spPr>
          <a:xfrm>
            <a:off x="4535424" y="4882896"/>
            <a:ext cx="128016" cy="128016"/>
          </a:xfrm>
          <a:prstGeom prst="ellipse">
            <a:avLst/>
          </a:prstGeom>
          <a:solidFill>
            <a:schemeClr val="accent2"/>
          </a:solidFill>
          <a:ln/>
        </p:spPr>
      </p:sp>
      <p:sp>
        <p:nvSpPr>
          <p:cNvPr id="22" name="Text 19"/>
          <p:cNvSpPr txBox="1"/>
          <p:nvPr/>
        </p:nvSpPr>
        <p:spPr>
          <a:xfrm>
            <a:off x="4791456" y="4791456"/>
            <a:ext cx="3017520" cy="411480"/>
          </a:xfrm>
          <a:prstGeom prst="rect">
            <a:avLst/>
          </a:prstGeom>
          <a:noFill/>
          <a:ln/>
        </p:spPr>
        <p:txBody>
          <a:bodyPr wrap="square" lIns="0" tIns="0" rIns="0" bIns="0" rtlCol="0" anchor="t"/>
          <a:lstStyle/>
          <a:p>
            <a:pPr indent="0" marL="0">
              <a:buNone/>
            </a:pPr>
            <a:r>
              <a:rPr lang="en-US" sz="1050" dirty="0">
                <a:solidFill>
                  <a:schemeClr val="tx1"/>
                </a:solidFill>
              </a:rPr>
              <a:t>Artisanat : bases d'appui (p. 41)</a:t>
            </a:r>
            <a:endParaRPr lang="en-US" sz="1050" dirty="0"/>
          </a:p>
        </p:txBody>
      </p:sp>
      <p:sp>
        <p:nvSpPr>
          <p:cNvPr id="23" name="Shape 20"/>
          <p:cNvSpPr/>
          <p:nvPr/>
        </p:nvSpPr>
        <p:spPr>
          <a:xfrm>
            <a:off x="4535424" y="5312664"/>
            <a:ext cx="128016" cy="128016"/>
          </a:xfrm>
          <a:prstGeom prst="ellipse">
            <a:avLst/>
          </a:prstGeom>
          <a:solidFill>
            <a:schemeClr val="accent2"/>
          </a:solidFill>
          <a:ln/>
        </p:spPr>
      </p:sp>
      <p:sp>
        <p:nvSpPr>
          <p:cNvPr id="24" name="Text 21"/>
          <p:cNvSpPr txBox="1"/>
          <p:nvPr/>
        </p:nvSpPr>
        <p:spPr>
          <a:xfrm>
            <a:off x="4791456" y="5221224"/>
            <a:ext cx="3017520" cy="411480"/>
          </a:xfrm>
          <a:prstGeom prst="rect">
            <a:avLst/>
          </a:prstGeom>
          <a:noFill/>
          <a:ln/>
        </p:spPr>
        <p:txBody>
          <a:bodyPr wrap="square" lIns="0" tIns="0" rIns="0" bIns="0" rtlCol="0" anchor="t"/>
          <a:lstStyle/>
          <a:p>
            <a:pPr indent="0" marL="0">
              <a:buNone/>
            </a:pPr>
            <a:r>
              <a:rPr lang="en-US" sz="1050" dirty="0">
                <a:solidFill>
                  <a:schemeClr val="tx1"/>
                </a:solidFill>
              </a:rPr>
              <a:t>Industrie : pièces de rechange (p. 31)</a:t>
            </a:r>
            <a:endParaRPr lang="en-US" sz="1050" dirty="0"/>
          </a:p>
        </p:txBody>
      </p:sp>
      <p:sp>
        <p:nvSpPr>
          <p:cNvPr id="25" name="Priorité 3"/>
          <p:cNvSpPr/>
          <p:nvPr/>
        </p:nvSpPr>
        <p:spPr>
          <a:xfrm>
            <a:off x="8028432" y="3246120"/>
            <a:ext cx="3611880" cy="2468880"/>
          </a:xfrm>
          <a:prstGeom prst="roundRect">
            <a:avLst>
              <a:gd name="adj" fmla="val 4444"/>
            </a:avLst>
          </a:prstGeom>
          <a:solidFill>
            <a:schemeClr val="bg2"/>
          </a:solidFill>
          <a:ln/>
        </p:spPr>
      </p:sp>
      <p:sp>
        <p:nvSpPr>
          <p:cNvPr id="26" name="Text 23"/>
          <p:cNvSpPr txBox="1"/>
          <p:nvPr/>
        </p:nvSpPr>
        <p:spPr>
          <a:xfrm>
            <a:off x="8257032" y="3364992"/>
            <a:ext cx="3200400" cy="457200"/>
          </a:xfrm>
          <a:prstGeom prst="rect">
            <a:avLst/>
          </a:prstGeom>
          <a:noFill/>
          <a:ln/>
        </p:spPr>
        <p:txBody>
          <a:bodyPr wrap="square" lIns="0" tIns="0" rIns="0" bIns="0" rtlCol="0" anchor="t"/>
          <a:lstStyle/>
          <a:p>
            <a:pPr indent="0" marL="0">
              <a:buNone/>
            </a:pPr>
            <a:r>
              <a:rPr lang="en-US" sz="1050" b="1" spc="100" kern="0" dirty="0">
                <a:solidFill>
                  <a:schemeClr val="accent1"/>
                </a:solidFill>
              </a:rPr>
              <a:t>PRIORITÉ 3  ·  LA COHÉSION NATIONALE ET LA SÉCURITÉ</a:t>
            </a:r>
            <a:endParaRPr lang="en-US" sz="1050" dirty="0"/>
          </a:p>
        </p:txBody>
      </p:sp>
      <p:sp>
        <p:nvSpPr>
          <p:cNvPr id="27" name="Shape 24"/>
          <p:cNvSpPr/>
          <p:nvPr/>
        </p:nvSpPr>
        <p:spPr>
          <a:xfrm>
            <a:off x="8275320" y="4023360"/>
            <a:ext cx="128016" cy="128016"/>
          </a:xfrm>
          <a:prstGeom prst="ellipse">
            <a:avLst/>
          </a:prstGeom>
          <a:solidFill>
            <a:schemeClr val="accent2"/>
          </a:solidFill>
          <a:ln/>
        </p:spPr>
      </p:sp>
      <p:sp>
        <p:nvSpPr>
          <p:cNvPr id="28" name="Text 25"/>
          <p:cNvSpPr txBox="1"/>
          <p:nvPr/>
        </p:nvSpPr>
        <p:spPr>
          <a:xfrm>
            <a:off x="8531352" y="3931920"/>
            <a:ext cx="3017520" cy="411480"/>
          </a:xfrm>
          <a:prstGeom prst="rect">
            <a:avLst/>
          </a:prstGeom>
          <a:noFill/>
          <a:ln/>
        </p:spPr>
        <p:txBody>
          <a:bodyPr wrap="square" lIns="0" tIns="0" rIns="0" bIns="0" rtlCol="0" anchor="t"/>
          <a:lstStyle/>
          <a:p>
            <a:pPr indent="0" marL="0">
              <a:buNone/>
            </a:pPr>
            <a:r>
              <a:rPr lang="en-US" sz="1050" dirty="0">
                <a:solidFill>
                  <a:schemeClr val="tx1"/>
                </a:solidFill>
              </a:rPr>
              <a:t>Administration : suivi en temps réel (p. 55)</a:t>
            </a:r>
            <a:endParaRPr lang="en-US" sz="1050" dirty="0"/>
          </a:p>
        </p:txBody>
      </p:sp>
      <p:sp>
        <p:nvSpPr>
          <p:cNvPr id="29" name="Shape 26"/>
          <p:cNvSpPr/>
          <p:nvPr/>
        </p:nvSpPr>
        <p:spPr>
          <a:xfrm>
            <a:off x="8275320" y="4453128"/>
            <a:ext cx="128016" cy="128016"/>
          </a:xfrm>
          <a:prstGeom prst="ellipse">
            <a:avLst/>
          </a:prstGeom>
          <a:solidFill>
            <a:schemeClr val="accent2"/>
          </a:solidFill>
          <a:ln/>
        </p:spPr>
      </p:sp>
      <p:sp>
        <p:nvSpPr>
          <p:cNvPr id="30" name="Text 27"/>
          <p:cNvSpPr txBox="1"/>
          <p:nvPr/>
        </p:nvSpPr>
        <p:spPr>
          <a:xfrm>
            <a:off x="8531352" y="4361688"/>
            <a:ext cx="3017520" cy="411480"/>
          </a:xfrm>
          <a:prstGeom prst="rect">
            <a:avLst/>
          </a:prstGeom>
          <a:noFill/>
          <a:ln/>
        </p:spPr>
        <p:txBody>
          <a:bodyPr wrap="square" lIns="0" tIns="0" rIns="0" bIns="0" rtlCol="0" anchor="t"/>
          <a:lstStyle/>
          <a:p>
            <a:pPr indent="0" marL="0">
              <a:buNone/>
            </a:pPr>
            <a:r>
              <a:rPr lang="en-US" sz="1050" dirty="0">
                <a:solidFill>
                  <a:schemeClr val="tx1"/>
                </a:solidFill>
              </a:rPr>
              <a:t>Décentralisation : contrats de performance (p. 56)</a:t>
            </a:r>
            <a:endParaRPr lang="en-US" sz="1050" dirty="0"/>
          </a:p>
        </p:txBody>
      </p:sp>
      <p:sp>
        <p:nvSpPr>
          <p:cNvPr id="31" name="Shape 28"/>
          <p:cNvSpPr/>
          <p:nvPr/>
        </p:nvSpPr>
        <p:spPr>
          <a:xfrm>
            <a:off x="8275320" y="4882896"/>
            <a:ext cx="128016" cy="128016"/>
          </a:xfrm>
          <a:prstGeom prst="ellipse">
            <a:avLst/>
          </a:prstGeom>
          <a:solidFill>
            <a:schemeClr val="accent2"/>
          </a:solidFill>
          <a:ln/>
        </p:spPr>
      </p:sp>
      <p:sp>
        <p:nvSpPr>
          <p:cNvPr id="32" name="Text 29"/>
          <p:cNvSpPr txBox="1"/>
          <p:nvPr/>
        </p:nvSpPr>
        <p:spPr>
          <a:xfrm>
            <a:off x="8531352" y="4791456"/>
            <a:ext cx="3017520" cy="411480"/>
          </a:xfrm>
          <a:prstGeom prst="rect">
            <a:avLst/>
          </a:prstGeom>
          <a:noFill/>
          <a:ln/>
        </p:spPr>
        <p:txBody>
          <a:bodyPr wrap="square" lIns="0" tIns="0" rIns="0" bIns="0" rtlCol="0" anchor="t"/>
          <a:lstStyle/>
          <a:p>
            <a:pPr indent="0" marL="0">
              <a:buNone/>
            </a:pPr>
            <a:r>
              <a:rPr lang="en-US" sz="1050" dirty="0">
                <a:solidFill>
                  <a:schemeClr val="tx1"/>
                </a:solidFill>
              </a:rPr>
              <a:t>Libertés : participation citoyenne (p. 47)</a:t>
            </a:r>
            <a:endParaRPr lang="en-US" sz="1050" dirty="0"/>
          </a:p>
        </p:txBody>
      </p:sp>
      <p:sp>
        <p:nvSpPr>
          <p:cNvPr id="33" name="Bandeau transverse"/>
          <p:cNvSpPr/>
          <p:nvPr/>
        </p:nvSpPr>
        <p:spPr>
          <a:xfrm>
            <a:off x="548640" y="5806440"/>
            <a:ext cx="11091672" cy="384048"/>
          </a:xfrm>
          <a:prstGeom prst="roundRect">
            <a:avLst>
              <a:gd name="adj" fmla="val 28571"/>
            </a:avLst>
          </a:prstGeom>
          <a:solidFill>
            <a:schemeClr val="accent4"/>
          </a:solidFill>
          <a:ln/>
        </p:spPr>
      </p:sp>
      <p:sp>
        <p:nvSpPr>
          <p:cNvPr id="34" name="Text 31"/>
          <p:cNvSpPr txBox="1"/>
          <p:nvPr/>
        </p:nvSpPr>
        <p:spPr>
          <a:xfrm>
            <a:off x="822960" y="5806440"/>
            <a:ext cx="10515600" cy="384048"/>
          </a:xfrm>
          <a:prstGeom prst="rect">
            <a:avLst/>
          </a:prstGeom>
          <a:noFill/>
          <a:ln/>
        </p:spPr>
        <p:txBody>
          <a:bodyPr wrap="square" lIns="0" tIns="0" rIns="0" bIns="0" rtlCol="0" anchor="ctr"/>
          <a:lstStyle/>
          <a:p>
            <a:pPr indent="0" marL="0">
              <a:buNone/>
            </a:pPr>
            <a:r>
              <a:rPr lang="en-US" sz="1200" b="1" dirty="0">
                <a:solidFill>
                  <a:schemeClr val="tx2"/>
                </a:solidFill>
              </a:rPr>
              <a:t>TRANSVERSE  ·  La technologie comme levier, au service des trois priorités</a:t>
            </a:r>
            <a:endParaRPr lang="en-US" sz="12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MESURER L'EFFET</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solution mesure ce que le programme a choisi de mesurer</a:t>
            </a:r>
            <a:endParaRPr lang="en-US" sz="2800" dirty="0"/>
          </a:p>
        </p:txBody>
      </p:sp>
      <p:sp>
        <p:nvSpPr>
          <p:cNvPr id="5" name="Déjà fixés"/>
          <p:cNvSpPr/>
          <p:nvPr/>
        </p:nvSpPr>
        <p:spPr>
          <a:xfrm>
            <a:off x="548640" y="2011680"/>
            <a:ext cx="5486400" cy="3931920"/>
          </a:xfrm>
          <a:prstGeom prst="roundRect">
            <a:avLst>
              <a:gd name="adj" fmla="val 2791"/>
            </a:avLst>
          </a:prstGeom>
          <a:solidFill>
            <a:schemeClr val="bg2"/>
          </a:solidFill>
          <a:ln/>
        </p:spPr>
      </p:sp>
      <p:sp>
        <p:nvSpPr>
          <p:cNvPr id="6" name="Text 3"/>
          <p:cNvSpPr txBox="1"/>
          <p:nvPr/>
        </p:nvSpPr>
        <p:spPr>
          <a:xfrm>
            <a:off x="822960" y="2212848"/>
            <a:ext cx="49377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DÉJÀ FIXÉS PAR LE PROGRAMME</a:t>
            </a:r>
            <a:endParaRPr lang="en-US" sz="1200" dirty="0"/>
          </a:p>
        </p:txBody>
      </p:sp>
      <p:sp>
        <p:nvSpPr>
          <p:cNvPr id="7" name="Shape 4"/>
          <p:cNvSpPr/>
          <p:nvPr/>
        </p:nvSpPr>
        <p:spPr>
          <a:xfrm>
            <a:off x="850392" y="2761488"/>
            <a:ext cx="146304" cy="146304"/>
          </a:xfrm>
          <a:prstGeom prst="ellipse">
            <a:avLst/>
          </a:prstGeom>
          <a:solidFill>
            <a:schemeClr val="accent1"/>
          </a:solidFill>
          <a:ln/>
        </p:spPr>
      </p:sp>
      <p:sp>
        <p:nvSpPr>
          <p:cNvPr id="8" name="Text 5"/>
          <p:cNvSpPr txBox="1"/>
          <p:nvPr/>
        </p:nvSpPr>
        <p:spPr>
          <a:xfrm>
            <a:off x="1143000" y="2697480"/>
            <a:ext cx="4663440" cy="566928"/>
          </a:xfrm>
          <a:prstGeom prst="rect">
            <a:avLst/>
          </a:prstGeom>
          <a:noFill/>
          <a:ln/>
        </p:spPr>
        <p:txBody>
          <a:bodyPr wrap="square" lIns="0" tIns="0" rIns="0" bIns="0" rtlCol="0" anchor="t"/>
          <a:lstStyle/>
          <a:p>
            <a:pPr indent="0" marL="0">
              <a:buNone/>
            </a:pPr>
            <a:r>
              <a:rPr lang="en-US" sz="1400" dirty="0">
                <a:solidFill>
                  <a:schemeClr val="tx1"/>
                </a:solidFill>
              </a:rPr>
              <a:t>Pertes d'eau ramenées de 32 % à 15 % (p. 21)</a:t>
            </a:r>
            <a:endParaRPr lang="en-US" sz="1400" dirty="0"/>
          </a:p>
        </p:txBody>
      </p:sp>
      <p:sp>
        <p:nvSpPr>
          <p:cNvPr id="9" name="Shape 6"/>
          <p:cNvSpPr/>
          <p:nvPr/>
        </p:nvSpPr>
        <p:spPr>
          <a:xfrm>
            <a:off x="850392" y="3383280"/>
            <a:ext cx="146304" cy="146304"/>
          </a:xfrm>
          <a:prstGeom prst="ellipse">
            <a:avLst/>
          </a:prstGeom>
          <a:solidFill>
            <a:schemeClr val="accent1"/>
          </a:solidFill>
          <a:ln/>
        </p:spPr>
      </p:sp>
      <p:sp>
        <p:nvSpPr>
          <p:cNvPr id="10" name="Text 7"/>
          <p:cNvSpPr txBox="1"/>
          <p:nvPr/>
        </p:nvSpPr>
        <p:spPr>
          <a:xfrm>
            <a:off x="1143000" y="3319272"/>
            <a:ext cx="4663440" cy="566928"/>
          </a:xfrm>
          <a:prstGeom prst="rect">
            <a:avLst/>
          </a:prstGeom>
          <a:noFill/>
          <a:ln/>
        </p:spPr>
        <p:txBody>
          <a:bodyPr wrap="square" lIns="0" tIns="0" rIns="0" bIns="0" rtlCol="0" anchor="t"/>
          <a:lstStyle/>
          <a:p>
            <a:pPr indent="0" marL="0">
              <a:buNone/>
            </a:pPr>
            <a:r>
              <a:rPr lang="en-US" sz="1400" dirty="0">
                <a:solidFill>
                  <a:schemeClr val="tx1"/>
                </a:solidFill>
              </a:rPr>
              <a:t>Eau dans 100 % des écoles et structures sanitaires (p. 21)</a:t>
            </a:r>
            <a:endParaRPr lang="en-US" sz="1400" dirty="0"/>
          </a:p>
        </p:txBody>
      </p:sp>
      <p:sp>
        <p:nvSpPr>
          <p:cNvPr id="11" name="Shape 8"/>
          <p:cNvSpPr/>
          <p:nvPr/>
        </p:nvSpPr>
        <p:spPr>
          <a:xfrm>
            <a:off x="850392" y="4005072"/>
            <a:ext cx="146304" cy="146304"/>
          </a:xfrm>
          <a:prstGeom prst="ellipse">
            <a:avLst/>
          </a:prstGeom>
          <a:solidFill>
            <a:schemeClr val="accent1"/>
          </a:solidFill>
          <a:ln/>
        </p:spPr>
      </p:sp>
      <p:sp>
        <p:nvSpPr>
          <p:cNvPr id="12" name="Text 9"/>
          <p:cNvSpPr txBox="1"/>
          <p:nvPr/>
        </p:nvSpPr>
        <p:spPr>
          <a:xfrm>
            <a:off x="1143000" y="3941064"/>
            <a:ext cx="4663440" cy="566928"/>
          </a:xfrm>
          <a:prstGeom prst="rect">
            <a:avLst/>
          </a:prstGeom>
          <a:noFill/>
          <a:ln/>
        </p:spPr>
        <p:txBody>
          <a:bodyPr wrap="square" lIns="0" tIns="0" rIns="0" bIns="0" rtlCol="0" anchor="t"/>
          <a:lstStyle/>
          <a:p>
            <a:pPr indent="0" marL="0">
              <a:buNone/>
            </a:pPr>
            <a:r>
              <a:rPr lang="en-US" sz="1400" dirty="0">
                <a:solidFill>
                  <a:schemeClr val="tx1"/>
                </a:solidFill>
              </a:rPr>
              <a:t>100 % des démarches en ligne d'ici 2030 (p. 55)</a:t>
            </a:r>
            <a:endParaRPr lang="en-US" sz="1400" dirty="0"/>
          </a:p>
        </p:txBody>
      </p:sp>
      <p:sp>
        <p:nvSpPr>
          <p:cNvPr id="13" name="Shape 10"/>
          <p:cNvSpPr/>
          <p:nvPr/>
        </p:nvSpPr>
        <p:spPr>
          <a:xfrm>
            <a:off x="850392" y="4626864"/>
            <a:ext cx="146304" cy="146304"/>
          </a:xfrm>
          <a:prstGeom prst="ellipse">
            <a:avLst/>
          </a:prstGeom>
          <a:solidFill>
            <a:schemeClr val="accent1"/>
          </a:solidFill>
          <a:ln/>
        </p:spPr>
      </p:sp>
      <p:sp>
        <p:nvSpPr>
          <p:cNvPr id="14" name="Text 11"/>
          <p:cNvSpPr txBox="1"/>
          <p:nvPr/>
        </p:nvSpPr>
        <p:spPr>
          <a:xfrm>
            <a:off x="1143000" y="4562856"/>
            <a:ext cx="4663440" cy="566928"/>
          </a:xfrm>
          <a:prstGeom prst="rect">
            <a:avLst/>
          </a:prstGeom>
          <a:noFill/>
          <a:ln/>
        </p:spPr>
        <p:txBody>
          <a:bodyPr wrap="square" lIns="0" tIns="0" rIns="0" bIns="0" rtlCol="0" anchor="t"/>
          <a:lstStyle/>
          <a:p>
            <a:pPr indent="0" marL="0">
              <a:buNone/>
            </a:pPr>
            <a:r>
              <a:rPr lang="en-US" sz="1400" dirty="0">
                <a:solidFill>
                  <a:schemeClr val="tx1"/>
                </a:solidFill>
              </a:rPr>
              <a:t>Performance des communes évaluée chaque semestre (p. 56)</a:t>
            </a:r>
            <a:endParaRPr lang="en-US" sz="1400" dirty="0"/>
          </a:p>
        </p:txBody>
      </p:sp>
      <p:sp>
        <p:nvSpPr>
          <p:cNvPr id="15" name="Shape 12"/>
          <p:cNvSpPr/>
          <p:nvPr/>
        </p:nvSpPr>
        <p:spPr>
          <a:xfrm>
            <a:off x="850392" y="5248656"/>
            <a:ext cx="146304" cy="146304"/>
          </a:xfrm>
          <a:prstGeom prst="ellipse">
            <a:avLst/>
          </a:prstGeom>
          <a:solidFill>
            <a:schemeClr val="accent1"/>
          </a:solidFill>
          <a:ln/>
        </p:spPr>
      </p:sp>
      <p:sp>
        <p:nvSpPr>
          <p:cNvPr id="16" name="Text 13"/>
          <p:cNvSpPr txBox="1"/>
          <p:nvPr/>
        </p:nvSpPr>
        <p:spPr>
          <a:xfrm>
            <a:off x="1143000" y="5184648"/>
            <a:ext cx="4663440" cy="566928"/>
          </a:xfrm>
          <a:prstGeom prst="rect">
            <a:avLst/>
          </a:prstGeom>
          <a:noFill/>
          <a:ln/>
        </p:spPr>
        <p:txBody>
          <a:bodyPr wrap="square" lIns="0" tIns="0" rIns="0" bIns="0" rtlCol="0" anchor="t"/>
          <a:lstStyle/>
          <a:p>
            <a:pPr indent="0" marL="0">
              <a:buNone/>
            </a:pPr>
            <a:r>
              <a:rPr lang="en-US" sz="1400" dirty="0">
                <a:solidFill>
                  <a:schemeClr val="tx1"/>
                </a:solidFill>
              </a:rPr>
              <a:t>Fréquentation des espaces sportifs suivie (p. 25)</a:t>
            </a:r>
            <a:endParaRPr lang="en-US" sz="1400" dirty="0"/>
          </a:p>
        </p:txBody>
      </p:sp>
      <p:sp>
        <p:nvSpPr>
          <p:cNvPr id="17" name="Ajoutés"/>
          <p:cNvSpPr/>
          <p:nvPr/>
        </p:nvSpPr>
        <p:spPr>
          <a:xfrm>
            <a:off x="6153912" y="2011680"/>
            <a:ext cx="5486400" cy="3931920"/>
          </a:xfrm>
          <a:prstGeom prst="roundRect">
            <a:avLst>
              <a:gd name="adj" fmla="val 2791"/>
            </a:avLst>
          </a:prstGeom>
          <a:solidFill>
            <a:schemeClr val="accent4"/>
          </a:solidFill>
          <a:ln/>
        </p:spPr>
      </p:sp>
      <p:sp>
        <p:nvSpPr>
          <p:cNvPr id="18" name="Text 15"/>
          <p:cNvSpPr txBox="1"/>
          <p:nvPr/>
        </p:nvSpPr>
        <p:spPr>
          <a:xfrm>
            <a:off x="6428232" y="2212848"/>
            <a:ext cx="49377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AJOUTÉS PAR LA SOLUTION (PROPOSÉS)</a:t>
            </a:r>
            <a:endParaRPr lang="en-US" sz="1200" dirty="0"/>
          </a:p>
        </p:txBody>
      </p:sp>
      <p:sp>
        <p:nvSpPr>
          <p:cNvPr id="19" name="Shape 16"/>
          <p:cNvSpPr/>
          <p:nvPr/>
        </p:nvSpPr>
        <p:spPr>
          <a:xfrm>
            <a:off x="6455664" y="2761488"/>
            <a:ext cx="146304" cy="146304"/>
          </a:xfrm>
          <a:prstGeom prst="ellipse">
            <a:avLst/>
          </a:prstGeom>
          <a:solidFill>
            <a:schemeClr val="accent2"/>
          </a:solidFill>
          <a:ln/>
        </p:spPr>
      </p:sp>
      <p:sp>
        <p:nvSpPr>
          <p:cNvPr id="20" name="Text 17"/>
          <p:cNvSpPr txBox="1"/>
          <p:nvPr/>
        </p:nvSpPr>
        <p:spPr>
          <a:xfrm>
            <a:off x="6748272" y="2697480"/>
            <a:ext cx="4663440" cy="640080"/>
          </a:xfrm>
          <a:prstGeom prst="rect">
            <a:avLst/>
          </a:prstGeom>
          <a:noFill/>
          <a:ln/>
        </p:spPr>
        <p:txBody>
          <a:bodyPr wrap="square" lIns="0" tIns="0" rIns="0" bIns="0" rtlCol="0" anchor="t"/>
          <a:lstStyle/>
          <a:p>
            <a:pPr indent="0" marL="0">
              <a:buNone/>
            </a:pPr>
            <a:r>
              <a:rPr lang="en-US" sz="1400" b="1" dirty="0">
                <a:solidFill>
                  <a:schemeClr val="tx2"/>
                </a:solidFill>
              </a:rPr>
              <a:t>Taux de disponibilité des équipements</a:t>
            </a:r>
            <a:endParaRPr lang="en-US" sz="1400" dirty="0"/>
          </a:p>
        </p:txBody>
      </p:sp>
      <p:sp>
        <p:nvSpPr>
          <p:cNvPr id="21" name="Shape 18"/>
          <p:cNvSpPr/>
          <p:nvPr/>
        </p:nvSpPr>
        <p:spPr>
          <a:xfrm>
            <a:off x="6455664" y="3538728"/>
            <a:ext cx="146304" cy="146304"/>
          </a:xfrm>
          <a:prstGeom prst="ellipse">
            <a:avLst/>
          </a:prstGeom>
          <a:solidFill>
            <a:schemeClr val="accent2"/>
          </a:solidFill>
          <a:ln/>
        </p:spPr>
      </p:sp>
      <p:sp>
        <p:nvSpPr>
          <p:cNvPr id="22" name="Text 19"/>
          <p:cNvSpPr txBox="1"/>
          <p:nvPr/>
        </p:nvSpPr>
        <p:spPr>
          <a:xfrm>
            <a:off x="6748272" y="3474720"/>
            <a:ext cx="4663440" cy="640080"/>
          </a:xfrm>
          <a:prstGeom prst="rect">
            <a:avLst/>
          </a:prstGeom>
          <a:noFill/>
          <a:ln/>
        </p:spPr>
        <p:txBody>
          <a:bodyPr wrap="square" lIns="0" tIns="0" rIns="0" bIns="0" rtlCol="0" anchor="t"/>
          <a:lstStyle/>
          <a:p>
            <a:pPr indent="0" marL="0">
              <a:buNone/>
            </a:pPr>
            <a:r>
              <a:rPr lang="en-US" sz="1400" b="1" dirty="0">
                <a:solidFill>
                  <a:schemeClr val="tx2"/>
                </a:solidFill>
              </a:rPr>
              <a:t>Délai moyen de remise en service</a:t>
            </a:r>
            <a:endParaRPr lang="en-US" sz="1400" dirty="0"/>
          </a:p>
        </p:txBody>
      </p:sp>
      <p:sp>
        <p:nvSpPr>
          <p:cNvPr id="23" name="Shape 20"/>
          <p:cNvSpPr/>
          <p:nvPr/>
        </p:nvSpPr>
        <p:spPr>
          <a:xfrm>
            <a:off x="6455664" y="4315968"/>
            <a:ext cx="146304" cy="146304"/>
          </a:xfrm>
          <a:prstGeom prst="ellipse">
            <a:avLst/>
          </a:prstGeom>
          <a:solidFill>
            <a:schemeClr val="accent2"/>
          </a:solidFill>
          <a:ln/>
        </p:spPr>
      </p:sp>
      <p:sp>
        <p:nvSpPr>
          <p:cNvPr id="24" name="Text 21"/>
          <p:cNvSpPr txBox="1"/>
          <p:nvPr/>
        </p:nvSpPr>
        <p:spPr>
          <a:xfrm>
            <a:off x="6748272" y="4251960"/>
            <a:ext cx="4663440" cy="640080"/>
          </a:xfrm>
          <a:prstGeom prst="rect">
            <a:avLst/>
          </a:prstGeom>
          <a:noFill/>
          <a:ln/>
        </p:spPr>
        <p:txBody>
          <a:bodyPr wrap="square" lIns="0" tIns="0" rIns="0" bIns="0" rtlCol="0" anchor="t"/>
          <a:lstStyle/>
          <a:p>
            <a:pPr indent="0" marL="0">
              <a:buNone/>
            </a:pPr>
            <a:r>
              <a:rPr lang="en-US" sz="1400" b="1" dirty="0">
                <a:solidFill>
                  <a:schemeClr val="tx2"/>
                </a:solidFill>
              </a:rPr>
              <a:t>Part des maintenances préventives faites à temps</a:t>
            </a:r>
            <a:endParaRPr lang="en-US" sz="1400" dirty="0"/>
          </a:p>
        </p:txBody>
      </p:sp>
      <p:sp>
        <p:nvSpPr>
          <p:cNvPr id="25" name="Shape 22"/>
          <p:cNvSpPr/>
          <p:nvPr/>
        </p:nvSpPr>
        <p:spPr>
          <a:xfrm>
            <a:off x="6455664" y="5093208"/>
            <a:ext cx="146304" cy="146304"/>
          </a:xfrm>
          <a:prstGeom prst="ellipse">
            <a:avLst/>
          </a:prstGeom>
          <a:solidFill>
            <a:schemeClr val="accent2"/>
          </a:solidFill>
          <a:ln/>
        </p:spPr>
      </p:sp>
      <p:sp>
        <p:nvSpPr>
          <p:cNvPr id="26" name="Text 23"/>
          <p:cNvSpPr txBox="1"/>
          <p:nvPr/>
        </p:nvSpPr>
        <p:spPr>
          <a:xfrm>
            <a:off x="6748272" y="5029200"/>
            <a:ext cx="4663440" cy="640080"/>
          </a:xfrm>
          <a:prstGeom prst="rect">
            <a:avLst/>
          </a:prstGeom>
          <a:noFill/>
          <a:ln/>
        </p:spPr>
        <p:txBody>
          <a:bodyPr wrap="square" lIns="0" tIns="0" rIns="0" bIns="0" rtlCol="0" anchor="t"/>
          <a:lstStyle/>
          <a:p>
            <a:pPr indent="0" marL="0">
              <a:buNone/>
            </a:pPr>
            <a:r>
              <a:rPr lang="en-US" sz="1400" b="1" dirty="0">
                <a:solidFill>
                  <a:schemeClr val="tx2"/>
                </a:solidFill>
              </a:rPr>
              <a:t>Signalements citoyens traités dans le délai</a:t>
            </a:r>
            <a:endParaRPr lang="en-US" sz="14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SUITE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suite : la solution, puis une démonstration, puis un pilote</a:t>
            </a:r>
            <a:endParaRPr lang="en-US" sz="2800" dirty="0"/>
          </a:p>
        </p:txBody>
      </p:sp>
      <p:sp>
        <p:nvSpPr>
          <p:cNvPr id="5" name="Étape 1"/>
          <p:cNvSpPr/>
          <p:nvPr/>
        </p:nvSpPr>
        <p:spPr>
          <a:xfrm>
            <a:off x="548640" y="2011680"/>
            <a:ext cx="3611880" cy="1737360"/>
          </a:xfrm>
          <a:prstGeom prst="roundRect">
            <a:avLst>
              <a:gd name="adj" fmla="val 6316"/>
            </a:avLst>
          </a:prstGeom>
          <a:solidFill>
            <a:schemeClr val="accent1"/>
          </a:solidFill>
          <a:ln/>
        </p:spPr>
      </p:sp>
      <p:sp>
        <p:nvSpPr>
          <p:cNvPr id="6" name="Text 3"/>
          <p:cNvSpPr txBox="1"/>
          <p:nvPr/>
        </p:nvSpPr>
        <p:spPr>
          <a:xfrm>
            <a:off x="777240" y="2194560"/>
            <a:ext cx="32004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DOCUMENT 1 SUR 3</a:t>
            </a:r>
            <a:endParaRPr lang="en-US" sz="1100" dirty="0"/>
          </a:p>
        </p:txBody>
      </p:sp>
      <p:sp>
        <p:nvSpPr>
          <p:cNvPr id="7" name="Text 4"/>
          <p:cNvSpPr txBox="1"/>
          <p:nvPr/>
        </p:nvSpPr>
        <p:spPr>
          <a:xfrm>
            <a:off x="777240" y="2514600"/>
            <a:ext cx="3200400" cy="411480"/>
          </a:xfrm>
          <a:prstGeom prst="rect">
            <a:avLst/>
          </a:prstGeom>
          <a:noFill/>
          <a:ln/>
        </p:spPr>
        <p:txBody>
          <a:bodyPr wrap="square" lIns="0" tIns="0" rIns="0" bIns="0" rtlCol="0" anchor="ctr"/>
          <a:lstStyle/>
          <a:p>
            <a:pPr indent="0" marL="0">
              <a:buNone/>
            </a:pPr>
            <a:r>
              <a:rPr lang="en-US" sz="1800" b="1" dirty="0">
                <a:solidFill>
                  <a:schemeClr val="bg1"/>
                </a:solidFill>
              </a:rPr>
              <a:t>Analyse du besoin</a:t>
            </a:r>
            <a:endParaRPr lang="en-US" sz="1800" dirty="0"/>
          </a:p>
        </p:txBody>
      </p:sp>
      <p:sp>
        <p:nvSpPr>
          <p:cNvPr id="8" name="Text 5"/>
          <p:cNvSpPr txBox="1"/>
          <p:nvPr/>
        </p:nvSpPr>
        <p:spPr>
          <a:xfrm>
            <a:off x="777240" y="2971800"/>
            <a:ext cx="3200400" cy="731520"/>
          </a:xfrm>
          <a:prstGeom prst="rect">
            <a:avLst/>
          </a:prstGeom>
          <a:noFill/>
          <a:ln/>
        </p:spPr>
        <p:txBody>
          <a:bodyPr wrap="square" lIns="0" tIns="0" rIns="0" bIns="0" rtlCol="0" anchor="t"/>
          <a:lstStyle/>
          <a:p>
            <a:pPr indent="0" marL="0">
              <a:buNone/>
            </a:pPr>
            <a:r>
              <a:rPr lang="en-US" sz="1300" dirty="0">
                <a:solidFill>
                  <a:schemeClr val="bg1"/>
                </a:solidFill>
              </a:rPr>
              <a:t>Ce document : ce que dit le programme et l'axe retenu</a:t>
            </a:r>
            <a:endParaRPr lang="en-US" sz="1300" dirty="0"/>
          </a:p>
        </p:txBody>
      </p:sp>
      <p:sp>
        <p:nvSpPr>
          <p:cNvPr id="9" name="Étape 2"/>
          <p:cNvSpPr/>
          <p:nvPr/>
        </p:nvSpPr>
        <p:spPr>
          <a:xfrm>
            <a:off x="4288536" y="2011680"/>
            <a:ext cx="3611880" cy="1737360"/>
          </a:xfrm>
          <a:prstGeom prst="roundRect">
            <a:avLst>
              <a:gd name="adj" fmla="val 6316"/>
            </a:avLst>
          </a:prstGeom>
          <a:solidFill>
            <a:schemeClr val="bg2"/>
          </a:solidFill>
          <a:ln/>
        </p:spPr>
      </p:sp>
      <p:sp>
        <p:nvSpPr>
          <p:cNvPr id="10" name="Text 7"/>
          <p:cNvSpPr txBox="1"/>
          <p:nvPr/>
        </p:nvSpPr>
        <p:spPr>
          <a:xfrm>
            <a:off x="4517136" y="2194560"/>
            <a:ext cx="3200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DOCUMENT 2 SUR 3</a:t>
            </a:r>
            <a:endParaRPr lang="en-US" sz="1100" dirty="0"/>
          </a:p>
        </p:txBody>
      </p:sp>
      <p:sp>
        <p:nvSpPr>
          <p:cNvPr id="11" name="Text 8"/>
          <p:cNvSpPr txBox="1"/>
          <p:nvPr/>
        </p:nvSpPr>
        <p:spPr>
          <a:xfrm>
            <a:off x="4517136" y="2514600"/>
            <a:ext cx="3200400" cy="411480"/>
          </a:xfrm>
          <a:prstGeom prst="rect">
            <a:avLst/>
          </a:prstGeom>
          <a:noFill/>
          <a:ln/>
        </p:spPr>
        <p:txBody>
          <a:bodyPr wrap="square" lIns="0" tIns="0" rIns="0" bIns="0" rtlCol="0" anchor="ctr"/>
          <a:lstStyle/>
          <a:p>
            <a:pPr indent="0" marL="0">
              <a:buNone/>
            </a:pPr>
            <a:r>
              <a:rPr lang="en-US" sz="1800" b="1" dirty="0">
                <a:solidFill>
                  <a:schemeClr val="tx2"/>
                </a:solidFill>
              </a:rPr>
              <a:t>La solution en détail</a:t>
            </a:r>
            <a:endParaRPr lang="en-US" sz="1800" dirty="0"/>
          </a:p>
        </p:txBody>
      </p:sp>
      <p:sp>
        <p:nvSpPr>
          <p:cNvPr id="12" name="Text 9"/>
          <p:cNvSpPr txBox="1"/>
          <p:nvPr/>
        </p:nvSpPr>
        <p:spPr>
          <a:xfrm>
            <a:off x="4517136" y="2971800"/>
            <a:ext cx="3200400" cy="731520"/>
          </a:xfrm>
          <a:prstGeom prst="rect">
            <a:avLst/>
          </a:prstGeom>
          <a:noFill/>
          <a:ln/>
        </p:spPr>
        <p:txBody>
          <a:bodyPr wrap="square" lIns="0" tIns="0" rIns="0" bIns="0" rtlCol="0" anchor="t"/>
          <a:lstStyle/>
          <a:p>
            <a:pPr indent="0" marL="0">
              <a:buNone/>
            </a:pPr>
            <a:r>
              <a:rPr lang="en-US" sz="1300" dirty="0">
                <a:solidFill>
                  <a:schemeClr val="tx1"/>
                </a:solidFill>
              </a:rPr>
              <a:t>Architecture, ouvrages modélisés, cycle de vie, maintenance et pilotage</a:t>
            </a:r>
            <a:endParaRPr lang="en-US" sz="1300" dirty="0"/>
          </a:p>
        </p:txBody>
      </p:sp>
      <p:sp>
        <p:nvSpPr>
          <p:cNvPr id="13" name="Étape 3"/>
          <p:cNvSpPr/>
          <p:nvPr/>
        </p:nvSpPr>
        <p:spPr>
          <a:xfrm>
            <a:off x="8028432" y="2011680"/>
            <a:ext cx="3611880" cy="1737360"/>
          </a:xfrm>
          <a:prstGeom prst="roundRect">
            <a:avLst>
              <a:gd name="adj" fmla="val 6316"/>
            </a:avLst>
          </a:prstGeom>
          <a:solidFill>
            <a:schemeClr val="bg2"/>
          </a:solidFill>
          <a:ln/>
        </p:spPr>
      </p:sp>
      <p:sp>
        <p:nvSpPr>
          <p:cNvPr id="14" name="Text 11"/>
          <p:cNvSpPr txBox="1"/>
          <p:nvPr/>
        </p:nvSpPr>
        <p:spPr>
          <a:xfrm>
            <a:off x="8257032" y="2194560"/>
            <a:ext cx="3200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DOCUMENT 3 SUR 3</a:t>
            </a:r>
            <a:endParaRPr lang="en-US" sz="1100" dirty="0"/>
          </a:p>
        </p:txBody>
      </p:sp>
      <p:sp>
        <p:nvSpPr>
          <p:cNvPr id="15" name="Text 12"/>
          <p:cNvSpPr txBox="1"/>
          <p:nvPr/>
        </p:nvSpPr>
        <p:spPr>
          <a:xfrm>
            <a:off x="8257032" y="2514600"/>
            <a:ext cx="3200400" cy="411480"/>
          </a:xfrm>
          <a:prstGeom prst="rect">
            <a:avLst/>
          </a:prstGeom>
          <a:noFill/>
          <a:ln/>
        </p:spPr>
        <p:txBody>
          <a:bodyPr wrap="square" lIns="0" tIns="0" rIns="0" bIns="0" rtlCol="0" anchor="ctr"/>
          <a:lstStyle/>
          <a:p>
            <a:pPr indent="0" marL="0">
              <a:buNone/>
            </a:pPr>
            <a:r>
              <a:rPr lang="en-US" sz="1800" b="1" dirty="0">
                <a:solidFill>
                  <a:schemeClr val="tx2"/>
                </a:solidFill>
              </a:rPr>
              <a:t>La démonstration</a:t>
            </a:r>
            <a:endParaRPr lang="en-US" sz="1800" dirty="0"/>
          </a:p>
        </p:txBody>
      </p:sp>
      <p:sp>
        <p:nvSpPr>
          <p:cNvPr id="16" name="Text 13"/>
          <p:cNvSpPr txBox="1"/>
          <p:nvPr/>
        </p:nvSpPr>
        <p:spPr>
          <a:xfrm>
            <a:off x="8257032" y="2971800"/>
            <a:ext cx="3200400" cy="731520"/>
          </a:xfrm>
          <a:prstGeom prst="rect">
            <a:avLst/>
          </a:prstGeom>
          <a:noFill/>
          <a:ln/>
        </p:spPr>
        <p:txBody>
          <a:bodyPr wrap="square" lIns="0" tIns="0" rIns="0" bIns="0" rtlCol="0" anchor="t"/>
          <a:lstStyle/>
          <a:p>
            <a:pPr indent="0" marL="0">
              <a:buNone/>
            </a:pPr>
            <a:r>
              <a:rPr lang="en-US" sz="1300" dirty="0">
                <a:solidFill>
                  <a:schemeClr val="tx1"/>
                </a:solidFill>
              </a:rPr>
              <a:t>Un prototype fonctionnel sur une commune d'exemple</a:t>
            </a:r>
            <a:endParaRPr lang="en-US" sz="1300" dirty="0"/>
          </a:p>
        </p:txBody>
      </p:sp>
      <p:sp>
        <p:nvSpPr>
          <p:cNvPr id="17" name="Pilote proposé"/>
          <p:cNvSpPr/>
          <p:nvPr/>
        </p:nvSpPr>
        <p:spPr>
          <a:xfrm>
            <a:off x="548640" y="3977640"/>
            <a:ext cx="11091672" cy="1965960"/>
          </a:xfrm>
          <a:prstGeom prst="roundRect">
            <a:avLst>
              <a:gd name="adj" fmla="val 5581"/>
            </a:avLst>
          </a:prstGeom>
          <a:solidFill>
            <a:schemeClr val="tx2"/>
          </a:solidFill>
          <a:ln/>
        </p:spPr>
      </p:sp>
      <p:sp>
        <p:nvSpPr>
          <p:cNvPr id="18" name="Text 15"/>
          <p:cNvSpPr txBox="1"/>
          <p:nvPr/>
        </p:nvSpPr>
        <p:spPr>
          <a:xfrm>
            <a:off x="868680" y="4160520"/>
            <a:ext cx="457200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PILOTE PROPOSÉ</a:t>
            </a:r>
            <a:endParaRPr lang="en-US" sz="1200" dirty="0"/>
          </a:p>
        </p:txBody>
      </p:sp>
      <p:sp>
        <p:nvSpPr>
          <p:cNvPr id="19" name="Text 16"/>
          <p:cNvSpPr txBox="1"/>
          <p:nvPr/>
        </p:nvSpPr>
        <p:spPr>
          <a:xfrm>
            <a:off x="868680" y="4526280"/>
            <a:ext cx="1920240" cy="731520"/>
          </a:xfrm>
          <a:prstGeom prst="rect">
            <a:avLst/>
          </a:prstGeom>
          <a:noFill/>
          <a:ln/>
        </p:spPr>
        <p:txBody>
          <a:bodyPr wrap="square" lIns="0" tIns="0" rIns="0" bIns="0" rtlCol="0" anchor="ctr"/>
          <a:lstStyle/>
          <a:p>
            <a:pPr indent="0" marL="0">
              <a:buNone/>
            </a:pPr>
            <a:r>
              <a:rPr lang="en-US" sz="4400" b="1" dirty="0">
                <a:solidFill>
                  <a:schemeClr val="bg1"/>
                </a:solidFill>
              </a:rPr>
              <a:t>1</a:t>
            </a:r>
            <a:endParaRPr lang="en-US" sz="4400" dirty="0"/>
          </a:p>
        </p:txBody>
      </p:sp>
      <p:sp>
        <p:nvSpPr>
          <p:cNvPr id="20" name="Text 17"/>
          <p:cNvSpPr txBox="1"/>
          <p:nvPr/>
        </p:nvSpPr>
        <p:spPr>
          <a:xfrm>
            <a:off x="868680" y="5257800"/>
            <a:ext cx="1920240" cy="365760"/>
          </a:xfrm>
          <a:prstGeom prst="rect">
            <a:avLst/>
          </a:prstGeom>
          <a:noFill/>
          <a:ln/>
        </p:spPr>
        <p:txBody>
          <a:bodyPr wrap="square" lIns="0" tIns="0" rIns="0" bIns="0" rtlCol="0" anchor="t"/>
          <a:lstStyle/>
          <a:p>
            <a:pPr indent="0" marL="0">
              <a:buNone/>
            </a:pPr>
            <a:r>
              <a:rPr lang="en-US" sz="1300" dirty="0">
                <a:solidFill>
                  <a:schemeClr val="accent3"/>
                </a:solidFill>
              </a:rPr>
              <a:t>commune</a:t>
            </a:r>
            <a:endParaRPr lang="en-US" sz="1300" dirty="0"/>
          </a:p>
        </p:txBody>
      </p:sp>
      <p:sp>
        <p:nvSpPr>
          <p:cNvPr id="21" name="Text 18"/>
          <p:cNvSpPr txBox="1"/>
          <p:nvPr/>
        </p:nvSpPr>
        <p:spPr>
          <a:xfrm>
            <a:off x="2971800" y="4526280"/>
            <a:ext cx="1920240" cy="731520"/>
          </a:xfrm>
          <a:prstGeom prst="rect">
            <a:avLst/>
          </a:prstGeom>
          <a:noFill/>
          <a:ln/>
        </p:spPr>
        <p:txBody>
          <a:bodyPr wrap="square" lIns="0" tIns="0" rIns="0" bIns="0" rtlCol="0" anchor="ctr"/>
          <a:lstStyle/>
          <a:p>
            <a:pPr indent="0" marL="0">
              <a:buNone/>
            </a:pPr>
            <a:r>
              <a:rPr lang="en-US" sz="4400" b="1" dirty="0">
                <a:solidFill>
                  <a:schemeClr val="bg1"/>
                </a:solidFill>
              </a:rPr>
              <a:t>1</a:t>
            </a:r>
            <a:endParaRPr lang="en-US" sz="4400" dirty="0"/>
          </a:p>
        </p:txBody>
      </p:sp>
      <p:sp>
        <p:nvSpPr>
          <p:cNvPr id="22" name="Text 19"/>
          <p:cNvSpPr txBox="1"/>
          <p:nvPr/>
        </p:nvSpPr>
        <p:spPr>
          <a:xfrm>
            <a:off x="2971800" y="5257800"/>
            <a:ext cx="1920240" cy="365760"/>
          </a:xfrm>
          <a:prstGeom prst="rect">
            <a:avLst/>
          </a:prstGeom>
          <a:noFill/>
          <a:ln/>
        </p:spPr>
        <p:txBody>
          <a:bodyPr wrap="square" lIns="0" tIns="0" rIns="0" bIns="0" rtlCol="0" anchor="t"/>
          <a:lstStyle/>
          <a:p>
            <a:pPr indent="0" marL="0">
              <a:buNone/>
            </a:pPr>
            <a:r>
              <a:rPr lang="en-US" sz="1300" dirty="0">
                <a:solidFill>
                  <a:schemeClr val="accent3"/>
                </a:solidFill>
              </a:rPr>
              <a:t>type d'équipement</a:t>
            </a:r>
            <a:endParaRPr lang="en-US" sz="1300" dirty="0"/>
          </a:p>
        </p:txBody>
      </p:sp>
      <p:sp>
        <p:nvSpPr>
          <p:cNvPr id="23" name="Text 20"/>
          <p:cNvSpPr txBox="1"/>
          <p:nvPr/>
        </p:nvSpPr>
        <p:spPr>
          <a:xfrm>
            <a:off x="5074920" y="4526280"/>
            <a:ext cx="1920240" cy="731520"/>
          </a:xfrm>
          <a:prstGeom prst="rect">
            <a:avLst/>
          </a:prstGeom>
          <a:noFill/>
          <a:ln/>
        </p:spPr>
        <p:txBody>
          <a:bodyPr wrap="square" lIns="0" tIns="0" rIns="0" bIns="0" rtlCol="0" anchor="ctr"/>
          <a:lstStyle/>
          <a:p>
            <a:pPr indent="0" marL="0">
              <a:buNone/>
            </a:pPr>
            <a:r>
              <a:rPr lang="en-US" sz="4400" b="1" dirty="0">
                <a:solidFill>
                  <a:schemeClr val="bg1"/>
                </a:solidFill>
              </a:rPr>
              <a:t>90</a:t>
            </a:r>
            <a:endParaRPr lang="en-US" sz="4400" dirty="0"/>
          </a:p>
        </p:txBody>
      </p:sp>
      <p:sp>
        <p:nvSpPr>
          <p:cNvPr id="24" name="Text 21"/>
          <p:cNvSpPr txBox="1"/>
          <p:nvPr/>
        </p:nvSpPr>
        <p:spPr>
          <a:xfrm>
            <a:off x="5074920" y="5257800"/>
            <a:ext cx="1920240" cy="365760"/>
          </a:xfrm>
          <a:prstGeom prst="rect">
            <a:avLst/>
          </a:prstGeom>
          <a:noFill/>
          <a:ln/>
        </p:spPr>
        <p:txBody>
          <a:bodyPr wrap="square" lIns="0" tIns="0" rIns="0" bIns="0" rtlCol="0" anchor="t"/>
          <a:lstStyle/>
          <a:p>
            <a:pPr indent="0" marL="0">
              <a:buNone/>
            </a:pPr>
            <a:r>
              <a:rPr lang="en-US" sz="1300" dirty="0">
                <a:solidFill>
                  <a:schemeClr val="accent3"/>
                </a:solidFill>
              </a:rPr>
              <a:t>jours</a:t>
            </a:r>
            <a:endParaRPr lang="en-US" sz="1300" dirty="0"/>
          </a:p>
        </p:txBody>
      </p:sp>
      <p:sp>
        <p:nvSpPr>
          <p:cNvPr id="25" name="Text 22"/>
          <p:cNvSpPr txBox="1"/>
          <p:nvPr/>
        </p:nvSpPr>
        <p:spPr>
          <a:xfrm>
            <a:off x="7406640" y="4160520"/>
            <a:ext cx="4023360"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CE QUE NOUS DEMANDONS</a:t>
            </a:r>
            <a:endParaRPr lang="en-US" sz="1200" dirty="0"/>
          </a:p>
        </p:txBody>
      </p:sp>
      <p:sp>
        <p:nvSpPr>
          <p:cNvPr id="26" name="Text 23"/>
          <p:cNvSpPr txBox="1"/>
          <p:nvPr/>
        </p:nvSpPr>
        <p:spPr>
          <a:xfrm>
            <a:off x="7406640" y="4526280"/>
            <a:ext cx="4023360" cy="1188720"/>
          </a:xfrm>
          <a:prstGeom prst="rect">
            <a:avLst/>
          </a:prstGeom>
          <a:noFill/>
          <a:ln/>
        </p:spPr>
        <p:txBody>
          <a:bodyPr wrap="square" lIns="0" tIns="0" rIns="0" bIns="0" rtlCol="0" anchor="t"/>
          <a:lstStyle/>
          <a:p>
            <a:pPr indent="0" marL="0">
              <a:buNone/>
            </a:pPr>
            <a:r>
              <a:rPr lang="en-US" sz="1500" dirty="0">
                <a:solidFill>
                  <a:schemeClr val="bg1"/>
                </a:solidFill>
              </a:rPr>
              <a:t>Un interlocuteur, une liste d'ouvrages réels et un retour d'usage à la fin du pilote.</a:t>
            </a:r>
            <a:endParaRPr lang="en-US" sz="15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1371600" y="2743200"/>
            <a:ext cx="9445752" cy="1554480"/>
          </a:xfrm>
          <a:prstGeom prst="rect">
            <a:avLst/>
          </a:prstGeom>
          <a:noFill/>
          <a:ln/>
        </p:spPr>
        <p:txBody>
          <a:bodyPr wrap="square" lIns="0" tIns="0" rIns="0" bIns="0" rtlCol="0" anchor="t"/>
          <a:lstStyle/>
          <a:p>
            <a:pPr algn="ctr" indent="0" marL="0">
              <a:buNone/>
            </a:pPr>
            <a:r>
              <a:rPr lang="en-US" sz="3600" b="1" dirty="0">
                <a:solidFill>
                  <a:schemeClr val="accent2"/>
                </a:solidFill>
              </a:rPr>
              <a:t>FAIRE DURER</a:t>
            </a:r>
            <a:endParaRPr lang="en-US" sz="3600" dirty="0"/>
          </a:p>
          <a:p>
            <a:pPr algn="ctr" indent="0" marL="0">
              <a:buNone/>
            </a:pPr>
            <a:r>
              <a:rPr lang="en-US" sz="3600" b="1" dirty="0">
                <a:solidFill>
                  <a:schemeClr val="bg1"/>
                </a:solidFill>
              </a:rPr>
              <a:t>CE QUI A ÉTÉ BÂTI</a:t>
            </a:r>
            <a:endParaRPr lang="en-US" sz="3600" dirty="0"/>
          </a:p>
        </p:txBody>
      </p:sp>
      <p:sp>
        <p:nvSpPr>
          <p:cNvPr id="3" name="Text 1"/>
          <p:cNvSpPr txBox="1"/>
          <p:nvPr/>
        </p:nvSpPr>
        <p:spPr>
          <a:xfrm>
            <a:off x="1371600" y="4663440"/>
            <a:ext cx="9445752" cy="365760"/>
          </a:xfrm>
          <a:prstGeom prst="rect">
            <a:avLst/>
          </a:prstGeom>
          <a:noFill/>
          <a:ln/>
        </p:spPr>
        <p:txBody>
          <a:bodyPr wrap="square" lIns="0" tIns="0" rIns="0" bIns="0" rtlCol="0" anchor="ctr"/>
          <a:lstStyle/>
          <a:p>
            <a:pPr algn="ctr" indent="0" marL="0">
              <a:buNone/>
            </a:pPr>
            <a:r>
              <a:rPr lang="en-US" sz="1600" dirty="0">
                <a:solidFill>
                  <a:schemeClr val="accent3"/>
                </a:solidFill>
              </a:rPr>
              <a:t>Registre du cycle de vie des équipements publics</a:t>
            </a:r>
            <a:endParaRPr lang="en-US" sz="1600" dirty="0"/>
          </a:p>
        </p:txBody>
      </p:sp>
      <p:sp>
        <p:nvSpPr>
          <p:cNvPr id="4" name="Text 2"/>
          <p:cNvSpPr txBox="1"/>
          <p:nvPr/>
        </p:nvSpPr>
        <p:spPr>
          <a:xfrm>
            <a:off x="1371600" y="5257800"/>
            <a:ext cx="9445752" cy="274320"/>
          </a:xfrm>
          <a:prstGeom prst="rect">
            <a:avLst/>
          </a:prstGeom>
          <a:noFill/>
          <a:ln/>
        </p:spPr>
        <p:txBody>
          <a:bodyPr wrap="square" lIns="0" tIns="0" rIns="0" bIns="0" rtlCol="0" anchor="ctr"/>
          <a:lstStyle/>
          <a:p>
            <a:pPr algn="ctr" indent="0" marL="0">
              <a:buNone/>
            </a:pPr>
            <a:r>
              <a:rPr lang="en-US" sz="1100" b="1" spc="200" kern="0" dirty="0">
                <a:solidFill>
                  <a:schemeClr val="bg1"/>
                </a:solidFill>
              </a:rPr>
              <a:t>ESPOIR ADOUWEKONOU  ·  INGÉNIEUR INDUSTRIE 4.0 ET PLM</a:t>
            </a:r>
            <a:endParaRPr lang="en-US" sz="1100" dirty="0"/>
          </a:p>
        </p:txBody>
      </p:sp>
    </p:spTree>
  </p:cSld>
  <p:clrMapOvr>
    <a:masterClrMapping/>
  </p:clrMapOvr>
</p:sld>
</file>

<file path=ppt/theme/theme1.xml><?xml version="1.0" encoding="utf-8"?>
<a:theme xmlns:a="http://schemas.openxmlformats.org/drawingml/2006/main" name="Contribution programme 2026-2033">
  <a:themeElements>
    <a:clrScheme name="Contribution programme 2026-2033">
      <a:dk1>
        <a:srgbClr val="1E2433"/>
      </a:dk1>
      <a:lt1>
        <a:srgbClr val="FFFFFF"/>
      </a:lt1>
      <a:dk2>
        <a:srgbClr val="253970"/>
      </a:dk2>
      <a:lt2>
        <a:srgbClr val="E3E6F5"/>
      </a:lt2>
      <a:accent1>
        <a:srgbClr val="496DBE"/>
      </a:accent1>
      <a:accent2>
        <a:srgbClr val="F2B134"/>
      </a:accent2>
      <a:accent3>
        <a:srgbClr val="C7DDED"/>
      </a:accent3>
      <a:accent4>
        <a:srgbClr val="ECE2CE"/>
      </a:accent4>
      <a:accent5>
        <a:srgbClr val="5D6683"/>
      </a:accent5>
      <a:accent6>
        <a:srgbClr val="8E9CCB"/>
      </a:accent6>
      <a:hlink>
        <a:srgbClr val="496DBE"/>
      </a:hlink>
      <a:folHlink>
        <a:srgbClr val="253970"/>
      </a:folHlink>
    </a:clrScheme>
    <a:fontScheme name="Contribution programme 2026-2033">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Faire durer ce qui a été bâti - analyse du besoin</dc:title>
  <dc:subject>PptxGenJS Presentation</dc:subject>
  <dc:creator>Espoir Adouwekonou</dc:creator>
  <cp:lastModifiedBy>Espoir Adouwekonou</cp:lastModifiedBy>
  <cp:revision>1</cp:revision>
  <dcterms:created xsi:type="dcterms:W3CDTF">2026-10-05T14:21:41Z</dcterms:created>
  <dcterms:modified xsi:type="dcterms:W3CDTF">2026-10-05T14:21:41Z</dcterms:modified>
</cp:coreProperties>
</file>